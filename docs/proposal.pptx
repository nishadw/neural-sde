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12192000"/>
  <p:embeddedFontLst>
    <p:embeddedFont>
      <p:font typeface="IBM Plex Sans"/>
      <p:regular r:id="rId12"/>
      <p:bold r:id="rId13"/>
      <p:italic r:id="rId14"/>
      <p:boldItalic r:id="rId15"/>
    </p:embeddedFont>
    <p:embeddedFont>
      <p:font typeface="IBM Plex Mon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750FF1-D72E-4844-84CA-15E11371ABB0}">
  <a:tblStyle styleId="{1F750FF1-D72E-4844-84CA-15E11371ABB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BMPlexSans-bold.fntdata"/><Relationship Id="rId12" Type="http://schemas.openxmlformats.org/officeDocument/2006/relationships/font" Target="fonts/IBMPlex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BMPlexSans-boldItalic.fntdata"/><Relationship Id="rId14" Type="http://schemas.openxmlformats.org/officeDocument/2006/relationships/font" Target="fonts/IBMPlexSans-italic.fntdata"/><Relationship Id="rId17" Type="http://schemas.openxmlformats.org/officeDocument/2006/relationships/font" Target="fonts/IBMPlexMono-bold.fntdata"/><Relationship Id="rId16" Type="http://schemas.openxmlformats.org/officeDocument/2006/relationships/font" Target="fonts/IBMPlexMono-regular.fntdata"/><Relationship Id="rId5" Type="http://schemas.openxmlformats.org/officeDocument/2006/relationships/notesMaster" Target="notesMasters/notesMaster1.xml"/><Relationship Id="rId19" Type="http://schemas.openxmlformats.org/officeDocument/2006/relationships/font" Target="fonts/IBMPlexMono-boldItalic.fntdata"/><Relationship Id="rId6" Type="http://schemas.openxmlformats.org/officeDocument/2006/relationships/slide" Target="slides/slide1.xml"/><Relationship Id="rId18" Type="http://schemas.openxmlformats.org/officeDocument/2006/relationships/font" Target="fonts/IBMPlexMon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One-line pitch: from daily photos, predict not just when a piece of produce will spoil but the range of likely days. Technical framing: a neural stochastic differential equation (SDE) over a latent ripening state, trained by differentiating through the solver. I don’t have the data in hand yet, so the plan front-loads tests that run without it.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pieces of produce that look the same today can spoil days apart. A single number hides that; a range captures it. The baseline is a published method: a CNN predicts a ripeness stage from one photo, then days left = α(stage − 5), where α is a per-temperature slope. My model instead learns how ripeness evolves over time with randomness built in, so it outputs a probability for every future day. The differentiable programming part is training it: gradients flow through a stochastic (random) solver.</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Technical version of each step. Step 2: a pretrained CNN encoder maps each image to a latent vector. Step 3: a latent neural SDE, dZ = κ(T)·μθ(Z) dt + σθ(Z) dW. μθ is the learned drift (the predictable push), σθ is the learned noise level, W is Brownian motion. κ(T) is an Arrhenius factor, so temperature scales the ripening speed; the published rates already fit Arrhenius well (Q10 ≈ 2.1). Step 4: an ordinal head reads the stage from Z; shelf life τ is the first time Z reaches the spoiled stage, and I report P(τ ≤ t). Training: the latent-SDE ELBO (Li et al. 2020), with the KL term from Girsanov’s theorem. Gradients go through the solver; I’ll compare full backprop, checkpointing and the stochastic adjoint. My repo already benchmarks these three.</a:t>
            </a:r>
            <a:endParaRPr/>
          </a:p>
        </p:txBody>
      </p:sp>
      <p:sp>
        <p:nvSpPr>
          <p:cNvPr id="39" name="Google Shape;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main plan is the Stevens dataset. If it hasn’t arrived by Nov 2, I switch to the public avocado set, which needs no approval and is ready now. The backup is also the dataset behind the published baseline, so I’d get a direct comparison for free. Technical details for either set: build one time series per item (ID, storage group, ripeness label, day), and split train/validation/test 70/15/15 by item, never by photo, so two photos of the same fruit can’t leak across the split. Everything is built and tested on synthetic data first, so swapping datasets only changes the data loader.</a:t>
            </a:r>
            <a:endParaRPr/>
          </a:p>
        </p:txBody>
      </p:sp>
      <p:sp>
        <p:nvSpPr>
          <p:cNvPr id="67" name="Google Shape;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two rows run without any real data, so the pipeline is debugged before data arrives. Math check: adjoint and full-backprop gradients agree to 2e-6 at 512 solver steps (from my repo). Fake-fruit test: simulate ripening with known speeds and noise, quantize to 5 daily ripeness stages like the real labels, and check the model recovers the speeds, the noise level and the spoil-date distribution; I use the published avocado rates (0.23, 0.47, 0.52 stages/day) so it looks like the real problem. Metrics: MAE for accuracy; CRPS scores a whole predicted distribution and equals MAE for a single-number prediction, so the baseline is directly comparable; coverage checks the 80% intervals. New conditions: train on two storage groups, test on the third, which tests the temperature factor.</a:t>
            </a:r>
            <a:endParaRPr/>
          </a:p>
        </p:txBody>
      </p:sp>
      <p:sp>
        <p:nvSpPr>
          <p:cNvPr id="84" name="Google Shape;8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Everything before Nov 3 is de-risking: the fake-fruit test, getting data, and scoring the simple baseline. Nov 2 is the data decision point: if the Stevens dataset isn’t in hand, I switch to the public avocado set and nothing downstream changes. Technical: “ripeness labels only” means a latent ODE and latent SDE trained on stage sequences without images; “add photos and temperature” adds the CNN encoder and the Arrhenius factor; “compare training methods” is full backprop vs. checkpointing vs. stochastic adjoint. If photos add little over labels, the label-only SDE is still a complete result. Thanksgiving week is kept light.</a:t>
            </a:r>
            <a:endParaRPr/>
          </a:p>
        </p:txBody>
      </p:sp>
      <p:sp>
        <p:nvSpPr>
          <p:cNvPr id="93" name="Google Shape;9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5" name="Shape 15"/>
        <p:cNvGrpSpPr/>
        <p:nvPr/>
      </p:nvGrpSpPr>
      <p:grpSpPr>
        <a:xfrm>
          <a:off x="0" y="0"/>
          <a:ext cx="0" cy="0"/>
          <a:chOff x="0" y="0"/>
          <a:chExt cx="0" cy="0"/>
        </a:xfrm>
      </p:grpSpPr>
      <p:sp>
        <p:nvSpPr>
          <p:cNvPr id="16" name="Google Shape;16;p3"/>
          <p:cNvSpPr/>
          <p:nvPr/>
        </p:nvSpPr>
        <p:spPr>
          <a:xfrm>
            <a:off x="812774" y="2104539"/>
            <a:ext cx="10883437" cy="27429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2318"/>
              </a:buClr>
              <a:buSzPts val="1400"/>
              <a:buFont typeface="IBM Plex Sans"/>
              <a:buNone/>
            </a:pPr>
            <a:r>
              <a:rPr b="1" i="0" lang="en-US" sz="1400" u="none" cap="none" strike="noStrike">
                <a:solidFill>
                  <a:srgbClr val="B42318"/>
                </a:solidFill>
                <a:latin typeface="IBM Plex Sans"/>
                <a:ea typeface="IBM Plex Sans"/>
                <a:cs typeface="IBM Plex Sans"/>
                <a:sym typeface="IBM Plex Sans"/>
              </a:rPr>
              <a:t>PROJECT PROPOSAL</a:t>
            </a:r>
            <a:endParaRPr b="0" i="0" sz="1400" u="none" cap="none" strike="noStrike">
              <a:solidFill>
                <a:schemeClr val="dk1"/>
              </a:solidFill>
              <a:latin typeface="Calibri"/>
              <a:ea typeface="Calibri"/>
              <a:cs typeface="Calibri"/>
              <a:sym typeface="Calibri"/>
            </a:endParaRPr>
          </a:p>
        </p:txBody>
      </p:sp>
      <p:sp>
        <p:nvSpPr>
          <p:cNvPr id="17" name="Google Shape;17;p3"/>
          <p:cNvSpPr/>
          <p:nvPr/>
        </p:nvSpPr>
        <p:spPr>
          <a:xfrm>
            <a:off x="812774" y="2607388"/>
            <a:ext cx="9810738" cy="1366401"/>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1A"/>
              </a:buClr>
              <a:buSzPts val="4800"/>
              <a:buFont typeface="IBM Plex Sans"/>
              <a:buNone/>
            </a:pPr>
            <a:r>
              <a:rPr b="1" i="0" lang="en-US" sz="4800" u="none" cap="none" strike="noStrike">
                <a:solidFill>
                  <a:srgbClr val="1A1A1A"/>
                </a:solidFill>
                <a:latin typeface="IBM Plex Sans"/>
                <a:ea typeface="IBM Plex Sans"/>
                <a:cs typeface="IBM Plex Sans"/>
                <a:sym typeface="IBM Plex Sans"/>
              </a:rPr>
              <a:t>Predicting </a:t>
            </a:r>
            <a:r>
              <a:rPr b="1" lang="en-US" sz="4800">
                <a:solidFill>
                  <a:srgbClr val="1A1A1A"/>
                </a:solidFill>
                <a:latin typeface="IBM Plex Sans"/>
                <a:ea typeface="IBM Plex Sans"/>
                <a:cs typeface="IBM Plex Sans"/>
                <a:sym typeface="IBM Plex Sans"/>
              </a:rPr>
              <a:t>produce freshness</a:t>
            </a:r>
            <a:endParaRPr b="1" sz="4800">
              <a:solidFill>
                <a:srgbClr val="1A1A1A"/>
              </a:solidFill>
              <a:latin typeface="IBM Plex Sans"/>
              <a:ea typeface="IBM Plex Sans"/>
              <a:cs typeface="IBM Plex Sans"/>
              <a:sym typeface="IBM Plex Sans"/>
            </a:endParaRPr>
          </a:p>
          <a:p>
            <a:pPr indent="0" lvl="0" marL="0" marR="0" rtl="0" algn="l">
              <a:lnSpc>
                <a:spcPct val="110000"/>
              </a:lnSpc>
              <a:spcBef>
                <a:spcPts val="0"/>
              </a:spcBef>
              <a:spcAft>
                <a:spcPts val="0"/>
              </a:spcAft>
              <a:buClr>
                <a:srgbClr val="1A1A1A"/>
              </a:buClr>
              <a:buSzPts val="4800"/>
              <a:buFont typeface="IBM Plex Sans"/>
              <a:buNone/>
            </a:pPr>
            <a:r>
              <a:rPr lang="en-US" sz="3000">
                <a:solidFill>
                  <a:srgbClr val="1A1A1A"/>
                </a:solidFill>
                <a:latin typeface="IBM Plex Sans"/>
                <a:ea typeface="IBM Plex Sans"/>
                <a:cs typeface="IBM Plex Sans"/>
                <a:sym typeface="IBM Plex Sans"/>
              </a:rPr>
              <a:t>Neural SDEs for shelf-life forecasting</a:t>
            </a:r>
            <a:endParaRPr sz="3000">
              <a:solidFill>
                <a:srgbClr val="1A1A1A"/>
              </a:solidFill>
              <a:latin typeface="IBM Plex Sans"/>
              <a:ea typeface="IBM Plex Sans"/>
              <a:cs typeface="IBM Plex Sans"/>
              <a:sym typeface="IBM Plex Sans"/>
            </a:endParaRPr>
          </a:p>
        </p:txBody>
      </p:sp>
      <p:pic>
        <p:nvPicPr>
          <p:cNvPr descr="line" id="18" name="Google Shape;18;p3"/>
          <p:cNvPicPr preferRelativeResize="0"/>
          <p:nvPr/>
        </p:nvPicPr>
        <p:blipFill rotWithShape="1">
          <a:blip r:embed="rId3">
            <a:alphaModFix/>
          </a:blip>
          <a:srcRect b="0" l="-150" r="-150" t="0"/>
          <a:stretch/>
        </p:blipFill>
        <p:spPr>
          <a:xfrm>
            <a:off x="812774" y="4202340"/>
            <a:ext cx="1523979" cy="12662"/>
          </a:xfrm>
          <a:prstGeom prst="rect">
            <a:avLst/>
          </a:prstGeom>
          <a:noFill/>
          <a:ln>
            <a:noFill/>
          </a:ln>
        </p:spPr>
      </p:pic>
      <p:sp>
        <p:nvSpPr>
          <p:cNvPr id="19" name="Google Shape;19;p3"/>
          <p:cNvSpPr/>
          <p:nvPr/>
        </p:nvSpPr>
        <p:spPr>
          <a:xfrm>
            <a:off x="812774" y="4468953"/>
            <a:ext cx="10883437" cy="30983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Nishad Wajge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4" name="Shape 24"/>
        <p:cNvGrpSpPr/>
        <p:nvPr/>
      </p:nvGrpSpPr>
      <p:grpSpPr>
        <a:xfrm>
          <a:off x="0" y="0"/>
          <a:ext cx="0" cy="0"/>
          <a:chOff x="0" y="0"/>
          <a:chExt cx="0" cy="0"/>
        </a:xfrm>
      </p:grpSpPr>
      <p:sp>
        <p:nvSpPr>
          <p:cNvPr id="25" name="Google Shape;25;p4"/>
          <p:cNvSpPr/>
          <p:nvPr/>
        </p:nvSpPr>
        <p:spPr>
          <a:xfrm>
            <a:off x="812774" y="812774"/>
            <a:ext cx="10883437" cy="528303"/>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1A"/>
              </a:buClr>
              <a:buSzPts val="3600"/>
              <a:buFont typeface="IBM Plex Sans"/>
              <a:buNone/>
            </a:pPr>
            <a:r>
              <a:rPr b="1" lang="en-US" sz="3600">
                <a:solidFill>
                  <a:srgbClr val="1A1A1A"/>
                </a:solidFill>
                <a:latin typeface="IBM Plex Sans"/>
                <a:ea typeface="IBM Plex Sans"/>
                <a:cs typeface="IBM Plex Sans"/>
                <a:sym typeface="IBM Plex Sans"/>
              </a:rPr>
              <a:t>Current vs. My approach</a:t>
            </a:r>
            <a:endParaRPr b="0" i="0" sz="3600" u="none" cap="none" strike="noStrike">
              <a:solidFill>
                <a:schemeClr val="dk1"/>
              </a:solidFill>
              <a:latin typeface="Calibri"/>
              <a:ea typeface="Calibri"/>
              <a:cs typeface="Calibri"/>
              <a:sym typeface="Calibri"/>
            </a:endParaRPr>
          </a:p>
        </p:txBody>
      </p:sp>
      <p:sp>
        <p:nvSpPr>
          <p:cNvPr id="26" name="Google Shape;26;p4"/>
          <p:cNvSpPr/>
          <p:nvPr/>
        </p:nvSpPr>
        <p:spPr>
          <a:xfrm>
            <a:off x="815949" y="1674426"/>
            <a:ext cx="5168319" cy="2330620"/>
          </a:xfrm>
          <a:prstGeom prst="roundRect">
            <a:avLst>
              <a:gd fmla="val 4223" name="adj"/>
            </a:avLst>
          </a:prstGeom>
          <a:solidFill>
            <a:srgbClr val="FFFFFF"/>
          </a:solidFill>
          <a:ln cap="flat" cmpd="sng" w="9525">
            <a:solidFill>
              <a:srgbClr val="E3E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1121015" y="1979493"/>
            <a:ext cx="4694932" cy="2387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1200"/>
              <a:buFont typeface="IBM Plex Sans"/>
              <a:buNone/>
            </a:pPr>
            <a:r>
              <a:rPr b="0" i="0" lang="en-US" sz="1200" u="none" cap="none" strike="noStrike">
                <a:solidFill>
                  <a:srgbClr val="6A7179"/>
                </a:solidFill>
                <a:latin typeface="IBM Plex Sans"/>
                <a:ea typeface="IBM Plex Sans"/>
                <a:cs typeface="IBM Plex Sans"/>
                <a:sym typeface="IBM Plex Sans"/>
              </a:rPr>
              <a:t>CURRENT APPROACH</a:t>
            </a:r>
            <a:endParaRPr b="0" i="0" sz="1200" u="none" cap="none" strike="noStrike">
              <a:solidFill>
                <a:schemeClr val="dk1"/>
              </a:solidFill>
              <a:latin typeface="Calibri"/>
              <a:ea typeface="Calibri"/>
              <a:cs typeface="Calibri"/>
              <a:sym typeface="Calibri"/>
            </a:endParaRPr>
          </a:p>
        </p:txBody>
      </p:sp>
      <p:sp>
        <p:nvSpPr>
          <p:cNvPr id="28" name="Google Shape;28;p4"/>
          <p:cNvSpPr/>
          <p:nvPr/>
        </p:nvSpPr>
        <p:spPr>
          <a:xfrm>
            <a:off x="1121015" y="2319743"/>
            <a:ext cx="4694932" cy="3606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A1A1A"/>
              </a:buClr>
              <a:buSzPts val="2200"/>
              <a:buFont typeface="IBM Plex Sans"/>
              <a:buNone/>
            </a:pPr>
            <a:r>
              <a:rPr b="1" i="0" lang="en-US" sz="2200" u="none" cap="none" strike="noStrike">
                <a:solidFill>
                  <a:srgbClr val="1A1A1A"/>
                </a:solidFill>
                <a:latin typeface="IBM Plex Sans"/>
                <a:ea typeface="IBM Plex Sans"/>
                <a:cs typeface="IBM Plex Sans"/>
                <a:sym typeface="IBM Plex Sans"/>
              </a:rPr>
              <a:t>“About 3 days left”</a:t>
            </a:r>
            <a:endParaRPr b="0" i="0" sz="2200" u="none" cap="none" strike="noStrike">
              <a:solidFill>
                <a:schemeClr val="dk1"/>
              </a:solidFill>
              <a:latin typeface="Calibri"/>
              <a:ea typeface="Calibri"/>
              <a:cs typeface="Calibri"/>
              <a:sym typeface="Calibri"/>
            </a:endParaRPr>
          </a:p>
        </p:txBody>
      </p:sp>
      <p:sp>
        <p:nvSpPr>
          <p:cNvPr id="29" name="Google Shape;29;p4"/>
          <p:cNvSpPr/>
          <p:nvPr/>
        </p:nvSpPr>
        <p:spPr>
          <a:xfrm>
            <a:off x="1121015" y="2781942"/>
            <a:ext cx="4694932" cy="87871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Photo in, one number out</a:t>
            </a:r>
            <a:endParaRPr b="0" i="0" sz="16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Off by about a day on average</a:t>
            </a:r>
            <a:endParaRPr b="0" i="0" sz="16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No sense of how sure it is</a:t>
            </a:r>
            <a:endParaRPr b="0" i="0" sz="1600" u="none" cap="none" strike="noStrike">
              <a:solidFill>
                <a:schemeClr val="dk1"/>
              </a:solidFill>
              <a:latin typeface="Calibri"/>
              <a:ea typeface="Calibri"/>
              <a:cs typeface="Calibri"/>
              <a:sym typeface="Calibri"/>
            </a:endParaRPr>
          </a:p>
        </p:txBody>
      </p:sp>
      <p:sp>
        <p:nvSpPr>
          <p:cNvPr id="30" name="Google Shape;30;p4"/>
          <p:cNvSpPr/>
          <p:nvPr/>
        </p:nvSpPr>
        <p:spPr>
          <a:xfrm>
            <a:off x="6196986" y="1677601"/>
            <a:ext cx="5175881" cy="2324270"/>
          </a:xfrm>
          <a:prstGeom prst="roundRect">
            <a:avLst>
              <a:gd fmla="val 4098" name="adj"/>
            </a:avLst>
          </a:prstGeom>
          <a:solidFill>
            <a:srgbClr val="FFFFFF"/>
          </a:solidFill>
          <a:ln cap="flat" cmpd="sng" w="12700">
            <a:solidFill>
              <a:srgbClr val="B423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6505834" y="1986449"/>
            <a:ext cx="4694932" cy="2387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2318"/>
              </a:buClr>
              <a:buSzPts val="1200"/>
              <a:buFont typeface="IBM Plex Sans"/>
              <a:buNone/>
            </a:pPr>
            <a:r>
              <a:rPr b="0" i="0" lang="en-US" sz="1200" u="none" cap="none" strike="noStrike">
                <a:solidFill>
                  <a:srgbClr val="B42318"/>
                </a:solidFill>
                <a:latin typeface="IBM Plex Sans"/>
                <a:ea typeface="IBM Plex Sans"/>
                <a:cs typeface="IBM Plex Sans"/>
                <a:sym typeface="IBM Plex Sans"/>
              </a:rPr>
              <a:t>THIS PROJECT</a:t>
            </a:r>
            <a:endParaRPr b="0" i="0" sz="1200" u="none" cap="none" strike="noStrike">
              <a:solidFill>
                <a:schemeClr val="dk1"/>
              </a:solidFill>
              <a:latin typeface="Calibri"/>
              <a:ea typeface="Calibri"/>
              <a:cs typeface="Calibri"/>
              <a:sym typeface="Calibri"/>
            </a:endParaRPr>
          </a:p>
        </p:txBody>
      </p:sp>
      <p:sp>
        <p:nvSpPr>
          <p:cNvPr id="32" name="Google Shape;32;p4"/>
          <p:cNvSpPr/>
          <p:nvPr/>
        </p:nvSpPr>
        <p:spPr>
          <a:xfrm>
            <a:off x="6505834" y="2326699"/>
            <a:ext cx="4694932" cy="69590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A1A1A"/>
              </a:buClr>
              <a:buSzPts val="2200"/>
              <a:buFont typeface="IBM Plex Sans"/>
              <a:buNone/>
            </a:pPr>
            <a:r>
              <a:rPr b="1" i="0" lang="en-US" sz="2200" u="none" cap="none" strike="noStrike">
                <a:solidFill>
                  <a:srgbClr val="1A1A1A"/>
                </a:solidFill>
                <a:latin typeface="IBM Plex Sans"/>
                <a:ea typeface="IBM Plex Sans"/>
                <a:cs typeface="IBM Plex Sans"/>
                <a:sym typeface="IBM Plex Sans"/>
              </a:rPr>
              <a:t>“Good through Thursday; 1-in-5 chance it’s bad by Tuesday”</a:t>
            </a:r>
            <a:endParaRPr b="0" i="0" sz="2200" u="none" cap="none" strike="noStrike">
              <a:solidFill>
                <a:schemeClr val="dk1"/>
              </a:solidFill>
              <a:latin typeface="Calibri"/>
              <a:ea typeface="Calibri"/>
              <a:cs typeface="Calibri"/>
              <a:sym typeface="Calibri"/>
            </a:endParaRPr>
          </a:p>
        </p:txBody>
      </p:sp>
      <p:sp>
        <p:nvSpPr>
          <p:cNvPr id="33" name="Google Shape;33;p4"/>
          <p:cNvSpPr/>
          <p:nvPr/>
        </p:nvSpPr>
        <p:spPr>
          <a:xfrm>
            <a:off x="6505834" y="3124148"/>
            <a:ext cx="4694932" cy="59427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Photos over time in, a range of spoil dates out</a:t>
            </a:r>
            <a:endParaRPr b="0" i="0" sz="16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Accounts for storage temperature</a:t>
            </a:r>
            <a:endParaRPr b="0" i="0" sz="1600" u="none" cap="none" strike="noStrike">
              <a:solidFill>
                <a:schemeClr val="dk1"/>
              </a:solidFill>
              <a:latin typeface="Calibri"/>
              <a:ea typeface="Calibri"/>
              <a:cs typeface="Calibri"/>
              <a:sym typeface="Calibri"/>
            </a:endParaRPr>
          </a:p>
        </p:txBody>
      </p:sp>
      <p:sp>
        <p:nvSpPr>
          <p:cNvPr id="34" name="Google Shape;34;p4"/>
          <p:cNvSpPr/>
          <p:nvPr/>
        </p:nvSpPr>
        <p:spPr>
          <a:xfrm>
            <a:off x="812774" y="4363797"/>
            <a:ext cx="10883437" cy="30983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Why it matters: stores and warehouses can act on risk</a:t>
            </a:r>
            <a:endParaRPr b="0" i="0" sz="1600" u="none" cap="none" strike="noStrike">
              <a:solidFill>
                <a:schemeClr val="dk1"/>
              </a:solidFill>
              <a:latin typeface="Calibri"/>
              <a:ea typeface="Calibri"/>
              <a:cs typeface="Calibri"/>
              <a:sym typeface="Calibri"/>
            </a:endParaRPr>
          </a:p>
        </p:txBody>
      </p:sp>
      <p:sp>
        <p:nvSpPr>
          <p:cNvPr id="35" name="Google Shape;35;p4"/>
          <p:cNvSpPr/>
          <p:nvPr/>
        </p:nvSpPr>
        <p:spPr>
          <a:xfrm>
            <a:off x="812774" y="6024995"/>
            <a:ext cx="10883381" cy="45200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1200"/>
              <a:buFont typeface="IBM Plex Sans"/>
              <a:buNone/>
            </a:pPr>
            <a:r>
              <a:rPr lang="en-US" sz="1200">
                <a:solidFill>
                  <a:srgbClr val="6A7179"/>
                </a:solidFill>
                <a:latin typeface="IBM Plex Sans"/>
                <a:ea typeface="IBM Plex Sans"/>
                <a:cs typeface="IBM Plex Sans"/>
                <a:sym typeface="IBM Plex Sans"/>
              </a:rPr>
              <a:t>B</a:t>
            </a:r>
            <a:r>
              <a:rPr b="0" i="0" lang="en-US" sz="1200" u="none" cap="none" strike="noStrike">
                <a:solidFill>
                  <a:srgbClr val="6A7179"/>
                </a:solidFill>
                <a:latin typeface="IBM Plex Sans"/>
                <a:ea typeface="IBM Plex Sans"/>
                <a:cs typeface="IBM Plex Sans"/>
                <a:sym typeface="IBM Plex Sans"/>
              </a:rPr>
              <a:t>aseline = CNN stage classifier + linear days-left rule (Xavier et al., Foods 2024; MAE 1.04 d). Proposed = neural SDE giving a full first-passage distribution.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40" name="Shape 40"/>
        <p:cNvGrpSpPr/>
        <p:nvPr/>
      </p:nvGrpSpPr>
      <p:grpSpPr>
        <a:xfrm>
          <a:off x="0" y="0"/>
          <a:ext cx="0" cy="0"/>
          <a:chOff x="0" y="0"/>
          <a:chExt cx="0" cy="0"/>
        </a:xfrm>
      </p:grpSpPr>
      <p:sp>
        <p:nvSpPr>
          <p:cNvPr id="41" name="Google Shape;41;p5"/>
          <p:cNvSpPr/>
          <p:nvPr/>
        </p:nvSpPr>
        <p:spPr>
          <a:xfrm>
            <a:off x="812774" y="812774"/>
            <a:ext cx="10883437" cy="528303"/>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1A"/>
              </a:buClr>
              <a:buSzPts val="3600"/>
              <a:buFont typeface="IBM Plex Sans"/>
              <a:buNone/>
            </a:pPr>
            <a:r>
              <a:rPr b="1" lang="en-US" sz="3600">
                <a:solidFill>
                  <a:srgbClr val="1A1A1A"/>
                </a:solidFill>
                <a:latin typeface="IBM Plex Sans"/>
                <a:ea typeface="IBM Plex Sans"/>
                <a:cs typeface="IBM Plex Sans"/>
                <a:sym typeface="IBM Plex Sans"/>
              </a:rPr>
              <a:t>Methodology</a:t>
            </a:r>
            <a:endParaRPr b="0" i="0" sz="3600" u="none" cap="none" strike="noStrike">
              <a:solidFill>
                <a:schemeClr val="dk1"/>
              </a:solidFill>
              <a:latin typeface="Calibri"/>
              <a:ea typeface="Calibri"/>
              <a:cs typeface="Calibri"/>
              <a:sym typeface="Calibri"/>
            </a:endParaRPr>
          </a:p>
        </p:txBody>
      </p:sp>
      <p:sp>
        <p:nvSpPr>
          <p:cNvPr id="42" name="Google Shape;42;p5"/>
          <p:cNvSpPr/>
          <p:nvPr/>
        </p:nvSpPr>
        <p:spPr>
          <a:xfrm>
            <a:off x="815949" y="1674426"/>
            <a:ext cx="2231822" cy="1848151"/>
          </a:xfrm>
          <a:prstGeom prst="roundRect">
            <a:avLst>
              <a:gd fmla="val 3951" name="adj"/>
            </a:avLst>
          </a:prstGeom>
          <a:solidFill>
            <a:srgbClr val="FFFFFF"/>
          </a:solidFill>
          <a:ln cap="flat" cmpd="sng" w="9525">
            <a:solidFill>
              <a:srgbClr val="E3E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1019446" y="1877923"/>
            <a:ext cx="1879574" cy="2387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1200"/>
              <a:buFont typeface="IBM Plex Sans"/>
              <a:buNone/>
            </a:pPr>
            <a:r>
              <a:rPr b="0" i="0" lang="en-US" sz="1200" u="none" cap="none" strike="noStrike">
                <a:solidFill>
                  <a:srgbClr val="6A7179"/>
                </a:solidFill>
                <a:latin typeface="IBM Plex Sans"/>
                <a:ea typeface="IBM Plex Sans"/>
                <a:cs typeface="IBM Plex Sans"/>
                <a:sym typeface="IBM Plex Sans"/>
              </a:rPr>
              <a:t>Step 1</a:t>
            </a:r>
            <a:endParaRPr b="0" i="0" sz="1200" u="none" cap="none" strike="noStrike">
              <a:solidFill>
                <a:schemeClr val="dk1"/>
              </a:solidFill>
              <a:latin typeface="Calibri"/>
              <a:ea typeface="Calibri"/>
              <a:cs typeface="Calibri"/>
              <a:sym typeface="Calibri"/>
            </a:endParaRPr>
          </a:p>
        </p:txBody>
      </p:sp>
      <p:sp>
        <p:nvSpPr>
          <p:cNvPr id="44" name="Google Shape;44;p5"/>
          <p:cNvSpPr/>
          <p:nvPr/>
        </p:nvSpPr>
        <p:spPr>
          <a:xfrm>
            <a:off x="1019446" y="2167415"/>
            <a:ext cx="1879574" cy="59427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600"/>
              <a:buFont typeface="IBM Plex Sans"/>
              <a:buNone/>
            </a:pPr>
            <a:r>
              <a:rPr b="1" i="0" lang="en-US" sz="1600" u="none" cap="none" strike="noStrike">
                <a:solidFill>
                  <a:srgbClr val="1A1A1A"/>
                </a:solidFill>
                <a:latin typeface="IBM Plex Sans"/>
                <a:ea typeface="IBM Plex Sans"/>
                <a:cs typeface="IBM Plex Sans"/>
                <a:sym typeface="IBM Plex Sans"/>
              </a:rPr>
              <a:t>Take photos every day</a:t>
            </a:r>
            <a:endParaRPr b="0" i="0" sz="1600" u="none" cap="none" strike="noStrike">
              <a:solidFill>
                <a:schemeClr val="dk1"/>
              </a:solidFill>
              <a:latin typeface="Calibri"/>
              <a:ea typeface="Calibri"/>
              <a:cs typeface="Calibri"/>
              <a:sym typeface="Calibri"/>
            </a:endParaRPr>
          </a:p>
        </p:txBody>
      </p:sp>
      <p:pic>
        <p:nvPicPr>
          <p:cNvPr descr="arrow-right" id="45" name="Google Shape;45;p5"/>
          <p:cNvPicPr preferRelativeResize="0"/>
          <p:nvPr/>
        </p:nvPicPr>
        <p:blipFill rotWithShape="1">
          <a:blip r:embed="rId3">
            <a:alphaModFix/>
          </a:blip>
          <a:srcRect b="0" l="-3" r="-3" t="0"/>
          <a:stretch/>
        </p:blipFill>
        <p:spPr>
          <a:xfrm>
            <a:off x="3177895" y="2522285"/>
            <a:ext cx="279384" cy="152382"/>
          </a:xfrm>
          <a:prstGeom prst="rect">
            <a:avLst/>
          </a:prstGeom>
          <a:noFill/>
          <a:ln>
            <a:noFill/>
          </a:ln>
        </p:spPr>
      </p:pic>
      <p:sp>
        <p:nvSpPr>
          <p:cNvPr id="46" name="Google Shape;46;p5"/>
          <p:cNvSpPr/>
          <p:nvPr/>
        </p:nvSpPr>
        <p:spPr>
          <a:xfrm>
            <a:off x="3587402" y="1674426"/>
            <a:ext cx="2231822" cy="1848151"/>
          </a:xfrm>
          <a:prstGeom prst="roundRect">
            <a:avLst>
              <a:gd fmla="val 3951" name="adj"/>
            </a:avLst>
          </a:prstGeom>
          <a:solidFill>
            <a:srgbClr val="FFFFFF"/>
          </a:solidFill>
          <a:ln cap="flat" cmpd="sng" w="9525">
            <a:solidFill>
              <a:srgbClr val="E3E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3790899" y="1877923"/>
            <a:ext cx="1879574" cy="2387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1200"/>
              <a:buFont typeface="IBM Plex Sans"/>
              <a:buNone/>
            </a:pPr>
            <a:r>
              <a:rPr b="0" i="0" lang="en-US" sz="1200" u="none" cap="none" strike="noStrike">
                <a:solidFill>
                  <a:srgbClr val="6A7179"/>
                </a:solidFill>
                <a:latin typeface="IBM Plex Sans"/>
                <a:ea typeface="IBM Plex Sans"/>
                <a:cs typeface="IBM Plex Sans"/>
                <a:sym typeface="IBM Plex Sans"/>
              </a:rPr>
              <a:t>Step 2</a:t>
            </a:r>
            <a:endParaRPr b="0" i="0" sz="1200" u="none" cap="none" strike="noStrike">
              <a:solidFill>
                <a:schemeClr val="dk1"/>
              </a:solidFill>
              <a:latin typeface="Calibri"/>
              <a:ea typeface="Calibri"/>
              <a:cs typeface="Calibri"/>
              <a:sym typeface="Calibri"/>
            </a:endParaRPr>
          </a:p>
        </p:txBody>
      </p:sp>
      <p:sp>
        <p:nvSpPr>
          <p:cNvPr id="48" name="Google Shape;48;p5"/>
          <p:cNvSpPr/>
          <p:nvPr/>
        </p:nvSpPr>
        <p:spPr>
          <a:xfrm>
            <a:off x="3790899" y="2167415"/>
            <a:ext cx="1879574" cy="87871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600"/>
              <a:buFont typeface="IBM Plex Sans"/>
              <a:buNone/>
            </a:pPr>
            <a:r>
              <a:rPr b="1" i="0" lang="en-US" sz="1600" u="none" cap="none" strike="noStrike">
                <a:solidFill>
                  <a:srgbClr val="1A1A1A"/>
                </a:solidFill>
                <a:latin typeface="IBM Plex Sans"/>
                <a:ea typeface="IBM Plex Sans"/>
                <a:cs typeface="IBM Plex Sans"/>
                <a:sym typeface="IBM Plex Sans"/>
              </a:rPr>
              <a:t>Turn each photo into a ripeness score</a:t>
            </a:r>
            <a:endParaRPr b="0" i="0" sz="1600" u="none" cap="none" strike="noStrike">
              <a:solidFill>
                <a:schemeClr val="dk1"/>
              </a:solidFill>
              <a:latin typeface="Calibri"/>
              <a:ea typeface="Calibri"/>
              <a:cs typeface="Calibri"/>
              <a:sym typeface="Calibri"/>
            </a:endParaRPr>
          </a:p>
        </p:txBody>
      </p:sp>
      <p:pic>
        <p:nvPicPr>
          <p:cNvPr descr="arrow-right" id="49" name="Google Shape;49;p5"/>
          <p:cNvPicPr preferRelativeResize="0"/>
          <p:nvPr/>
        </p:nvPicPr>
        <p:blipFill rotWithShape="1">
          <a:blip r:embed="rId3">
            <a:alphaModFix/>
          </a:blip>
          <a:srcRect b="0" l="-3" r="-3" t="0"/>
          <a:stretch/>
        </p:blipFill>
        <p:spPr>
          <a:xfrm>
            <a:off x="5949348" y="2522285"/>
            <a:ext cx="279384" cy="152382"/>
          </a:xfrm>
          <a:prstGeom prst="rect">
            <a:avLst/>
          </a:prstGeom>
          <a:noFill/>
          <a:ln>
            <a:noFill/>
          </a:ln>
        </p:spPr>
      </p:pic>
      <p:sp>
        <p:nvSpPr>
          <p:cNvPr id="50" name="Google Shape;50;p5"/>
          <p:cNvSpPr/>
          <p:nvPr/>
        </p:nvSpPr>
        <p:spPr>
          <a:xfrm>
            <a:off x="6362030" y="1677601"/>
            <a:ext cx="2239384" cy="1841801"/>
          </a:xfrm>
          <a:prstGeom prst="roundRect">
            <a:avLst>
              <a:gd fmla="val 3792" name="adj"/>
            </a:avLst>
          </a:prstGeom>
          <a:solidFill>
            <a:srgbClr val="FFFFFF"/>
          </a:solidFill>
          <a:ln cap="flat" cmpd="sng" w="12700">
            <a:solidFill>
              <a:srgbClr val="B423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6569308" y="1884879"/>
            <a:ext cx="1879574" cy="2387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2318"/>
              </a:buClr>
              <a:buSzPts val="1200"/>
              <a:buFont typeface="IBM Plex Sans"/>
              <a:buNone/>
            </a:pPr>
            <a:r>
              <a:rPr b="0" i="0" lang="en-US" sz="1200" u="none" cap="none" strike="noStrike">
                <a:solidFill>
                  <a:srgbClr val="B42318"/>
                </a:solidFill>
                <a:latin typeface="IBM Plex Sans"/>
                <a:ea typeface="IBM Plex Sans"/>
                <a:cs typeface="IBM Plex Sans"/>
                <a:sym typeface="IBM Plex Sans"/>
              </a:rPr>
              <a:t>Step 3 · the new part</a:t>
            </a:r>
            <a:endParaRPr b="0" i="0" sz="1200" u="none" cap="none" strike="noStrike">
              <a:solidFill>
                <a:schemeClr val="dk1"/>
              </a:solidFill>
              <a:latin typeface="Calibri"/>
              <a:ea typeface="Calibri"/>
              <a:cs typeface="Calibri"/>
              <a:sym typeface="Calibri"/>
            </a:endParaRPr>
          </a:p>
        </p:txBody>
      </p:sp>
      <p:sp>
        <p:nvSpPr>
          <p:cNvPr id="52" name="Google Shape;52;p5"/>
          <p:cNvSpPr/>
          <p:nvPr/>
        </p:nvSpPr>
        <p:spPr>
          <a:xfrm>
            <a:off x="6569308" y="2174371"/>
            <a:ext cx="1879574" cy="116315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600"/>
              <a:buFont typeface="IBM Plex Sans"/>
              <a:buNone/>
            </a:pPr>
            <a:r>
              <a:rPr b="1" i="0" lang="en-US" sz="1600" u="none" cap="none" strike="noStrike">
                <a:solidFill>
                  <a:srgbClr val="1A1A1A"/>
                </a:solidFill>
                <a:latin typeface="IBM Plex Sans"/>
                <a:ea typeface="IBM Plex Sans"/>
                <a:cs typeface="IBM Plex Sans"/>
                <a:sym typeface="IBM Plex Sans"/>
              </a:rPr>
              <a:t>Learn how ripeness drifts over time, plus randomness</a:t>
            </a:r>
            <a:endParaRPr b="0" i="0" sz="1600" u="none" cap="none" strike="noStrike">
              <a:solidFill>
                <a:schemeClr val="dk1"/>
              </a:solidFill>
              <a:latin typeface="Calibri"/>
              <a:ea typeface="Calibri"/>
              <a:cs typeface="Calibri"/>
              <a:sym typeface="Calibri"/>
            </a:endParaRPr>
          </a:p>
        </p:txBody>
      </p:sp>
      <p:pic>
        <p:nvPicPr>
          <p:cNvPr descr="arrow-right" id="53" name="Google Shape;53;p5"/>
          <p:cNvPicPr preferRelativeResize="0"/>
          <p:nvPr/>
        </p:nvPicPr>
        <p:blipFill rotWithShape="1">
          <a:blip r:embed="rId3">
            <a:alphaModFix/>
          </a:blip>
          <a:srcRect b="0" l="-3" r="-3" t="0"/>
          <a:stretch/>
        </p:blipFill>
        <p:spPr>
          <a:xfrm>
            <a:off x="8734713" y="2522285"/>
            <a:ext cx="279384" cy="152382"/>
          </a:xfrm>
          <a:prstGeom prst="rect">
            <a:avLst/>
          </a:prstGeom>
          <a:noFill/>
          <a:ln>
            <a:noFill/>
          </a:ln>
        </p:spPr>
      </p:pic>
      <p:sp>
        <p:nvSpPr>
          <p:cNvPr id="54" name="Google Shape;54;p5"/>
          <p:cNvSpPr/>
          <p:nvPr/>
        </p:nvSpPr>
        <p:spPr>
          <a:xfrm>
            <a:off x="9144221" y="1674426"/>
            <a:ext cx="2231822" cy="1848151"/>
          </a:xfrm>
          <a:prstGeom prst="roundRect">
            <a:avLst>
              <a:gd fmla="val 3951" name="adj"/>
            </a:avLst>
          </a:prstGeom>
          <a:solidFill>
            <a:srgbClr val="FFFFFF"/>
          </a:solidFill>
          <a:ln cap="flat" cmpd="sng" w="9525">
            <a:solidFill>
              <a:srgbClr val="E3E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9347717" y="1877923"/>
            <a:ext cx="1879574" cy="2387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1200"/>
              <a:buFont typeface="IBM Plex Sans"/>
              <a:buNone/>
            </a:pPr>
            <a:r>
              <a:rPr b="0" i="0" lang="en-US" sz="1200" u="none" cap="none" strike="noStrike">
                <a:solidFill>
                  <a:srgbClr val="6A7179"/>
                </a:solidFill>
                <a:latin typeface="IBM Plex Sans"/>
                <a:ea typeface="IBM Plex Sans"/>
                <a:cs typeface="IBM Plex Sans"/>
                <a:sym typeface="IBM Plex Sans"/>
              </a:rPr>
              <a:t>Step 4</a:t>
            </a:r>
            <a:endParaRPr b="0" i="0" sz="1200" u="none" cap="none" strike="noStrike">
              <a:solidFill>
                <a:schemeClr val="dk1"/>
              </a:solidFill>
              <a:latin typeface="Calibri"/>
              <a:ea typeface="Calibri"/>
              <a:cs typeface="Calibri"/>
              <a:sym typeface="Calibri"/>
            </a:endParaRPr>
          </a:p>
        </p:txBody>
      </p:sp>
      <p:sp>
        <p:nvSpPr>
          <p:cNvPr id="56" name="Google Shape;56;p5"/>
          <p:cNvSpPr/>
          <p:nvPr/>
        </p:nvSpPr>
        <p:spPr>
          <a:xfrm>
            <a:off x="9347717" y="2167415"/>
            <a:ext cx="1879574" cy="59427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600"/>
              <a:buFont typeface="IBM Plex Sans"/>
              <a:buNone/>
            </a:pPr>
            <a:r>
              <a:rPr b="1" i="0" lang="en-US" sz="1600" u="none" cap="none" strike="noStrike">
                <a:solidFill>
                  <a:srgbClr val="1A1A1A"/>
                </a:solidFill>
                <a:latin typeface="IBM Plex Sans"/>
                <a:ea typeface="IBM Plex Sans"/>
                <a:cs typeface="IBM Plex Sans"/>
                <a:sym typeface="IBM Plex Sans"/>
              </a:rPr>
              <a:t>Chance it’s spoiled by each day</a:t>
            </a:r>
            <a:endParaRPr b="0" i="0" sz="1600" u="none" cap="none" strike="noStrike">
              <a:solidFill>
                <a:schemeClr val="dk1"/>
              </a:solidFill>
              <a:latin typeface="Calibri"/>
              <a:ea typeface="Calibri"/>
              <a:cs typeface="Calibri"/>
              <a:sym typeface="Calibri"/>
            </a:endParaRPr>
          </a:p>
        </p:txBody>
      </p:sp>
      <p:cxnSp>
        <p:nvCxnSpPr>
          <p:cNvPr id="57" name="Google Shape;57;p5"/>
          <p:cNvCxnSpPr/>
          <p:nvPr/>
        </p:nvCxnSpPr>
        <p:spPr>
          <a:xfrm>
            <a:off x="812774" y="3887677"/>
            <a:ext cx="5181625" cy="0"/>
          </a:xfrm>
          <a:prstGeom prst="straightConnector1">
            <a:avLst/>
          </a:prstGeom>
          <a:noFill/>
          <a:ln cap="flat" cmpd="sng" w="12700">
            <a:solidFill>
              <a:srgbClr val="1A1A1A"/>
            </a:solidFill>
            <a:prstDash val="solid"/>
            <a:round/>
            <a:headEnd len="sm" w="sm" type="none"/>
            <a:tailEnd len="sm" w="sm" type="none"/>
          </a:ln>
        </p:spPr>
      </p:cxnSp>
      <p:sp>
        <p:nvSpPr>
          <p:cNvPr id="58" name="Google Shape;58;p5"/>
          <p:cNvSpPr/>
          <p:nvPr/>
        </p:nvSpPr>
        <p:spPr>
          <a:xfrm>
            <a:off x="812774" y="4044144"/>
            <a:ext cx="5337074" cy="26918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A1A1A"/>
              </a:buClr>
              <a:buSzPts val="1600"/>
              <a:buFont typeface="IBM Plex Sans"/>
              <a:buNone/>
            </a:pPr>
            <a:r>
              <a:rPr b="1" i="0" lang="en-US" sz="1600" u="none" cap="none" strike="noStrike">
                <a:solidFill>
                  <a:srgbClr val="1A1A1A"/>
                </a:solidFill>
                <a:latin typeface="IBM Plex Sans"/>
                <a:ea typeface="IBM Plex Sans"/>
                <a:cs typeface="IBM Plex Sans"/>
                <a:sym typeface="IBM Plex Sans"/>
              </a:rPr>
              <a:t>Temperature sets the speed</a:t>
            </a:r>
            <a:endParaRPr b="0" i="0" sz="1600" u="none" cap="none" strike="noStrike">
              <a:solidFill>
                <a:schemeClr val="dk1"/>
              </a:solidFill>
              <a:latin typeface="Calibri"/>
              <a:ea typeface="Calibri"/>
              <a:cs typeface="Calibri"/>
              <a:sym typeface="Calibri"/>
            </a:endParaRPr>
          </a:p>
        </p:txBody>
      </p:sp>
      <p:sp>
        <p:nvSpPr>
          <p:cNvPr id="59" name="Google Shape;59;p5"/>
          <p:cNvSpPr/>
          <p:nvPr/>
        </p:nvSpPr>
        <p:spPr>
          <a:xfrm>
            <a:off x="812774" y="4338690"/>
            <a:ext cx="5337074" cy="52319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Colder storage, slower ripening. One model covers every condition.</a:t>
            </a:r>
            <a:endParaRPr b="0" i="0" sz="1400" u="none" cap="none" strike="noStrike">
              <a:solidFill>
                <a:schemeClr val="dk1"/>
              </a:solidFill>
              <a:latin typeface="Calibri"/>
              <a:ea typeface="Calibri"/>
              <a:cs typeface="Calibri"/>
              <a:sym typeface="Calibri"/>
            </a:endParaRPr>
          </a:p>
        </p:txBody>
      </p:sp>
      <p:cxnSp>
        <p:nvCxnSpPr>
          <p:cNvPr id="60" name="Google Shape;60;p5"/>
          <p:cNvCxnSpPr/>
          <p:nvPr/>
        </p:nvCxnSpPr>
        <p:spPr>
          <a:xfrm>
            <a:off x="6197593" y="3887677"/>
            <a:ext cx="5181625" cy="0"/>
          </a:xfrm>
          <a:prstGeom prst="straightConnector1">
            <a:avLst/>
          </a:prstGeom>
          <a:noFill/>
          <a:ln cap="flat" cmpd="sng" w="12700">
            <a:solidFill>
              <a:srgbClr val="1A1A1A"/>
            </a:solidFill>
            <a:prstDash val="solid"/>
            <a:round/>
            <a:headEnd len="sm" w="sm" type="none"/>
            <a:tailEnd len="sm" w="sm" type="none"/>
          </a:ln>
        </p:spPr>
      </p:cxnSp>
      <p:sp>
        <p:nvSpPr>
          <p:cNvPr id="61" name="Google Shape;61;p5"/>
          <p:cNvSpPr/>
          <p:nvPr/>
        </p:nvSpPr>
        <p:spPr>
          <a:xfrm>
            <a:off x="6197593" y="4044144"/>
            <a:ext cx="5337074" cy="26918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A1A1A"/>
              </a:buClr>
              <a:buSzPts val="1600"/>
              <a:buFont typeface="IBM Plex Sans"/>
              <a:buNone/>
            </a:pPr>
            <a:r>
              <a:rPr b="1" i="0" lang="en-US" sz="1600" u="none" cap="none" strike="noStrike">
                <a:solidFill>
                  <a:srgbClr val="1A1A1A"/>
                </a:solidFill>
                <a:latin typeface="IBM Plex Sans"/>
                <a:ea typeface="IBM Plex Sans"/>
                <a:cs typeface="IBM Plex Sans"/>
                <a:sym typeface="IBM Plex Sans"/>
              </a:rPr>
              <a:t>Randomness is learned, not assumed</a:t>
            </a:r>
            <a:endParaRPr b="0" i="0" sz="1600" u="none" cap="none" strike="noStrike">
              <a:solidFill>
                <a:schemeClr val="dk1"/>
              </a:solidFill>
              <a:latin typeface="Calibri"/>
              <a:ea typeface="Calibri"/>
              <a:cs typeface="Calibri"/>
              <a:sym typeface="Calibri"/>
            </a:endParaRPr>
          </a:p>
        </p:txBody>
      </p:sp>
      <p:sp>
        <p:nvSpPr>
          <p:cNvPr id="62" name="Google Shape;62;p5"/>
          <p:cNvSpPr/>
          <p:nvPr/>
        </p:nvSpPr>
        <p:spPr>
          <a:xfrm>
            <a:off x="6197593" y="4338690"/>
            <a:ext cx="5337074" cy="27429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The model learns how much fruit-to-fruit variation to expect.</a:t>
            </a:r>
            <a:endParaRPr b="0" i="0" sz="1400" u="none" cap="none" strike="noStrike">
              <a:solidFill>
                <a:schemeClr val="dk1"/>
              </a:solidFill>
              <a:latin typeface="Calibri"/>
              <a:ea typeface="Calibri"/>
              <a:cs typeface="Calibri"/>
              <a:sym typeface="Calibri"/>
            </a:endParaRPr>
          </a:p>
        </p:txBody>
      </p:sp>
      <p:sp>
        <p:nvSpPr>
          <p:cNvPr id="63" name="Google Shape;63;p5"/>
          <p:cNvSpPr/>
          <p:nvPr/>
        </p:nvSpPr>
        <p:spPr>
          <a:xfrm>
            <a:off x="812774" y="6238297"/>
            <a:ext cx="11379226" cy="2387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1200"/>
              <a:buFont typeface="IBM Plex Mono"/>
              <a:buNone/>
            </a:pPr>
            <a:r>
              <a:rPr b="0" i="0" lang="en-US" sz="1200" u="none" cap="none" strike="noStrike">
                <a:solidFill>
                  <a:srgbClr val="6A7179"/>
                </a:solidFill>
                <a:latin typeface="IBM Plex Mono"/>
                <a:ea typeface="IBM Plex Mono"/>
                <a:cs typeface="IBM Plex Mono"/>
                <a:sym typeface="IBM Plex Mono"/>
              </a:rPr>
              <a:t>dZ = κ(T)·μθ(Z) dt + σθ(Z) dW · κ(T) Arrhenius · loss: latent-SDE ELBO · grads: backprop / checkpointing / adjoint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68" name="Shape 68"/>
        <p:cNvGrpSpPr/>
        <p:nvPr/>
      </p:nvGrpSpPr>
      <p:grpSpPr>
        <a:xfrm>
          <a:off x="0" y="0"/>
          <a:ext cx="0" cy="0"/>
          <a:chOff x="0" y="0"/>
          <a:chExt cx="0" cy="0"/>
        </a:xfrm>
      </p:grpSpPr>
      <p:sp>
        <p:nvSpPr>
          <p:cNvPr id="69" name="Google Shape;69;p6"/>
          <p:cNvSpPr/>
          <p:nvPr/>
        </p:nvSpPr>
        <p:spPr>
          <a:xfrm>
            <a:off x="812774" y="812775"/>
            <a:ext cx="10883437" cy="528303"/>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1A"/>
              </a:buClr>
              <a:buSzPts val="3600"/>
              <a:buFont typeface="IBM Plex Sans"/>
              <a:buNone/>
            </a:pPr>
            <a:r>
              <a:rPr b="1" lang="en-US" sz="3600">
                <a:solidFill>
                  <a:srgbClr val="1A1A1A"/>
                </a:solidFill>
                <a:latin typeface="IBM Plex Sans"/>
                <a:ea typeface="IBM Plex Sans"/>
                <a:cs typeface="IBM Plex Sans"/>
                <a:sym typeface="IBM Plex Sans"/>
              </a:rPr>
              <a:t>Dataset</a:t>
            </a:r>
            <a:endParaRPr b="0" i="0" sz="3600" u="none" cap="none" strike="noStrike">
              <a:solidFill>
                <a:schemeClr val="dk1"/>
              </a:solidFill>
              <a:latin typeface="Calibri"/>
              <a:ea typeface="Calibri"/>
              <a:cs typeface="Calibri"/>
              <a:sym typeface="Calibri"/>
            </a:endParaRPr>
          </a:p>
        </p:txBody>
      </p:sp>
      <p:sp>
        <p:nvSpPr>
          <p:cNvPr id="70" name="Google Shape;70;p6"/>
          <p:cNvSpPr/>
          <p:nvPr/>
        </p:nvSpPr>
        <p:spPr>
          <a:xfrm>
            <a:off x="819124" y="1677603"/>
            <a:ext cx="5175881" cy="2649304"/>
          </a:xfrm>
          <a:prstGeom prst="roundRect">
            <a:avLst>
              <a:gd fmla="val 3595" name="adj"/>
            </a:avLst>
          </a:prstGeom>
          <a:solidFill>
            <a:srgbClr val="FFFFFF"/>
          </a:solidFill>
          <a:ln cap="flat" cmpd="sng" w="12700">
            <a:solidFill>
              <a:srgbClr val="B423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1127971" y="1986449"/>
            <a:ext cx="4694932" cy="2387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2318"/>
              </a:buClr>
              <a:buSzPts val="1200"/>
              <a:buFont typeface="IBM Plex Sans"/>
              <a:buNone/>
            </a:pPr>
            <a:r>
              <a:rPr b="0" i="0" lang="en-US" sz="1200" u="none" cap="none" strike="noStrike">
                <a:solidFill>
                  <a:srgbClr val="B42318"/>
                </a:solidFill>
                <a:latin typeface="IBM Plex Sans"/>
                <a:ea typeface="IBM Plex Sans"/>
                <a:cs typeface="IBM Plex Sans"/>
                <a:sym typeface="IBM Plex Sans"/>
              </a:rPr>
              <a:t>MAIN · </a:t>
            </a:r>
            <a:r>
              <a:rPr lang="en-US" sz="1200">
                <a:solidFill>
                  <a:srgbClr val="B42318"/>
                </a:solidFill>
                <a:latin typeface="IBM Plex Sans"/>
                <a:ea typeface="IBM Plex Sans"/>
                <a:cs typeface="IBM Plex Sans"/>
                <a:sym typeface="IBM Plex Sans"/>
              </a:rPr>
              <a:t>MUHMMAMAD</a:t>
            </a:r>
            <a:endParaRPr b="0" i="0" sz="1200" u="none" cap="none" strike="noStrike">
              <a:solidFill>
                <a:schemeClr val="dk1"/>
              </a:solidFill>
              <a:latin typeface="Calibri"/>
              <a:ea typeface="Calibri"/>
              <a:cs typeface="Calibri"/>
              <a:sym typeface="Calibri"/>
            </a:endParaRPr>
          </a:p>
        </p:txBody>
      </p:sp>
      <p:sp>
        <p:nvSpPr>
          <p:cNvPr id="72" name="Google Shape;72;p6"/>
          <p:cNvSpPr/>
          <p:nvPr/>
        </p:nvSpPr>
        <p:spPr>
          <a:xfrm>
            <a:off x="1127971" y="2326700"/>
            <a:ext cx="4694932" cy="3606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A1A1A"/>
              </a:buClr>
              <a:buSzPts val="2200"/>
              <a:buFont typeface="IBM Plex Sans"/>
              <a:buNone/>
            </a:pPr>
            <a:r>
              <a:rPr b="1" i="0" lang="en-US" sz="2200" u="none" cap="none" strike="noStrike">
                <a:solidFill>
                  <a:srgbClr val="1A1A1A"/>
                </a:solidFill>
                <a:latin typeface="IBM Plex Sans"/>
                <a:ea typeface="IBM Plex Sans"/>
                <a:cs typeface="IBM Plex Sans"/>
                <a:sym typeface="IBM Plex Sans"/>
              </a:rPr>
              <a:t>Produce image dataset</a:t>
            </a:r>
            <a:endParaRPr b="0" i="0" sz="2200" u="none" cap="none" strike="noStrike">
              <a:solidFill>
                <a:schemeClr val="dk1"/>
              </a:solidFill>
              <a:latin typeface="Calibri"/>
              <a:ea typeface="Calibri"/>
              <a:cs typeface="Calibri"/>
              <a:sym typeface="Calibri"/>
            </a:endParaRPr>
          </a:p>
        </p:txBody>
      </p:sp>
      <p:sp>
        <p:nvSpPr>
          <p:cNvPr id="73" name="Google Shape;73;p6"/>
          <p:cNvSpPr/>
          <p:nvPr/>
        </p:nvSpPr>
        <p:spPr>
          <a:xfrm>
            <a:off x="1127971" y="2788898"/>
            <a:ext cx="4694932" cy="87871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600"/>
              <a:buFont typeface="IBM Plex Sans"/>
              <a:buNone/>
            </a:pPr>
            <a:r>
              <a:rPr lang="en-US" sz="1600">
                <a:solidFill>
                  <a:srgbClr val="4A5568"/>
                </a:solidFill>
                <a:latin typeface="IBM Plex Sans"/>
                <a:ea typeface="IBM Plex Sans"/>
                <a:cs typeface="IBM Plex Sans"/>
                <a:sym typeface="IBM Plex Sans"/>
              </a:rPr>
              <a:t>N/A</a:t>
            </a:r>
            <a:endParaRPr b="0" i="0" sz="1600" u="none" cap="none" strike="noStrike">
              <a:solidFill>
                <a:schemeClr val="dk1"/>
              </a:solidFill>
              <a:latin typeface="Calibri"/>
              <a:ea typeface="Calibri"/>
              <a:cs typeface="Calibri"/>
              <a:sym typeface="Calibri"/>
            </a:endParaRPr>
          </a:p>
        </p:txBody>
      </p:sp>
      <p:sp>
        <p:nvSpPr>
          <p:cNvPr id="74" name="Google Shape;74;p6"/>
          <p:cNvSpPr/>
          <p:nvPr/>
        </p:nvSpPr>
        <p:spPr>
          <a:xfrm>
            <a:off x="1127971" y="3898558"/>
            <a:ext cx="46950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400"/>
              <a:buFont typeface="IBM Plex Sans"/>
              <a:buNone/>
            </a:pPr>
            <a:r>
              <a:rPr b="1" i="0" lang="en-US" sz="1400" u="none" cap="none" strike="noStrike">
                <a:solidFill>
                  <a:srgbClr val="1A1A1A"/>
                </a:solidFill>
                <a:latin typeface="IBM Plex Sans"/>
                <a:ea typeface="IBM Plex Sans"/>
                <a:cs typeface="IBM Plex Sans"/>
                <a:sym typeface="IBM Plex Sans"/>
              </a:rPr>
              <a:t>Status:</a:t>
            </a:r>
            <a:r>
              <a:rPr b="0" i="0" lang="en-US" sz="1400" u="none" cap="none" strike="noStrike">
                <a:solidFill>
                  <a:srgbClr val="1A1A1A"/>
                </a:solidFill>
                <a:latin typeface="IBM Plex Sans"/>
                <a:ea typeface="IBM Plex Sans"/>
                <a:cs typeface="IBM Plex Sans"/>
                <a:sym typeface="IBM Plex Sans"/>
              </a:rPr>
              <a:t> </a:t>
            </a:r>
            <a:r>
              <a:rPr lang="en-US">
                <a:solidFill>
                  <a:srgbClr val="1A1A1A"/>
                </a:solidFill>
                <a:latin typeface="IBM Plex Sans"/>
                <a:ea typeface="IBM Plex Sans"/>
                <a:cs typeface="IBM Plex Sans"/>
                <a:sym typeface="IBM Plex Sans"/>
              </a:rPr>
              <a:t>TBD</a:t>
            </a:r>
            <a:endParaRPr b="0" i="0" sz="1400" u="none" cap="none" strike="noStrike">
              <a:solidFill>
                <a:schemeClr val="dk1"/>
              </a:solidFill>
              <a:latin typeface="Calibri"/>
              <a:ea typeface="Calibri"/>
              <a:cs typeface="Calibri"/>
              <a:sym typeface="Calibri"/>
            </a:endParaRPr>
          </a:p>
        </p:txBody>
      </p:sp>
      <p:sp>
        <p:nvSpPr>
          <p:cNvPr id="75" name="Google Shape;75;p6"/>
          <p:cNvSpPr/>
          <p:nvPr/>
        </p:nvSpPr>
        <p:spPr>
          <a:xfrm>
            <a:off x="6207724" y="1674428"/>
            <a:ext cx="5168319" cy="2655654"/>
          </a:xfrm>
          <a:prstGeom prst="roundRect">
            <a:avLst>
              <a:gd fmla="val 3706" name="adj"/>
            </a:avLst>
          </a:prstGeom>
          <a:solidFill>
            <a:srgbClr val="FFFFFF"/>
          </a:solidFill>
          <a:ln cap="flat" cmpd="sng" w="9525">
            <a:solidFill>
              <a:srgbClr val="E3E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6512790" y="1979493"/>
            <a:ext cx="4694932" cy="2387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1200"/>
              <a:buFont typeface="IBM Plex Sans"/>
              <a:buNone/>
            </a:pPr>
            <a:r>
              <a:rPr b="0" i="0" lang="en-US" sz="1200" u="none" cap="none" strike="noStrike">
                <a:solidFill>
                  <a:srgbClr val="6A7179"/>
                </a:solidFill>
                <a:latin typeface="IBM Plex Sans"/>
                <a:ea typeface="IBM Plex Sans"/>
                <a:cs typeface="IBM Plex Sans"/>
                <a:sym typeface="IBM Plex Sans"/>
              </a:rPr>
              <a:t>BACKUP · PUBLIC</a:t>
            </a:r>
            <a:endParaRPr b="0" i="0" sz="1200" u="none" cap="none" strike="noStrike">
              <a:solidFill>
                <a:schemeClr val="dk1"/>
              </a:solidFill>
              <a:latin typeface="Calibri"/>
              <a:ea typeface="Calibri"/>
              <a:cs typeface="Calibri"/>
              <a:sym typeface="Calibri"/>
            </a:endParaRPr>
          </a:p>
        </p:txBody>
      </p:sp>
      <p:sp>
        <p:nvSpPr>
          <p:cNvPr id="77" name="Google Shape;77;p6"/>
          <p:cNvSpPr/>
          <p:nvPr/>
        </p:nvSpPr>
        <p:spPr>
          <a:xfrm>
            <a:off x="6512790" y="2319744"/>
            <a:ext cx="4694932" cy="3606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A1A1A"/>
              </a:buClr>
              <a:buSzPts val="2200"/>
              <a:buFont typeface="IBM Plex Sans"/>
              <a:buNone/>
            </a:pPr>
            <a:r>
              <a:rPr b="1" i="0" lang="en-US" sz="2200" u="none" cap="none" strike="noStrike">
                <a:solidFill>
                  <a:srgbClr val="1A1A1A"/>
                </a:solidFill>
                <a:latin typeface="IBM Plex Sans"/>
                <a:ea typeface="IBM Plex Sans"/>
                <a:cs typeface="IBM Plex Sans"/>
                <a:sym typeface="IBM Plex Sans"/>
              </a:rPr>
              <a:t>Avocado ripening photos</a:t>
            </a:r>
            <a:endParaRPr b="0" i="0" sz="2200" u="none" cap="none" strike="noStrike">
              <a:solidFill>
                <a:schemeClr val="dk1"/>
              </a:solidFill>
              <a:latin typeface="Calibri"/>
              <a:ea typeface="Calibri"/>
              <a:cs typeface="Calibri"/>
              <a:sym typeface="Calibri"/>
            </a:endParaRPr>
          </a:p>
        </p:txBody>
      </p:sp>
      <p:sp>
        <p:nvSpPr>
          <p:cNvPr id="78" name="Google Shape;78;p6"/>
          <p:cNvSpPr/>
          <p:nvPr/>
        </p:nvSpPr>
        <p:spPr>
          <a:xfrm>
            <a:off x="6512790" y="2781942"/>
            <a:ext cx="4694932" cy="87871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478 avocados, photographed daily until spoiled</a:t>
            </a:r>
            <a:endParaRPr b="0" i="0" sz="16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14,710 photos</a:t>
            </a:r>
            <a:endParaRPr b="0" i="0" sz="16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3 storage temperatures</a:t>
            </a:r>
            <a:endParaRPr b="0" i="0" sz="1600" u="none" cap="none" strike="noStrike">
              <a:solidFill>
                <a:schemeClr val="dk1"/>
              </a:solidFill>
              <a:latin typeface="Calibri"/>
              <a:ea typeface="Calibri"/>
              <a:cs typeface="Calibri"/>
              <a:sym typeface="Calibri"/>
            </a:endParaRPr>
          </a:p>
        </p:txBody>
      </p:sp>
      <p:sp>
        <p:nvSpPr>
          <p:cNvPr id="79" name="Google Shape;79;p6"/>
          <p:cNvSpPr/>
          <p:nvPr/>
        </p:nvSpPr>
        <p:spPr>
          <a:xfrm>
            <a:off x="6512790" y="3891602"/>
            <a:ext cx="46950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1A"/>
              </a:buClr>
              <a:buSzPts val="1400"/>
              <a:buFont typeface="IBM Plex Sans"/>
              <a:buNone/>
            </a:pPr>
            <a:r>
              <a:rPr b="1" i="0" lang="en-US" sz="1400" u="none" cap="none" strike="noStrike">
                <a:solidFill>
                  <a:srgbClr val="1A1A1A"/>
                </a:solidFill>
                <a:latin typeface="IBM Plex Sans"/>
                <a:ea typeface="IBM Plex Sans"/>
                <a:cs typeface="IBM Plex Sans"/>
                <a:sym typeface="IBM Plex Sans"/>
              </a:rPr>
              <a:t>Status:</a:t>
            </a:r>
            <a:r>
              <a:rPr b="0" i="0" lang="en-US" sz="1400" u="none" cap="none" strike="noStrike">
                <a:solidFill>
                  <a:srgbClr val="1A1A1A"/>
                </a:solidFill>
                <a:latin typeface="IBM Plex Sans"/>
                <a:ea typeface="IBM Plex Sans"/>
                <a:cs typeface="IBM Plex Sans"/>
                <a:sym typeface="IBM Plex Sans"/>
              </a:rPr>
              <a:t> </a:t>
            </a:r>
            <a:r>
              <a:rPr lang="en-US">
                <a:solidFill>
                  <a:srgbClr val="1A1A1A"/>
                </a:solidFill>
                <a:latin typeface="IBM Plex Sans"/>
                <a:ea typeface="IBM Plex Sans"/>
                <a:cs typeface="IBM Plex Sans"/>
                <a:sym typeface="IBM Plex Sans"/>
              </a:rPr>
              <a:t>Ready</a:t>
            </a:r>
            <a:endParaRPr b="0" i="0" sz="1400" u="none" cap="none" strike="noStrike">
              <a:solidFill>
                <a:schemeClr val="dk1"/>
              </a:solidFill>
              <a:latin typeface="Calibri"/>
              <a:ea typeface="Calibri"/>
              <a:cs typeface="Calibri"/>
              <a:sym typeface="Calibri"/>
            </a:endParaRPr>
          </a:p>
        </p:txBody>
      </p:sp>
      <p:sp>
        <p:nvSpPr>
          <p:cNvPr id="80" name="Google Shape;80;p6"/>
          <p:cNvSpPr/>
          <p:nvPr/>
        </p:nvSpPr>
        <p:spPr>
          <a:xfrm>
            <a:off x="812774" y="4688832"/>
            <a:ext cx="10883437" cy="30983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600"/>
              <a:buFont typeface="IBM Plex Sans"/>
              <a:buNone/>
            </a:pPr>
            <a:r>
              <a:rPr lang="en-US" sz="1600">
                <a:solidFill>
                  <a:srgbClr val="4A5568"/>
                </a:solidFill>
                <a:latin typeface="IBM Plex Sans"/>
                <a:ea typeface="IBM Plex Sans"/>
                <a:cs typeface="IBM Plex Sans"/>
                <a:sym typeface="IBM Plex Sans"/>
              </a:rPr>
              <a:t>Both</a:t>
            </a:r>
            <a:r>
              <a:rPr b="0" i="0" lang="en-US" sz="1600" u="none" cap="none" strike="noStrike">
                <a:solidFill>
                  <a:srgbClr val="4A5568"/>
                </a:solidFill>
                <a:latin typeface="IBM Plex Sans"/>
                <a:ea typeface="IBM Plex Sans"/>
                <a:cs typeface="IBM Plex Sans"/>
                <a:sym typeface="IBM Plex Sans"/>
              </a:rPr>
              <a:t> way</a:t>
            </a:r>
            <a:r>
              <a:rPr lang="en-US" sz="1600">
                <a:solidFill>
                  <a:srgbClr val="4A5568"/>
                </a:solidFill>
                <a:latin typeface="IBM Plex Sans"/>
                <a:ea typeface="IBM Plex Sans"/>
                <a:cs typeface="IBM Plex Sans"/>
                <a:sym typeface="IBM Plex Sans"/>
              </a:rPr>
              <a:t>s</a:t>
            </a:r>
            <a:r>
              <a:rPr b="0" i="0" lang="en-US" sz="1600" u="none" cap="none" strike="noStrike">
                <a:solidFill>
                  <a:srgbClr val="4A5568"/>
                </a:solidFill>
                <a:latin typeface="IBM Plex Sans"/>
                <a:ea typeface="IBM Plex Sans"/>
                <a:cs typeface="IBM Plex Sans"/>
                <a:sym typeface="IBM Plex Sans"/>
              </a:rPr>
              <a:t> each item is tracked over time, and the model is tested on items it never saw.</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5" name="Shape 85"/>
        <p:cNvGrpSpPr/>
        <p:nvPr/>
      </p:nvGrpSpPr>
      <p:grpSpPr>
        <a:xfrm>
          <a:off x="0" y="0"/>
          <a:ext cx="0" cy="0"/>
          <a:chOff x="0" y="0"/>
          <a:chExt cx="0" cy="0"/>
        </a:xfrm>
      </p:grpSpPr>
      <p:sp>
        <p:nvSpPr>
          <p:cNvPr id="86" name="Google Shape;86;p7"/>
          <p:cNvSpPr/>
          <p:nvPr/>
        </p:nvSpPr>
        <p:spPr>
          <a:xfrm>
            <a:off x="812774" y="812775"/>
            <a:ext cx="10883437" cy="528303"/>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1A"/>
              </a:buClr>
              <a:buSzPts val="3600"/>
              <a:buFont typeface="IBM Plex Sans"/>
              <a:buNone/>
            </a:pPr>
            <a:r>
              <a:rPr b="1" lang="en-US" sz="3600">
                <a:solidFill>
                  <a:srgbClr val="1A1A1A"/>
                </a:solidFill>
                <a:latin typeface="IBM Plex Sans"/>
                <a:ea typeface="IBM Plex Sans"/>
                <a:cs typeface="IBM Plex Sans"/>
                <a:sym typeface="IBM Plex Sans"/>
              </a:rPr>
              <a:t>Sanity Check</a:t>
            </a:r>
            <a:endParaRPr b="0" i="0" sz="3600" u="none" cap="none" strike="noStrike">
              <a:solidFill>
                <a:schemeClr val="dk1"/>
              </a:solidFill>
              <a:latin typeface="Calibri"/>
              <a:ea typeface="Calibri"/>
              <a:cs typeface="Calibri"/>
              <a:sym typeface="Calibri"/>
            </a:endParaRPr>
          </a:p>
        </p:txBody>
      </p:sp>
      <p:graphicFrame>
        <p:nvGraphicFramePr>
          <p:cNvPr id="87" name="Google Shape;87;p7"/>
          <p:cNvGraphicFramePr/>
          <p:nvPr/>
        </p:nvGraphicFramePr>
        <p:xfrm>
          <a:off x="823208" y="1630875"/>
          <a:ext cx="3000000" cy="3000000"/>
        </p:xfrm>
        <a:graphic>
          <a:graphicData uri="http://schemas.openxmlformats.org/drawingml/2006/table">
            <a:tbl>
              <a:tblPr>
                <a:noFill/>
                <a:tableStyleId>{1F750FF1-D72E-4844-84CA-15E11371ABB0}</a:tableStyleId>
              </a:tblPr>
              <a:tblGrid>
                <a:gridCol w="2533425"/>
                <a:gridCol w="5700225"/>
                <a:gridCol w="2322300"/>
              </a:tblGrid>
              <a:tr h="383775">
                <a:tc>
                  <a:txBody>
                    <a:bodyPr/>
                    <a:lstStyle/>
                    <a:p>
                      <a:pPr indent="0" lvl="0" marL="0" marR="0" rtl="0" algn="l">
                        <a:lnSpc>
                          <a:spcPct val="140000"/>
                        </a:lnSpc>
                        <a:spcBef>
                          <a:spcPts val="0"/>
                        </a:spcBef>
                        <a:spcAft>
                          <a:spcPts val="0"/>
                        </a:spcAft>
                        <a:buClr>
                          <a:srgbClr val="1A1A1A"/>
                        </a:buClr>
                        <a:buSzPts val="1400"/>
                        <a:buFont typeface="IBM Plex Sans"/>
                        <a:buNone/>
                      </a:pPr>
                      <a:r>
                        <a:rPr b="1" lang="en-US" sz="1400" u="none" cap="none" strike="noStrike">
                          <a:solidFill>
                            <a:srgbClr val="1A1A1A"/>
                          </a:solidFill>
                          <a:latin typeface="IBM Plex Sans"/>
                          <a:ea typeface="IBM Plex Sans"/>
                          <a:cs typeface="IBM Plex Sans"/>
                          <a:sym typeface="IBM Plex Sans"/>
                        </a:rPr>
                        <a:t>Check</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BABAB8"/>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BABAB8"/>
                      </a:solidFill>
                      <a:prstDash val="solid"/>
                      <a:round/>
                      <a:headEnd len="sm" w="sm" type="none"/>
                      <a:tailEnd len="sm" w="sm" type="none"/>
                    </a:lnB>
                    <a:solidFill>
                      <a:srgbClr val="E9E9E6"/>
                    </a:solidFill>
                  </a:tcPr>
                </a:tc>
                <a:tc>
                  <a:txBody>
                    <a:bodyPr/>
                    <a:lstStyle/>
                    <a:p>
                      <a:pPr indent="0" lvl="0" marL="0" marR="0" rtl="0" algn="l">
                        <a:lnSpc>
                          <a:spcPct val="140000"/>
                        </a:lnSpc>
                        <a:spcBef>
                          <a:spcPts val="0"/>
                        </a:spcBef>
                        <a:spcAft>
                          <a:spcPts val="0"/>
                        </a:spcAft>
                        <a:buClr>
                          <a:srgbClr val="1A1A1A"/>
                        </a:buClr>
                        <a:buSzPts val="1400"/>
                        <a:buFont typeface="IBM Plex Sans"/>
                        <a:buNone/>
                      </a:pPr>
                      <a:r>
                        <a:rPr b="1" lang="en-US" sz="1400" u="none" cap="none" strike="noStrike">
                          <a:solidFill>
                            <a:srgbClr val="1A1A1A"/>
                          </a:solidFill>
                          <a:latin typeface="IBM Plex Sans"/>
                          <a:ea typeface="IBM Plex Sans"/>
                          <a:cs typeface="IBM Plex Sans"/>
                          <a:sym typeface="IBM Plex Sans"/>
                        </a:rPr>
                        <a:t>In plain terms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ABAB8"/>
                      </a:solidFill>
                      <a:prstDash val="solid"/>
                      <a:round/>
                      <a:headEnd len="sm" w="sm" type="none"/>
                      <a:tailEnd len="sm" w="sm" type="none"/>
                    </a:lnL>
                    <a:lnR cap="flat" cmpd="sng" w="12700">
                      <a:solidFill>
                        <a:srgbClr val="BABAB8"/>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BABAB8"/>
                      </a:solidFill>
                      <a:prstDash val="solid"/>
                      <a:round/>
                      <a:headEnd len="sm" w="sm" type="none"/>
                      <a:tailEnd len="sm" w="sm" type="none"/>
                    </a:lnB>
                    <a:solidFill>
                      <a:srgbClr val="E9E9E6"/>
                    </a:solidFill>
                  </a:tcPr>
                </a:tc>
                <a:tc>
                  <a:txBody>
                    <a:bodyPr/>
                    <a:lstStyle/>
                    <a:p>
                      <a:pPr indent="0" lvl="0" marL="0" marR="0" rtl="0" algn="l">
                        <a:lnSpc>
                          <a:spcPct val="140000"/>
                        </a:lnSpc>
                        <a:spcBef>
                          <a:spcPts val="0"/>
                        </a:spcBef>
                        <a:spcAft>
                          <a:spcPts val="0"/>
                        </a:spcAft>
                        <a:buClr>
                          <a:srgbClr val="1A1A1A"/>
                        </a:buClr>
                        <a:buSzPts val="1400"/>
                        <a:buFont typeface="IBM Plex Sans"/>
                        <a:buNone/>
                      </a:pPr>
                      <a:r>
                        <a:rPr b="1" lang="en-US" sz="1400" u="none" cap="none" strike="noStrike">
                          <a:solidFill>
                            <a:srgbClr val="1A1A1A"/>
                          </a:solidFill>
                          <a:latin typeface="IBM Plex Sans"/>
                          <a:ea typeface="IBM Plex Sans"/>
                          <a:cs typeface="IBM Plex Sans"/>
                          <a:sym typeface="IBM Plex Sans"/>
                        </a:rPr>
                        <a:t>Needs data?</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ABAB8"/>
                      </a:solidFill>
                      <a:prstDash val="solid"/>
                      <a:round/>
                      <a:headEnd len="sm" w="sm" type="none"/>
                      <a:tailEnd len="sm" w="sm" type="none"/>
                    </a:lnL>
                    <a:lnR cap="flat" cmpd="sng" w="12700">
                      <a:solidFill>
                        <a:srgbClr val="BABAB8"/>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BABAB8"/>
                      </a:solidFill>
                      <a:prstDash val="solid"/>
                      <a:round/>
                      <a:headEnd len="sm" w="sm" type="none"/>
                      <a:tailEnd len="sm" w="sm" type="none"/>
                    </a:lnB>
                    <a:solidFill>
                      <a:srgbClr val="E9E9E6"/>
                    </a:solidFill>
                  </a:tcPr>
                </a:tc>
              </a:tr>
              <a:tr h="383775">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Math check</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BABAB8"/>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The training math gives the right answer</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BABAB8"/>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a:solidFill>
                            <a:srgbClr val="1A1A1A"/>
                          </a:solidFill>
                          <a:latin typeface="IBM Plex Sans"/>
                          <a:ea typeface="IBM Plex Sans"/>
                          <a:cs typeface="IBM Plex Sans"/>
                          <a:sym typeface="IBM Plex Sans"/>
                        </a:rPr>
                        <a:t>No</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BABAB8"/>
                      </a:solidFill>
                      <a:prstDash val="solid"/>
                      <a:round/>
                      <a:headEnd len="sm" w="sm" type="none"/>
                      <a:tailEnd len="sm" w="sm" type="none"/>
                    </a:lnT>
                    <a:lnB cap="flat" cmpd="sng" w="12700">
                      <a:solidFill>
                        <a:srgbClr val="C8C8C6"/>
                      </a:solidFill>
                      <a:prstDash val="solid"/>
                      <a:round/>
                      <a:headEnd len="sm" w="sm" type="none"/>
                      <a:tailEnd len="sm" w="sm" type="none"/>
                    </a:lnB>
                  </a:tcPr>
                </a:tc>
              </a:tr>
              <a:tr h="392050">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Fake-fruit test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Simulate fruit whose spoil dates I know; model must figure them out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a:solidFill>
                            <a:srgbClr val="1A1A1A"/>
                          </a:solidFill>
                          <a:latin typeface="IBM Plex Sans"/>
                          <a:ea typeface="IBM Plex Sans"/>
                          <a:cs typeface="IBM Plex Sans"/>
                          <a:sym typeface="IBM Plex Sans"/>
                        </a:rPr>
                        <a:t>No</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r>
              <a:tr h="383775">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Beat the simple method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At least as accurate as “photo in, days left out”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Yes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r>
              <a:tr h="383775">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Honest ranges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When it says 80% sure, it’s right about 80% of the time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Yes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r>
              <a:tr h="383775">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New conditions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Trained on two storage temperatures, predicts a third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Yes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r>
            </a:tbl>
          </a:graphicData>
        </a:graphic>
      </p:graphicFrame>
      <p:sp>
        <p:nvSpPr>
          <p:cNvPr id="88" name="Google Shape;88;p7"/>
          <p:cNvSpPr/>
          <p:nvPr/>
        </p:nvSpPr>
        <p:spPr>
          <a:xfrm>
            <a:off x="812774" y="4487211"/>
            <a:ext cx="10883437" cy="30983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2318"/>
              </a:buClr>
              <a:buSzPts val="1600"/>
              <a:buFont typeface="IBM Plex Sans"/>
              <a:buNone/>
            </a:pPr>
            <a:r>
              <a:rPr lang="en-US" sz="1600">
                <a:solidFill>
                  <a:srgbClr val="B42318"/>
                </a:solidFill>
                <a:latin typeface="IBM Plex Sans"/>
                <a:ea typeface="IBM Plex Sans"/>
                <a:cs typeface="IBM Plex Sans"/>
                <a:sym typeface="IBM Plex Sans"/>
              </a:rPr>
              <a:t>What success looks like</a:t>
            </a:r>
            <a:r>
              <a:rPr b="0" i="0" lang="en-US" sz="1600" u="none" cap="none" strike="noStrike">
                <a:solidFill>
                  <a:srgbClr val="B42318"/>
                </a:solidFill>
                <a:latin typeface="IBM Plex Sans"/>
                <a:ea typeface="IBM Plex Sans"/>
                <a:cs typeface="IBM Plex Sans"/>
                <a:sym typeface="IBM Plex Sans"/>
              </a:rPr>
              <a:t>:</a:t>
            </a:r>
            <a:r>
              <a:rPr b="0" i="0" lang="en-US" sz="1600" u="none" cap="none" strike="noStrike">
                <a:solidFill>
                  <a:srgbClr val="4A5568"/>
                </a:solidFill>
                <a:latin typeface="IBM Plex Sans"/>
                <a:ea typeface="IBM Plex Sans"/>
                <a:cs typeface="IBM Plex Sans"/>
                <a:sym typeface="IBM Plex Sans"/>
              </a:rPr>
              <a:t> as accurate as the simple method, with ranges you can trust.</a:t>
            </a:r>
            <a:endParaRPr b="0" i="0" sz="1600" u="none" cap="none" strike="noStrike">
              <a:solidFill>
                <a:schemeClr val="dk1"/>
              </a:solidFill>
              <a:latin typeface="Calibri"/>
              <a:ea typeface="Calibri"/>
              <a:cs typeface="Calibri"/>
              <a:sym typeface="Calibri"/>
            </a:endParaRPr>
          </a:p>
        </p:txBody>
      </p:sp>
      <p:sp>
        <p:nvSpPr>
          <p:cNvPr id="89" name="Google Shape;89;p7"/>
          <p:cNvSpPr/>
          <p:nvPr/>
        </p:nvSpPr>
        <p:spPr>
          <a:xfrm>
            <a:off x="812774" y="6238295"/>
            <a:ext cx="10883381" cy="2387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1200"/>
              <a:buFont typeface="IBM Plex Sans"/>
              <a:buNone/>
            </a:pPr>
            <a:r>
              <a:rPr b="0" i="0" lang="en-US" sz="1200" u="none" cap="none" strike="noStrike">
                <a:solidFill>
                  <a:srgbClr val="6A7179"/>
                </a:solidFill>
                <a:latin typeface="IBM Plex Sans"/>
                <a:ea typeface="IBM Plex Sans"/>
                <a:cs typeface="IBM Plex Sans"/>
                <a:sym typeface="IBM Plex Sans"/>
              </a:rPr>
              <a:t>Technical: metrics = MAE, CRPS, 80% interval coverage; split by item; baseline MAE to beat on backup data = 1.04 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94" name="Shape 94"/>
        <p:cNvGrpSpPr/>
        <p:nvPr/>
      </p:nvGrpSpPr>
      <p:grpSpPr>
        <a:xfrm>
          <a:off x="0" y="0"/>
          <a:ext cx="0" cy="0"/>
          <a:chOff x="0" y="0"/>
          <a:chExt cx="0" cy="0"/>
        </a:xfrm>
      </p:grpSpPr>
      <p:sp>
        <p:nvSpPr>
          <p:cNvPr id="95" name="Google Shape;95;p8"/>
          <p:cNvSpPr/>
          <p:nvPr/>
        </p:nvSpPr>
        <p:spPr>
          <a:xfrm>
            <a:off x="812774" y="812775"/>
            <a:ext cx="10883437" cy="528303"/>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1A"/>
              </a:buClr>
              <a:buSzPts val="3600"/>
              <a:buFont typeface="IBM Plex Sans"/>
              <a:buNone/>
            </a:pPr>
            <a:r>
              <a:rPr b="1" i="0" lang="en-US" sz="3600" u="none" cap="none" strike="noStrike">
                <a:solidFill>
                  <a:srgbClr val="1A1A1A"/>
                </a:solidFill>
                <a:latin typeface="IBM Plex Sans"/>
                <a:ea typeface="IBM Plex Sans"/>
                <a:cs typeface="IBM Plex Sans"/>
                <a:sym typeface="IBM Plex Sans"/>
              </a:rPr>
              <a:t>Milestones to Dec 17</a:t>
            </a:r>
            <a:endParaRPr b="0" i="0" sz="3600" u="none" cap="none" strike="noStrike">
              <a:solidFill>
                <a:schemeClr val="dk1"/>
              </a:solidFill>
              <a:latin typeface="Calibri"/>
              <a:ea typeface="Calibri"/>
              <a:cs typeface="Calibri"/>
              <a:sym typeface="Calibri"/>
            </a:endParaRPr>
          </a:p>
        </p:txBody>
      </p:sp>
      <p:graphicFrame>
        <p:nvGraphicFramePr>
          <p:cNvPr id="96" name="Google Shape;96;p8"/>
          <p:cNvGraphicFramePr/>
          <p:nvPr/>
        </p:nvGraphicFramePr>
        <p:xfrm>
          <a:off x="823208" y="1630875"/>
          <a:ext cx="3000000" cy="3000000"/>
        </p:xfrm>
        <a:graphic>
          <a:graphicData uri="http://schemas.openxmlformats.org/drawingml/2006/table">
            <a:tbl>
              <a:tblPr>
                <a:noFill/>
                <a:tableStyleId>{1F750FF1-D72E-4844-84CA-15E11371ABB0}</a:tableStyleId>
              </a:tblPr>
              <a:tblGrid>
                <a:gridCol w="1794500"/>
                <a:gridCol w="4961300"/>
                <a:gridCol w="3800150"/>
              </a:tblGrid>
              <a:tr h="383775">
                <a:tc>
                  <a:txBody>
                    <a:bodyPr/>
                    <a:lstStyle/>
                    <a:p>
                      <a:pPr indent="0" lvl="0" marL="0" marR="0" rtl="0" algn="l">
                        <a:lnSpc>
                          <a:spcPct val="140000"/>
                        </a:lnSpc>
                        <a:spcBef>
                          <a:spcPts val="0"/>
                        </a:spcBef>
                        <a:spcAft>
                          <a:spcPts val="0"/>
                        </a:spcAft>
                        <a:buClr>
                          <a:srgbClr val="1A1A1A"/>
                        </a:buClr>
                        <a:buSzPts val="1400"/>
                        <a:buFont typeface="IBM Plex Sans"/>
                        <a:buNone/>
                      </a:pPr>
                      <a:r>
                        <a:rPr b="1" lang="en-US" sz="1400" u="none" cap="none" strike="noStrike">
                          <a:solidFill>
                            <a:srgbClr val="1A1A1A"/>
                          </a:solidFill>
                          <a:latin typeface="IBM Plex Sans"/>
                          <a:ea typeface="IBM Plex Sans"/>
                          <a:cs typeface="IBM Plex Sans"/>
                          <a:sym typeface="IBM Plex Sans"/>
                        </a:rPr>
                        <a:t>Dates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BABAB8"/>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BABAB8"/>
                      </a:solidFill>
                      <a:prstDash val="solid"/>
                      <a:round/>
                      <a:headEnd len="sm" w="sm" type="none"/>
                      <a:tailEnd len="sm" w="sm" type="none"/>
                    </a:lnB>
                    <a:solidFill>
                      <a:srgbClr val="E9E9E6"/>
                    </a:solidFill>
                  </a:tcPr>
                </a:tc>
                <a:tc>
                  <a:txBody>
                    <a:bodyPr/>
                    <a:lstStyle/>
                    <a:p>
                      <a:pPr indent="0" lvl="0" marL="0" marR="0" rtl="0" algn="l">
                        <a:lnSpc>
                          <a:spcPct val="140000"/>
                        </a:lnSpc>
                        <a:spcBef>
                          <a:spcPts val="0"/>
                        </a:spcBef>
                        <a:spcAft>
                          <a:spcPts val="0"/>
                        </a:spcAft>
                        <a:buClr>
                          <a:srgbClr val="1A1A1A"/>
                        </a:buClr>
                        <a:buSzPts val="1400"/>
                        <a:buFont typeface="IBM Plex Sans"/>
                        <a:buNone/>
                      </a:pPr>
                      <a:r>
                        <a:rPr b="1" lang="en-US" sz="1400" u="none" cap="none" strike="noStrike">
                          <a:solidFill>
                            <a:srgbClr val="1A1A1A"/>
                          </a:solidFill>
                          <a:latin typeface="IBM Plex Sans"/>
                          <a:ea typeface="IBM Plex Sans"/>
                          <a:cs typeface="IBM Plex Sans"/>
                          <a:sym typeface="IBM Plex Sans"/>
                        </a:rPr>
                        <a:t>Milestone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ABAB8"/>
                      </a:solidFill>
                      <a:prstDash val="solid"/>
                      <a:round/>
                      <a:headEnd len="sm" w="sm" type="none"/>
                      <a:tailEnd len="sm" w="sm" type="none"/>
                    </a:lnL>
                    <a:lnR cap="flat" cmpd="sng" w="12700">
                      <a:solidFill>
                        <a:srgbClr val="BABAB8"/>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BABAB8"/>
                      </a:solidFill>
                      <a:prstDash val="solid"/>
                      <a:round/>
                      <a:headEnd len="sm" w="sm" type="none"/>
                      <a:tailEnd len="sm" w="sm" type="none"/>
                    </a:lnB>
                    <a:solidFill>
                      <a:srgbClr val="E9E9E6"/>
                    </a:solidFill>
                  </a:tcPr>
                </a:tc>
                <a:tc>
                  <a:txBody>
                    <a:bodyPr/>
                    <a:lstStyle/>
                    <a:p>
                      <a:pPr indent="0" lvl="0" marL="0" marR="0" rtl="0" algn="l">
                        <a:lnSpc>
                          <a:spcPct val="140000"/>
                        </a:lnSpc>
                        <a:spcBef>
                          <a:spcPts val="0"/>
                        </a:spcBef>
                        <a:spcAft>
                          <a:spcPts val="0"/>
                        </a:spcAft>
                        <a:buClr>
                          <a:srgbClr val="1A1A1A"/>
                        </a:buClr>
                        <a:buSzPts val="1400"/>
                        <a:buFont typeface="IBM Plex Sans"/>
                        <a:buNone/>
                      </a:pPr>
                      <a:r>
                        <a:rPr b="1" lang="en-US" sz="1400" u="none" cap="none" strike="noStrike">
                          <a:solidFill>
                            <a:srgbClr val="1A1A1A"/>
                          </a:solidFill>
                          <a:latin typeface="IBM Plex Sans"/>
                          <a:ea typeface="IBM Plex Sans"/>
                          <a:cs typeface="IBM Plex Sans"/>
                          <a:sym typeface="IBM Plex Sans"/>
                        </a:rPr>
                        <a:t>Done when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ABAB8"/>
                      </a:solidFill>
                      <a:prstDash val="solid"/>
                      <a:round/>
                      <a:headEnd len="sm" w="sm" type="none"/>
                      <a:tailEnd len="sm" w="sm" type="none"/>
                    </a:lnL>
                    <a:lnR cap="flat" cmpd="sng" w="12700">
                      <a:solidFill>
                        <a:srgbClr val="BABAB8"/>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BABAB8"/>
                      </a:solidFill>
                      <a:prstDash val="solid"/>
                      <a:round/>
                      <a:headEnd len="sm" w="sm" type="none"/>
                      <a:tailEnd len="sm" w="sm" type="none"/>
                    </a:lnB>
                    <a:solidFill>
                      <a:srgbClr val="E9E9E6"/>
                    </a:solidFill>
                  </a:tcPr>
                </a:tc>
              </a:tr>
              <a:tr h="383775">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Oct 20–26</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BABAB8"/>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Proposal; build the fake-fruit test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BABAB8"/>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Fake-fruit test runs end to end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BABAB8"/>
                      </a:solidFill>
                      <a:prstDash val="solid"/>
                      <a:round/>
                      <a:headEnd len="sm" w="sm" type="none"/>
                      <a:tailEnd len="sm" w="sm" type="none"/>
                    </a:lnT>
                    <a:lnB cap="flat" cmpd="sng" w="12700">
                      <a:solidFill>
                        <a:srgbClr val="C8C8C6"/>
                      </a:solidFill>
                      <a:prstDash val="solid"/>
                      <a:round/>
                      <a:headEnd len="sm" w="sm" type="none"/>
                      <a:tailEnd len="sm" w="sm" type="none"/>
                    </a:lnB>
                  </a:tcPr>
                </a:tc>
              </a:tr>
              <a:tr h="383775">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Oct 27–Nov 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Get data: Stevens, else switch to backup by Nov 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Data organized; simple method scored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r>
              <a:tr h="383775">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Nov 3–9</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First model, using ripeness labels only</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Passes fake-fruit test; first real results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r>
              <a:tr h="383775">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Nov 10–23</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Add photos and temperature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Full model trains on real data</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r>
              <a:tr h="383775">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Nov 24–30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Thanksgiving buffer; compare training methods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Speed and memory comparison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r>
              <a:tr h="383775">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Dec 1–10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New-conditions test; final charts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One complete results table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8C8C6"/>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8C8C6"/>
                      </a:solidFill>
                      <a:prstDash val="solid"/>
                      <a:round/>
                      <a:headEnd len="sm" w="sm" type="none"/>
                      <a:tailEnd len="sm" w="sm" type="none"/>
                    </a:lnB>
                  </a:tcPr>
                </a:tc>
              </a:tr>
              <a:tr h="383775">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Dec 11–17</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C8C6"/>
                      </a:solidFill>
                      <a:prstDash val="solid"/>
                      <a:round/>
                      <a:headEnd len="sm" w="sm" type="none"/>
                      <a:tailEnd len="sm" w="sm" type="none"/>
                    </a:lnL>
                    <a:lnR cap="flat" cmpd="sng" w="12700">
                      <a:solidFill>
                        <a:srgbClr val="C0C0BB"/>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0C0BB"/>
                      </a:solidFill>
                      <a:prstDash val="solid"/>
                      <a:round/>
                      <a:headEnd len="sm" w="sm" type="none"/>
                      <a:tailEnd len="sm" w="sm" type="none"/>
                    </a:lnB>
                    <a:solidFill>
                      <a:srgbClr val="F1F0EB"/>
                    </a:solidFill>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Write-up and public code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0BB"/>
                      </a:solidFill>
                      <a:prstDash val="solid"/>
                      <a:round/>
                      <a:headEnd len="sm" w="sm" type="none"/>
                      <a:tailEnd len="sm" w="sm" type="none"/>
                    </a:lnL>
                    <a:lnR cap="flat" cmpd="sng" w="12700">
                      <a:solidFill>
                        <a:srgbClr val="C0C0BB"/>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0C0BB"/>
                      </a:solidFill>
                      <a:prstDash val="solid"/>
                      <a:round/>
                      <a:headEnd len="sm" w="sm" type="none"/>
                      <a:tailEnd len="sm" w="sm" type="none"/>
                    </a:lnB>
                    <a:solidFill>
                      <a:srgbClr val="F1F0EB"/>
                    </a:solidFill>
                  </a:tcPr>
                </a:tc>
                <a:tc>
                  <a:txBody>
                    <a:bodyPr/>
                    <a:lstStyle/>
                    <a:p>
                      <a:pPr indent="0" lvl="0" marL="0" marR="0" rtl="0" algn="l">
                        <a:lnSpc>
                          <a:spcPct val="140000"/>
                        </a:lnSpc>
                        <a:spcBef>
                          <a:spcPts val="0"/>
                        </a:spcBef>
                        <a:spcAft>
                          <a:spcPts val="0"/>
                        </a:spcAft>
                        <a:buClr>
                          <a:srgbClr val="1A1A1A"/>
                        </a:buClr>
                        <a:buSzPts val="1400"/>
                        <a:buFont typeface="IBM Plex Sans"/>
                        <a:buNone/>
                      </a:pPr>
                      <a:r>
                        <a:rPr lang="en-US" sz="1400" u="none" cap="none" strike="noStrike">
                          <a:solidFill>
                            <a:srgbClr val="1A1A1A"/>
                          </a:solidFill>
                          <a:latin typeface="IBM Plex Sans"/>
                          <a:ea typeface="IBM Plex Sans"/>
                          <a:cs typeface="IBM Plex Sans"/>
                          <a:sym typeface="IBM Plex Sans"/>
                        </a:rPr>
                        <a:t>Submitted Dec 17</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0BB"/>
                      </a:solidFill>
                      <a:prstDash val="solid"/>
                      <a:round/>
                      <a:headEnd len="sm" w="sm" type="none"/>
                      <a:tailEnd len="sm" w="sm" type="none"/>
                    </a:lnL>
                    <a:lnR cap="flat" cmpd="sng" w="12700">
                      <a:solidFill>
                        <a:srgbClr val="C0C0BB"/>
                      </a:solidFill>
                      <a:prstDash val="solid"/>
                      <a:round/>
                      <a:headEnd len="sm" w="sm" type="none"/>
                      <a:tailEnd len="sm" w="sm" type="none"/>
                    </a:lnR>
                    <a:lnT cap="flat" cmpd="sng" w="12700">
                      <a:solidFill>
                        <a:srgbClr val="C8C8C6"/>
                      </a:solidFill>
                      <a:prstDash val="solid"/>
                      <a:round/>
                      <a:headEnd len="sm" w="sm" type="none"/>
                      <a:tailEnd len="sm" w="sm" type="none"/>
                    </a:lnT>
                    <a:lnB cap="flat" cmpd="sng" w="12700">
                      <a:solidFill>
                        <a:srgbClr val="C0C0BB"/>
                      </a:solidFill>
                      <a:prstDash val="solid"/>
                      <a:round/>
                      <a:headEnd len="sm" w="sm" type="none"/>
                      <a:tailEnd len="sm" w="sm" type="none"/>
                    </a:lnB>
                    <a:solidFill>
                      <a:srgbClr val="F1F0EB"/>
                    </a:solidFill>
                  </a:tcPr>
                </a:tc>
              </a:tr>
            </a:tbl>
          </a:graphicData>
        </a:graphic>
      </p:graphicFrame>
      <p:sp>
        <p:nvSpPr>
          <p:cNvPr id="97" name="Google Shape;97;p8"/>
          <p:cNvSpPr/>
          <p:nvPr/>
        </p:nvSpPr>
        <p:spPr>
          <a:xfrm>
            <a:off x="812774" y="6238298"/>
            <a:ext cx="10883381" cy="2387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1200"/>
              <a:buFont typeface="IBM Plex Sans"/>
              <a:buNone/>
            </a:pPr>
            <a:r>
              <a:rPr lang="en-US" sz="1200">
                <a:solidFill>
                  <a:srgbClr val="6A7179"/>
                </a:solidFill>
                <a:latin typeface="IBM Plex Sans"/>
                <a:ea typeface="IBM Plex Sans"/>
                <a:cs typeface="IBM Plex Sans"/>
                <a:sym typeface="IBM Plex Sans"/>
              </a:rPr>
              <a:t>Note: Will also use this as a running example on Neural SDEs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