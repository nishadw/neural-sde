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8909476-3cd1-9422-ddc8-e0c19f4fdbed}">
          <p14:sldIdLst>
            <p14:sldId id="256"/>
            <p14:sldId id="257"/>
            <p14:sldId id="258"/>
            <p14:sldId id="259"/>
          </p14:sldIdLst>
        </p14:section>
        <p14:section name="Part 1: Continuous time" id="{18b0fb40-fa7c-f50e-aa87-045fea9c65cd}">
          <p14:sldIdLst>
            <p14:sldId id="260"/>
            <p14:sldId id="261"/>
            <p14:sldId id="262"/>
          </p14:sldIdLst>
        </p14:section>
        <p14:section name="Part 2: Stochastic calculus" id="{6bdeb555-56a4-c9e9-5f98-ca9f4d73693a}">
          <p14:sldIdLst>
            <p14:sldId id="263"/>
            <p14:sldId id="264"/>
          </p14:sldIdLst>
        </p14:section>
        <p14:section name="Part 3: Gradients" id="{89b10eb9-56dd-1fd2-c26f-cad7631b65e2}">
          <p14:sldIdLst>
            <p14:sldId id="265"/>
            <p14:sldId id="266"/>
            <p14:sldId id="267"/>
          </p14:sldIdLst>
        </p14:section>
        <p14:section name="Part 4: Training and limits" id="{f6b66d59-725c-370e-de6a-f2ab5d1ac1f2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Backup" id="{cfede167-39fa-343e-9745-ef6a0b2228c9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– 0:30]  (30 s)
TIMING PLAN: ~24.5 min talk + ~5 min discussion. Slides marked SKIP-IF-SHORT (14, 17) can go if the slot is 20 min.
Backup slides A1–A7 sit after the discussion slide: jump there only if asked.
• Nishad. Topic: how to take gradients through stochastic differential equations, and how to train models built from them.
• One running example the whole way: predicting when a piece of produce goes bad, from photos.
• Audience spans undergrad to PhD: every slide has a one-line takeaway at the bottom; the math above it is for those who want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– 2:00]  (90 s)
• The question a grocer, a warehouse, or a fridge camera actually asks: will this be sellable on Friday?
• Data: a public dataset of 478 Hass avocados, each photographed every day until it was overripe, under three storage conditions. Each photo has a ripening stage 1–5; stage 4 is end of shelf life.
• What we want is a probability: P(τ ≤ Friday | photos so far, temperature). τ is the first day the fruit hits stage 4.
• Key point: even a perfect model can't give one answer. Two identical-looking fruits diverge. So we need a model of a random process, and we need to train it with gradients. That's the talk.
TODO (project): replace the five dashed boxes with one real fruit's photos (same sample, sides a/b) from the dataset. Check the dataset's license on Mendeley before posting images.
IF ASKED — why not just label each photo? Labels answer 'what stage is it now'; we need 'when will it cross stage 4', which depends on the future path.
IF ASKED — is this real randomness or just missing features? Both. Unobserved factors (ethylene exposure, bruising, cultivar variation) act like noise at the level we observe; modeling them as noise is the honest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– 3:00]  (60 s)
• Five things the avocado problem needs. Go down the rows fast.
• Irregular days: photos are missed, fruit spoil at different times. Continuous-time models handle any timestamp natively.
• Uncertainty over futures: a classifier gives class probabilities now; a latent ODE's only randomness is in its starting state, so all spread is set at day 0. An SDE keeps injecting randomness along the way.
• P(spoiled by t*): needs a distribution over paths.
• Physics prior: in continuous time the drift is a rate, so we can scale it by temperature the way food scientists do (next part).
IF ASKED — can't a sequence model do survival analysis? Yes: an RNN or Transformer with time-gap features and a hazard head is a real baseline (I list it on the results slide). The SDE gives these properties by construction rather than by feature engineering.
IF ASKED — why 'partial' for the latent ODE on uncertainty? Its randomness is only in z(0) (a VAE-style posterior). Spread can't grow with unforeseen events after day 0; an SDE's variance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– 3:20]  (20 s)
• Four parts. The thread through all of them: the forward pass is a solver, so how do we get gradients through it, and what breaks once the dynamics are random?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[3:20 – 4:30]  (70 s)
• Quick for the experts, essential for everyone else: a residual block h + f(h) is one Euler step with step size 1.
• Take the step size to zero: dh/dt = f(h, t). The network now defines a velocity; a solver (adaptive RK, etc.) decides how many steps to take.
• Avocado version: encoder e_φ maps the first photo to a latent state; f_θ evolves it, conditioned on temperature c. This is a latent neural ODE (Rubanova et al. 2019).
• Limitation we just saw on the table: once z(0) is fixed, the future is fixed.
IF ASKED — what do we gain over a ResNet? Arbitrary query times (irregular photos), adaptive compute, and a model whose parameters are rates, so physics priors slot in.
IF ASKED — what does it cost? Each forward pass is an ODE solve: the number of function evaluations (NFE) is chosen by the solver and tends to grow during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[4:30 – 5:45]  (75 s)
• Row 1, the default in any autodiff framework: treat the solver as code and backprop. Exact gradient of what was computed, but you store every step.
• Row 2: store only a few states and recompute between them. Griewank's binomial checkpointing (revolve) gets memory down to O(log N) checkpoints for O(N log N) recompute. Still exact.
• Row 3: write the gradient itself as an ODE and solve it backward (next slide). Memory independent of N, but the backward solve re-creates z(t) instead of storing it, so it's only as good as that re-solve.
• Names on the right are the Diffrax switches; my repo exposes all three behind one flag.
IF ASKED — where does 2d + p come from? The backward system carries z (d), the adjoint a (d), and the running parameter gradient (p).
IF ASKED — which is 'optimize-then-discretize'? The adjoint: derive the continuous gradient first, then discretize it. Rows 1–2 discretize first, then differentiate the discrete program exactly.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[5:45 – 7:45]  (2 min) — core slide, slow down.
• a(t) is ∂L/∂z(t): how much the loss cares about the state at time t. The continuous analogue of the 'delta' in backprop.
• It satisfies its own linear ODE, solved backward from a(T) = ∂L/∂z(T).
• The parameter gradient accumulates along the way: a_θ starts at 0 at time T, and its value at time 0 is dL/dθ.
• We also integrate z backward, because we didn't store it. That's the source of O(1) memory and of the approximation.
• Every term is a vector-Jacobian product: one reverse-mode call of f per solver stage (per step for Euler; s calls for an s-stage Runge–Kutta), cost comparable to the forward pass.
IF ASKED — why is it exact in continuous time but approximate in practice? The continuous equations are exact; the discretized backward solve doesn't reproduce the forward discrete trajectory, so it's not the gradient of what the forward solver computed.
IF ASKED — derivation? Backup A1: Lagrange multiplier a(t) on the constraint ż = f, integrate by parts, choose a so the ∂z/∂θ terms vanish.
IF ASKED — relation to Pontryagin? Same costate equation: a is the costate, and the adjoint ODE is Pontryagin's costate dynamics.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[7:45 – 10:00]  (2 min 15 s) — the math slide for the technical audience; for everyone else the takeaway line is enough.
• Top left: an SDE is shorthand for an integral equation. The second integral is an Itô integral: evaluated at the left endpoint of each interval.
• Top right: Brownian increments are independent Gaussians with variance equal to elapsed time. Heuristic (dW)² = dt is why stochastic calculus differs from ordinary calculus.
• Bottom left: Itô's lemma. Because (dW)² = dt, a second-order Taylor term survives: ½ f″ σ² dt. Example: log of a price picks up −½σ² (that's the −½σ² in the log-price drift in my repo's quant demo).
• Bottom right: Stratonovich evaluates at the midpoint. Same process, different drift: subtract ½ Σ (∂σ_j/∂z) σ_j. With Stratonovich the ordinary chain rule holds, which is exactly what the adjoint derivation needs (Part 3).
• Solvers: Euler–Maruyama converges at strong order ½ (pathwise error ~ √Δt) and weak order 1 (error in expectations ~ Δt).
IF ASKED — strong vs weak order? Strong: error of individual paths, E|Z_T − Ẑ_T|. Weak: error in expectations, |E f(Z_T) − E f(Ẑ_T)|. Pricing/probabilities need weak; gradients through paths care about strong.
IF ASKED — when are Itô and Stratonovich the same? When σ doesn't depend on Z (additive noise): the correction term is zero.
IF ASKED — which does Euler converge to? Euler–Maruyama → Itô. Heun-type / midpoint methods → Stratonovich.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– 12:00]  (2 min)
• Pipeline: each photo goes through an image encoder; the latent state Z_t evolves as an SDE between photos; a small head reads ripeness stage from Z; shelf life is the first time ripeness crosses stage 4.
• Drift: a neural network for the ripening rate, multiplied by a temperature factor κ(c). Arrhenius kinetics is the standard food-science model for how reaction rates scale with temperature: E_a is activation energy, R the gas constant, T in kelvin. It's a physics prior baked into the drift; the network learns the rest.
• Diffusion σ_θ: how much ripeness wanders unpredictably; it can depend on storage too (ambient is less controlled).
• τ = inf{t : q(Z_t) ≥ b}: a first-passage time. The question from slide 2 is P(τ ≤ t*).
TODO (project): fill the placeholder with the actual encoder; if using the compact geometry-grounded model, say one sentence on why geometry helps generalize across fruit shapes.
IF ASKED — why Arrhenius rather than learning temperature dependence? Only two storage temperatures are controlled (10 °C and 20 °C; 'ambient' isn't a fixed temperature unless it was logged), so a free-form network has almost nothing to interpolate from. Arrhenius gives a 1-parameter, physically meaningful extrapolation; E_a can be learned, pinned mainly by those two points.
IF ASKED — should σ scale with temperature too? If κ is read as speeding up the biological clock, diffusion would scale by √κ as well. I apply Arrhenius only to the deterministic rate and let σ_θ depend on c freely; that's a modeling choice worth testing.
IF ASKED — why ordinal head? Stages are ordered; ordinal regression (thresholds on q) respects that and defines b naturally as the stage-3/4 cut.
IF ASKED — how do you compute P(τ ≤ t*)? Monte Carlo: sample many latent paths forward from the posterior at the last photo, count the fraction crossing b by t*. Discrete monitoring misses crossings between steps; a Brownian-bridge correction fixes it (backup A5).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– 14:00]  (2 min) — this is where the running example forces a real design decision.
• Two ways to differentiate an expectation. Pathwise: write Z_T as a deterministic function of θ and the noise W, then differentiate inside the expectation. Same trick as the VAE reparameterization. Low variance.
• Score function / REINFORCE: differentiate the probability of the path instead. Works for any f, even discontinuous, but high variance.
• Right plot: our target is P(spoiled by t*) = E[1{τ ≤ t*}]. For each fixed noise path, the indicator is a step function of θ: its derivative is zero almost everywhere. Average them and the expectation is smooth (red), with a real nonzero slope. The pathwise estimator returns 0. That's a biased gradient, not a noisy one.
• Three fixes, bottom: (1) replace the step with a sigmoid of temperature ε: differentiable, biased, bias → 0 as ε → 0 but variance grows; (2) between solver steps, the probability a Brownian bridge crosses b has a closed form that is smooth in the endpoints: use that as the payoff; (3) score function via Girsanov: unbiased but noisy.
IF ASKED — why is the pathwise gradient of the indicator zero but the expectation's isn't? You can't swap ∇ and E when f is discontinuous: the mass that moves across the threshold isn't captured by any single path's derivative.
IF ASKED — Girsanov likelihood ratio? For parameters in the drift only: ∇_θ log p_θ(path) = ∫ (∂_θ(σ⁻¹μ_θ))ᵀ dW_t. Parameters in σ change the quadratic variation, so the continuous-time path measures become mutually singular and no ratio exists. On a discrete grid the Euler–Maruyama chain does have a Gaussian density in σ, but that score-function estimator's variance blows up as Δt → 0. Another reason pathwise is preferred for σ.
IF ASKED — how is this handled in finance? Exactly the same problem for digital and barrier options: practitioners use smoothing, likelihood-ratio Greeks, or Brownian-bridge corrections. Reference: Mohamed et al., JMLR 2020 for the ML view; Glasserman's Monte Carlo book for finance.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– 16:00]  (2 min)
• Compare to slide 7: the adjoint equation now has a second term, aᵀ ∂σ_j/∂z ∘ dW^j, and the parameter gradient picks up an integral against dW too.
• Two catches. (1) The backward pass must be driven by the same Brownian path as the forward pass, otherwise you're differentiating a different sample. Storing it costs memory; a virtual Brownian tree regenerates any W(s) from a random seed by recursive Brownian-bridge sampling, so memory stays O(1) at O(log 1/ε) cost per query.
• (2) Write everything in Stratonovich form, where the ordinary chain rule holds, so the ODE adjoint derivation carries over unchanged. Important: the μ in these equations is the Stratonovich drift. Our ripening model is written in Itô form with state-dependent σ, so we first convert: μ̃ = μ − ½ Σ_j (∂σ_j/∂z) σ_j. Plugging in the Itô drift gives wrong gradients.
• Exactness: Kidger et al. built a solver whose steps can be inverted exactly in exact arithmetic (algebraically reversible), plus a discrete adjoint that matches it, giving gradients exact up to floating-point round-off with constant memory. That's in torchsde. Diffrax's BacksolveAdjoint is the continuous adjoint, so approximate even with reversible Heun. I found this while testing; next slide is the measurement.
IF ASKED — what's a virtual Brownian tree? Start with W(0)=0 and W(T) ~ N(0,T). To get W(s), bisect: sample the midpoint from the Brownian bridge conditional (backup A5), recurse into the half containing s until within tolerance ε. Seeds are derived deterministically from the interval, so the same query always returns the same value.
IF ASKED — can you use Itô directly? You can, but the backward-in-time Itô SDE needs extra correction terms; Stratonovich avoids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– 17:00]  (60 s)
If time or asked for a demo: run lecture/neural_sde_demo.py live (adjoint vs backprop gradient), or play assets/demo.mp4 (52 s) from the repo if the laptop can't run it.
• Left: memory vs number of solver steps (log scale). Backprop grows linearly, checkpointing grows very slowly, adjoint is flat, as promised. But flat at ~150 MB, and that constant grows with parameter count and noise channels (backup A6). The method itself only needs the backward state, 2d + p ≈ 13.7k numbers ≈ 110 KB, so the 150 MB is an implementation constant in Diffrax/XLA, not something the adjoint requires.
• Middle: time. The adjoint is about 60× slower here.
• Right: the adjoint's gradient error versus exact backprop. It shrinks roughly like 1/steps: discretization error, as expected for optimize-then-discretize. Interesting: the reversible solver doesn't help in Diffrax's continuous adjoint; plain Heun is slightly better.
• Practical takeaway, which matches Diffrax's own documentation: use checkpointing. The adjoint's O(1) memory matters only when N is huge relative to model and noise size.
IF ASKED — why so slow? Each backward step does VJPs through both drift and diffusion for every noise channel, plus Brownian-tree queries.
IF ASKED — why is the memory constant so large? Not the method: the backward state is only ~110 KB. Most likely Diffrax/XLA materializes per-noise-channel parameter cotangents (512 channels × 12.7k params × 8 bytes ≈ 52 MB, plus temporaries). I measured it scaling with both channels and parameters, consistent with that, but I haven't profiled it buffer by buffer.
IF ASKED — is this a fair benchmark? One model size, CPU, one library. The trend (linear vs flat vs log) is robust; the absolute crossover point depends on hardware and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 – 19:00]  (2 min)
• Li et al. 2020's latent SDE: a VAE whose latent is a whole path.
• Prior SDE: our ripening model, conditioned only on storage. Posterior SDE: same diffusion, different drift that also sees the photos (via an encoder over the sequence). The posterior is what we sample during training.
• ELBO = expected log-likelihood of observed stages at photo times − KL at time 0 − KL between the two SDEs over [0, T].
• Girsanov's theorem gives that path KL as E ∫ ½‖u‖² dt, where u is the drift difference scaled by σ⁻¹. A running cost: just add one more scalar to the state and integrate it in the same solve.
• Gradients of everything flow through the SDE solver: this is where slides 6–12 get used.
IF ASKED — why must σ be shared? Girsanov only changes drift. If σσᵀ differs along the paths, quadratic variation differs, and the two path measures put mass on disjoint sets of paths: KL is infinite. (Two σ's with the same σσᵀ give the same law, so it's σσᵀ that must match.)
IF ASKED — what if σ is singular or noise is low-dimensional? u = σ⁻¹(h_φ − h_θ) needs the drift difference in the range of σ; in practice use diagonal σ with a floor (my repo uses a softplus + minimum).
IF ASKED — how is the posterior drift conditioned on photos? Common choice: a GRU or Transformer runs backward over the encoded photos and produces a context vector at each time; h_φ takes (Z, t, context).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– 20:00]  (60 s) — SKIP-IF-SHORT.
• Same machinery, three losses. Latent SDE: what we use for avocados. SDE-GAN (Kidger et al. ICML 2021): generator is an SDE, discriminator reads whole paths with a neural controlled differential equation; no likelihood needed.
• Calibration: no observed paths at all, only prices. In my repo I fit a neural local-volatility model to option prices generated by Heston, by backpropagating through a Monte Carlo pricer: 0.3 vol points vs 4 for a single flat vol, including strikes it never saw.
• Food analogue of calibration: if all you had were aggregate shelf-life statistics per storage condition (no photos), you'd fit the SDE to match them the same way.
IF ASKED — what's a local-vol model? Under the pricing measure, dS/S = r dt + σ(t, S) dW: volatility as a function of time and price. Dupire showed it can match any arbitrage-free surface of call prices across all strikes and maturities, so the demo tests the gradient pipeline, not the model class. (The demo uses r = 0.)
IF ASKED — the payoff max(S−K, 0) has a kink; does pathwise work? Yes: it's continuous and differentiable almost everywhere, unlike the spoilage indicator. That's exactly the distinction from slide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– 21:30]  (90 s)
• Song et al., ICLR 2021. Fix a simple forward SDE that turns data into Gaussian noise. Anderson (1982): its time reversal is another SDE whose drift needs one unknown, the score ∇ log p_t(x). Learn s_θ ≈ score: the reverse SDE is a neural SDE.
• Probability-flow ODE: a deterministic ODE with the same marginal distributions at every t as the reverse SDE, when s_θ is the true score; with a learned score the two differ somewhat. It's a neural ODE: deterministic sampling and likelihoods via the change-of-variables formula (exact up to solver error, usually estimated with Hutchinson's trace estimator). Flow matching (Lipman 2023) trains such an ODE's velocity directly, and π0 robot policies use it.
• Big difference from our model: training is simulation-free. Denoising score matching only needs x_t sampled in closed form from x_0, so no solver and no adjoint during training. The solver appears only at sampling time.
• Contrast: our avocado latent SDE learns both drift and diffusion and must backprop through the solve.
IF ASKED — why can diffusion avoid the solver? The forward SDE is affine in x with known, time-varying coefficients (the noise schedule β(t)), so p(x_t | x_0) is Gaussian in closed form; the regression target ∇ log p(x_t | x_0) is known.
IF ASKED — could the avocado model be trained simulation-free? Only if the forward dynamics were fixed and analytically tractable. Learning the ripening dynamics is the point, so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[21:30 – 22:30]  (60 s)
TODO (project) — this slide is a placeholder until the code exists. Fill with:
  1. Fan chart: for one held-out fruit per storage condition, the 10/50/90% band of predicted ripeness after its first photo, with the observed stages overlaid.
  2. Calibration: bin predictions of P(τ ≤ t*) and plot against observed fractions; a calibrated model sits on the diagonal.
  3. Table: baselines (per-photo classifier; GRU with time-gap features + discrete hazard head; latent ODE) vs latent SDE; metrics: concordance index (ranking of shelf lives), Brier score at fixed horizons, negative log-likelihood of observed stages.
  4. One-line headline in the takeaway bar.
• Split by fruit, not by photo, so the same avocado never appears in train and test.
• If results aren't ready by the talk: show the schematic fan chart from the backup/repo and say the experiment is in progress; that's acceptable for a reading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[22:30 – 23:15]  (45 s) — SKIP-IF-SHORT.
• Same structure as the avocado everywhere: a hidden state that evolves with randomness, observed sparsely, where the decision depends on the distribution of futures.
• Weather: GenCast samples whole 15-day ensembles with diffusion. Robots: action trajectories by reverse diffusion or flow matching. Finance: volatility models calibrated to option prices. Clinical: irregular vitals on PhysioNet, shown with latent ODEs (Rubanova 2019) and neural CDEs (Kidger 2020); latent SDEs use the same setup with added noise. Food: inventory and markdown decisions.
IF ASKED — GenCast details? DeepMind, Nature 2025: conditional diffusion model producing 0.25° global ensemble forecasts to 15 days; beat ECMWF's ensemble on most targets in their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[23:15 – 24:30]  (75 s) — the critique; 40% of the grade is analysis.
• 1. The continuous adjoint's gradient isn't the gradient of what the forward solver computed. ANODE (Gholami, IJCAI 2019) showed it can be badly wrong on stiff problems; I measured 1e-6–1e-4 here.
• 2. As the model trains, its dynamics stiffen and adaptive solvers take more steps. Finlay et al. regularize kinetic energy and Jacobian norms to keep the dynamics cheap.
• 3. Our main target is a discontinuous expectation; naive pathwise training of P(spoiled) gives zero gradient.
• 4. Identifiability: any invertible reparameterization of the latent space gives the same likelihood, and with sparse observations, fast drift + small noise can look like slow drift + big noise. The ordinal ripeness head anchors one coordinate; the rest is underdetermined. Open problem.
• 5. Domain-specific: the encoder must separate ripening from lighting and camera changes, or the SDE models the wrong thing. That's where my project's vision model matters.
IF ASKED — how would you test identifiability? Fit on synthetic data from a known SDE and check whether recovered drift and diffusion match after aligning latent coordinates; or check parameter stability across random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– 29:30]  (~5 min)
• Q1 (ties slide 10): good answers weigh bias vs variance. Bridge correction is exact per step for locally constant σ and has low variance; score function is unbiased but noisy; a sigmoid needs an ε schedule. A combination is common: smooth early, sharpen later.
• Q2: learning σ gives calibrated uncertainty about the process itself (needed for shelf-life probabilities). Fixing σ, as diffusion does, makes training simulation-free and stable, because σ isn't modeling anything physical there.
• Q3 (ties Prof. Lin's lectures on fluids, traffic, physics): stochastic forcing adds Monte Carlo variance to gradients and needs same-noise replay; for contact-rich systems, noise can actually smooth the loss landscape, like randomized smoothing.
• If the room is quiet: 'Who has used a diffusion model? You've sampled a neural SDE.'
• Close: thank you, questions. Backup slides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— Lagrangian derivation of the adjoint.
• Since ż − f = 0 along solutions, adding ∫ aᵀ(ż − f) dt doesn't change L, for any a(t).
• Differentiate w.r.t. θ: the hard terms are those involving ∂z/∂θ (expensive sensitivities). Integrate by parts to move the time derivative from ∂z/∂θ onto a.
• Pick a(T) = ∂L/∂z(T) and ȧ = −aᵀ ∂f/∂z: all ∂z/∂θ terms vanish, leaving dL/dθ = ∫ aᵀ ∂f/∂θ dt.
• Same as Pontryagin's costate; same as reverse-mode AD taken to the continuous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— Itô vs Stratonovich for the adjoint.
• The ODE adjoint derivation (A1) uses the ordinary product and chain rules. Stratonovich calculus obeys them; Itô doesn't.
• So: write the SDE in Stratonovich form, treat σ ∘ dW as a time-varying input, and the adjoint has the same form with an extra term per noise channel (slide 11).
• Itô → Stratonovich drift: μ_S = μ_I − ½ Σ_j (∂σ_j/∂z) σ_j. Zero when σ doesn't depend on 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— path-space KL via Girsanov.
• Girsanov: if Q has drift h_φ and P has drift h_θ with the same σ, then dQ/dP over paths is exp(∫uᵀdW^P − ½∫‖u‖²dt) with σu = h_φ − h_θ.
• KL(Q‖P) = E_Q[log dQ/dP]. Rewrite W^P in terms of the Q-Brownian motion: the stochastic integral becomes ∫uᵀdW^Q + ∫‖u‖²dt. The Itô integral has zero mean under Q; what's left is E_Q ∫½‖u‖² dt.
• With different σ the measures are mutually singular (different quadratic variation), so KL = ∞.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— solver table.
• Strong order matters for anything pathwise (gradients through specific paths); weak order for expectations like prices or spoilage probabilities.
• For additive noise Euler–Maruyama is strong order 1, because Milstein's correction vanishes.
• '—' means I'm not claiming a weak order for those here; check the references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— Brownian bridge uses.
• Top: conditional on W(u) and W(v), W(s) is Gaussian with linear-interpolation mean and variance (s−u)(v−s)/(v−u). Bisect toward s until the interval is below tolerance.
• Bottom: for a scalar process with locally constant volatility, given endpoints q_k, q_{k+1} below barrier b, the probability the path touched b in between is exp(−2(b−q_k)(b−q_{k+1})/(σ_q²Δt)). σ_q is the volatility of the ripeness score q, not of the latent: σ_q² = ‖∇q(Z_k)ᵀ σ_θ(Z_k)‖² (Itô's lemma). Standard in barrier-option pricing as the Brownian-bridge correction.
• For training: P(τ ≤ t*) ≈ 1 − Π_k (1 − p_k), replacing the 0/1 indicator with smooth per-step survival probabilities: differentiable in the path. It removes the discrete-monitoring bias for the frozen-coefficient (Euler) interpolant; the solver's own weak error remains.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— benchmark details; scripts: experiments/adjoint_tradeoffs.py and adjoint_memory_scaling.py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— references; full links in the reading guide and the repo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5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2A3AE"/>
                </a:solidFill>
              </a:rPr>
              <a:t>CMSC 838B  ·  STUDENT LECTURE  ·  FALL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Backprop Through Continuous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1D5DB"/>
                </a:solidFill>
              </a:rPr>
              <a:t>Neural SDEs: modeling, gradients, and training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2A3AE"/>
                </a:solidFill>
              </a:rPr>
              <a:t>Running example: when will this avocado go bad?</a:t>
            </a:r>
            <a:endParaRPr lang="en-US" sz="1400" dirty="0"/>
          </a:p>
        </p:txBody>
      </p:sp>
      <p:pic>
        <p:nvPicPr>
          <p:cNvPr id="6" name="sde_paths_dark.png" descr="img/sde_paths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2926080"/>
            <a:ext cx="3017520" cy="13030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886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Nishad Wajge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AF"/>
                </a:solidFill>
              </a:rPr>
              <a:t>University of Maryland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RUNNING EXAMPLE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This Avocado Be Overripe by Friday?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Ripeness is a hidden process that drifts and jitters; we only see it through irregular photos.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96112" cy="896112"/>
          </a:xfrm>
          <a:prstGeom prst="roundRect">
            <a:avLst>
              <a:gd name="adj" fmla="val 5102"/>
            </a:avLst>
          </a:prstGeom>
          <a:solidFill>
            <a:srgbClr val="FAFAFA"/>
          </a:solidFill>
          <a:ln w="12700">
            <a:solidFill>
              <a:srgbClr val="9AA3AF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57200" y="1280160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A3AF"/>
                </a:solidFill>
              </a:rPr>
              <a:t>photo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21992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Day 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280160"/>
            <a:ext cx="896112" cy="896112"/>
          </a:xfrm>
          <a:prstGeom prst="roundRect">
            <a:avLst>
              <a:gd name="adj" fmla="val 5102"/>
            </a:avLst>
          </a:prstGeom>
          <a:solidFill>
            <a:srgbClr val="FAFAFA"/>
          </a:solidFill>
          <a:ln w="12700">
            <a:solidFill>
              <a:srgbClr val="9AA3AF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1444752" y="1280160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A3AF"/>
                </a:solidFill>
              </a:rPr>
              <a:t>photo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444752" y="2221992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Day 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32304" y="1280160"/>
            <a:ext cx="896112" cy="896112"/>
          </a:xfrm>
          <a:prstGeom prst="roundRect">
            <a:avLst>
              <a:gd name="adj" fmla="val 5102"/>
            </a:avLst>
          </a:prstGeom>
          <a:solidFill>
            <a:srgbClr val="FAFAFA"/>
          </a:solidFill>
          <a:ln w="12700">
            <a:solidFill>
              <a:srgbClr val="9AA3AF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2432304" y="1280160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A3AF"/>
                </a:solidFill>
              </a:rPr>
              <a:t>photo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432304" y="2221992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Day 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19856" y="1280160"/>
            <a:ext cx="896112" cy="896112"/>
          </a:xfrm>
          <a:prstGeom prst="roundRect">
            <a:avLst>
              <a:gd name="adj" fmla="val 5102"/>
            </a:avLst>
          </a:prstGeom>
          <a:solidFill>
            <a:srgbClr val="FAFAFA"/>
          </a:solidFill>
          <a:ln w="12700">
            <a:solidFill>
              <a:srgbClr val="9AA3AF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419856" y="1280160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A3AF"/>
                </a:solidFill>
              </a:rPr>
              <a:t>photo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2221992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Day 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407408" y="1280160"/>
            <a:ext cx="896112" cy="896112"/>
          </a:xfrm>
          <a:prstGeom prst="roundRect">
            <a:avLst>
              <a:gd name="adj" fmla="val 5102"/>
            </a:avLst>
          </a:prstGeom>
          <a:solidFill>
            <a:srgbClr val="FAFAFA"/>
          </a:solidFill>
          <a:ln w="12700">
            <a:solidFill>
              <a:srgbClr val="9AA3AF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4407408" y="1280160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A3AF"/>
                </a:solidFill>
              </a:rPr>
              <a:t>photo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407408" y="2221992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Day 8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48716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102E"/>
                </a:solidFill>
              </a:rPr>
              <a:t>PLACEHOLDER 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one fruit, photographed daily (swap in dataset images)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834640"/>
            <a:ext cx="4846320" cy="132588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29260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328"/>
                </a:solidFill>
              </a:rPr>
              <a:t>Public data: 'Hass' Avocado Ripening Photographic Dataset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328"/>
                </a:solidFill>
              </a:rPr>
              <a:t>478 avocados · 14,710 images · photographed daily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328"/>
                </a:solidFill>
              </a:rPr>
              <a:t>Stored at 10 °C, 20 °C, or ambient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328"/>
                </a:solidFill>
              </a:rPr>
              <a:t>5-stage ripening index; stage 4 = end of shelf life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B7280"/>
                </a:solidFill>
              </a:rPr>
              <a:t>Mendeley Data, 2024 · doi:10.17632/3xd9n945v8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23560" y="13258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</a:rPr>
              <a:t>Given the photos so far and the storage temperature c:</a:t>
            </a:r>
            <a:endParaRPr lang="en-US" sz="1300" dirty="0"/>
          </a:p>
        </p:txBody>
      </p:sp>
      <p:pic>
        <p:nvPicPr>
          <p:cNvPr id="25" name="v2_query.png" descr="img/v2_qu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901952"/>
            <a:ext cx="3017520" cy="46264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623560" y="2514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τ</a:t>
            </a:r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 = day it first reaches stage 4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23560" y="2834640"/>
            <a:ext cx="3063240" cy="1325880"/>
          </a:xfrm>
          <a:prstGeom prst="roundRect">
            <a:avLst>
              <a:gd name="adj" fmla="val 4828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79008" y="2926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We want a distribution, not a label.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Two fruits that look identical today can spoil days apart: biology and storage add genuine randomness.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RUNNING EXAMPLE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Model Has to Do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Neural SDE = continuous time + real randomness + a drift you can give physical structure.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classifier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Latent neural 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Latent neural SDE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Irregular, missing photo 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Uncertainty over future paths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 on storage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P(spoiled by day t*)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Physics prior on ripening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ROADMAP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Parts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One question throughout: how do we differentiate through a solver, and what changes with noise?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920240" cy="2697480"/>
          </a:xfrm>
          <a:prstGeom prst="roundRect">
            <a:avLst>
              <a:gd name="adj" fmla="val 3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527048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084832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Continuous time and the adjoint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8803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Neural ODEs; three ways to differentiate a solver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60320" y="1325880"/>
            <a:ext cx="1920240" cy="2697480"/>
          </a:xfrm>
          <a:prstGeom prst="roundRect">
            <a:avLst>
              <a:gd name="adj" fmla="val 3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61488" y="1527048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61488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761488" y="2084832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Stochastic calculus you need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761488" y="28803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Itô vs. Stratonovich; a neural SDE for ripening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1325880"/>
            <a:ext cx="1920240" cy="2697480"/>
          </a:xfrm>
          <a:prstGeom prst="roundRect">
            <a:avLst>
              <a:gd name="adj" fmla="val 3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64608" y="1527048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64608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084832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Gradients through randomness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8803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Pathwise vs. score function; the stochastic adjoint; measured costs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66560" y="1325880"/>
            <a:ext cx="1920240" cy="2697480"/>
          </a:xfrm>
          <a:prstGeom prst="roundRect">
            <a:avLst>
              <a:gd name="adj" fmla="val 3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7728" y="1527048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67728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67728" y="2084832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Training and limits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67728" y="28803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Latent-SDE ELBO; diffusion models; results; open problems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1  ·  CONTINUOUS TIME AND THE ADJOINT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Depth: Neural ODEs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A ResNet is Euler's method; a neural ODE hands the stepping to a solver.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618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ResNet block</a:t>
            </a:r>
            <a:endParaRPr lang="en-US" sz="1100" dirty="0"/>
          </a:p>
        </p:txBody>
      </p:sp>
      <p:pic>
        <p:nvPicPr>
          <p:cNvPr id="7" name="eq_resnet.png" descr="img/eq_resn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2111309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93852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</a:rPr>
              <a:t>step size → 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860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Neural ODE</a:t>
            </a:r>
            <a:endParaRPr lang="en-US" sz="1100" dirty="0"/>
          </a:p>
        </p:txBody>
      </p:sp>
      <p:pic>
        <p:nvPicPr>
          <p:cNvPr id="10" name="eq_ode.png" descr="img/eq_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42032"/>
            <a:ext cx="1402521" cy="566928"/>
          </a:xfrm>
          <a:prstGeom prst="rect">
            <a:avLst/>
          </a:prstGeom>
        </p:spPr>
      </p:pic>
      <p:pic>
        <p:nvPicPr>
          <p:cNvPr id="11" name="resnet_vs_ode.png" descr="img/resnet_vs_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214" y="1188720"/>
            <a:ext cx="3146612" cy="20574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57200" y="3310128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0080" y="33832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</a:rPr>
              <a:t>AVOCADO, DETERMINISTIC VERSION</a:t>
            </a:r>
            <a:endParaRPr lang="en-US" sz="1100" dirty="0"/>
          </a:p>
        </p:txBody>
      </p:sp>
      <p:pic>
        <p:nvPicPr>
          <p:cNvPr id="14" name="v2_node_food.png" descr="img/v2_node_foo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57600"/>
            <a:ext cx="2841477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617720" y="340156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Encode the first photo, then roll ripeness forward under storage condition c. No randomness after day 0.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1  ·  CONTINUOUS TIME AND THE ADJOINT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Differentiate a Solver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Three points on a memory / compute / accuracy frontier.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17320"/>
                <a:gridCol w="1600200"/>
                <a:gridCol w="1691640"/>
                <a:gridCol w="1691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(N steps)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compute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Diffrax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Backprop through every 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stored states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 backward pass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for the discrete solve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RecursiveCheckpointAdjoint(checkpoints=N)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Binomial checkpointing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checkpoints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 recomputation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RecursiveCheckpointAdjoint()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adjoint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 in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backward solve, size 2d + 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approximate: re-solve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BacksolveAdjoint()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 = state size,  </a:t>
            </a:r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</a:rPr>
              <a:t>p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 = number of parameters. Discretize-then-differentiate: rows 1–2. Differentiate-then-discretize: row 3.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1  ·  CONTINUOUS TIME AND THE ADJOINT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Adjoint Method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The adjoint is reverse-mode AD in continuous time: each solver stage costs one VJP.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618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Solve backward from T to 0, all three together: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state, recomputed</a:t>
            </a:r>
            <a:endParaRPr lang="en-US" sz="1100" dirty="0"/>
          </a:p>
        </p:txBody>
      </p:sp>
      <p:pic>
        <p:nvPicPr>
          <p:cNvPr id="8" name="v2_aug1.png" descr="img/v2_au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1682496"/>
            <a:ext cx="1240536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adjoint  a = ∂L/∂z(t)</a:t>
            </a:r>
            <a:endParaRPr lang="en-US" sz="1100" dirty="0"/>
          </a:p>
        </p:txBody>
      </p:sp>
      <p:pic>
        <p:nvPicPr>
          <p:cNvPr id="10" name="v2_aug2.png" descr="img/v2_aug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340864"/>
            <a:ext cx="1486907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296265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parameter gradient</a:t>
            </a:r>
            <a:endParaRPr lang="en-US" sz="1100" dirty="0"/>
          </a:p>
        </p:txBody>
      </p:sp>
      <p:pic>
        <p:nvPicPr>
          <p:cNvPr id="12" name="v2_aug3.png" descr="img/v2_aug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999232"/>
            <a:ext cx="3337560" cy="41957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7200" y="3657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</a:rPr>
              <a:t>Start: a(T) = ∂L/∂z(T). Derivation: backup A1.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57150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0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41248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T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806440" y="1691640"/>
            <a:ext cx="2788920" cy="914"/>
          </a:xfrm>
          <a:prstGeom prst="line">
            <a:avLst/>
          </a:prstGeom>
          <a:noFill/>
          <a:ln w="317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7" name="Text 12"/>
          <p:cNvSpPr txBox="1"/>
          <p:nvPr/>
        </p:nvSpPr>
        <p:spPr>
          <a:xfrm>
            <a:off x="5806440" y="1783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</a:rPr>
              <a:t>forward: z(T), keep nothing else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 flipH="1">
            <a:off x="5806440" y="2286000"/>
            <a:ext cx="2788920" cy="914"/>
          </a:xfrm>
          <a:prstGeom prst="line">
            <a:avLst/>
          </a:prstGeom>
          <a:noFill/>
          <a:ln w="3175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5806440" y="2377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</a:rPr>
              <a:t>backward: z, a, a_θ together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669280" y="2834640"/>
            <a:ext cx="3017520" cy="960120"/>
          </a:xfrm>
          <a:prstGeom prst="roundRect">
            <a:avLst>
              <a:gd name="adj" fmla="val 6667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833872" y="290779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aᵀ ∂f/∂z and aᵀ ∂f/∂θ are VJPs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One reverse-mode call of f per solver stage, never the full Jacobian. Same primitive as Lecture 4.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STOCHASTIC CALCULUS YOU NEED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Itô Toolkit in One Slide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Itô is natural for modeling; Stratonovich obeys the ordinary chain rule, which the adjoint needs.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3533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What an SDE means</a:t>
            </a:r>
            <a:endParaRPr lang="en-US" sz="1100" dirty="0"/>
          </a:p>
        </p:txBody>
      </p:sp>
      <p:pic>
        <p:nvPicPr>
          <p:cNvPr id="8" name="v2_ito_def.png" descr="img/v2_ito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73352"/>
            <a:ext cx="3549143" cy="5577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63440" y="1261872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46320" y="13533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Brownian increments</a:t>
            </a:r>
            <a:endParaRPr lang="en-US" sz="1100" dirty="0"/>
          </a:p>
        </p:txBody>
      </p:sp>
      <p:pic>
        <p:nvPicPr>
          <p:cNvPr id="11" name="v2_bm.png" descr="img/v2_b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782943"/>
            <a:ext cx="3657600" cy="28373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57200" y="246888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5603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Itô's lemma: the extra ½ f″σ² term</a:t>
            </a:r>
            <a:endParaRPr lang="en-US" sz="1100" dirty="0"/>
          </a:p>
        </p:txBody>
      </p:sp>
      <p:pic>
        <p:nvPicPr>
          <p:cNvPr id="14" name="v2_itolemma.png" descr="img/v2_itolem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64488"/>
            <a:ext cx="3657600" cy="352951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663440" y="246888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846320" y="25603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</a:rPr>
              <a:t>Itô → Stratonovich drift</a:t>
            </a:r>
            <a:endParaRPr lang="en-US" sz="1100" dirty="0"/>
          </a:p>
        </p:txBody>
      </p:sp>
      <p:pic>
        <p:nvPicPr>
          <p:cNvPr id="17" name="v2_conv.png" descr="img/v2_conv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880360"/>
            <a:ext cx="2913023" cy="6126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57200" y="37307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Euler–Maruyama</a:t>
            </a:r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  Z + μΔt + σ√Δt·ε:  strong order ½, weak order 1.   </a:t>
            </a:r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Milstein</a:t>
            </a:r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: strong order 1.   Full table: backup A4.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RUNNING EXAMPLE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Neural SDE for Ripening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Drift = how fast it ripens; diffusion = how unpredictably; τ = when it crosses stage 4.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43584"/>
            <a:ext cx="1463040" cy="713232"/>
          </a:xfrm>
          <a:prstGeom prst="roundRect">
            <a:avLst>
              <a:gd name="adj" fmla="val 897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2984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Photos x_k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5910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irregular days t_k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38528" y="1600200"/>
            <a:ext cx="182880" cy="91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243584"/>
            <a:ext cx="1463040" cy="713232"/>
          </a:xfrm>
          <a:prstGeom prst="roundRect">
            <a:avLst>
              <a:gd name="adj" fmla="val 897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31136" y="12984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Encoder e_φ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231136" y="15910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CNN / ViT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21024" y="1600200"/>
            <a:ext cx="182880" cy="91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22192" y="1243584"/>
            <a:ext cx="1463040" cy="713232"/>
          </a:xfrm>
          <a:prstGeom prst="roundRect">
            <a:avLst>
              <a:gd name="adj" fmla="val 8974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13632" y="12984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Latent SDE Z_t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15910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storage 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03520" y="1600200"/>
            <a:ext cx="182880" cy="91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504688" y="1243584"/>
            <a:ext cx="1463040" cy="713232"/>
          </a:xfrm>
          <a:prstGeom prst="roundRect">
            <a:avLst>
              <a:gd name="adj" fmla="val 897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96128" y="12984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Ripeness head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596128" y="15910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ordinal, stages 1–5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86016" y="1600200"/>
            <a:ext cx="182880" cy="91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187184" y="1243584"/>
            <a:ext cx="1463040" cy="713232"/>
          </a:xfrm>
          <a:prstGeom prst="roundRect">
            <a:avLst>
              <a:gd name="adj" fmla="val 897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278624" y="12984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Shelf life τ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278624" y="15910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first passage</a:t>
            </a:r>
            <a:endParaRPr lang="en-US" sz="1000" dirty="0"/>
          </a:p>
        </p:txBody>
      </p:sp>
      <p:pic>
        <p:nvPicPr>
          <p:cNvPr id="25" name="v2_ripen.png" descr="img/v2_ri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21408"/>
            <a:ext cx="5299243" cy="38404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457200" y="25786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</a:rPr>
              <a:t>drift: neural rate × temperature prior</a:t>
            </a:r>
            <a:endParaRPr lang="en-US" sz="1100" dirty="0"/>
          </a:p>
        </p:txBody>
      </p:sp>
      <p:pic>
        <p:nvPicPr>
          <p:cNvPr id="27" name="v2_arrh.png" descr="img/v2_arr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34640"/>
            <a:ext cx="3049200" cy="45720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457200" y="33467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Arrhenius scaling: warmer storage → faster ripening.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257860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diffusion: fruit-to-fruit and storage variability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4572000" y="285292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spoilage = first passage of a threshold</a:t>
            </a:r>
            <a:endParaRPr lang="en-US" sz="1100" dirty="0"/>
          </a:p>
        </p:txBody>
      </p:sp>
      <p:pic>
        <p:nvPicPr>
          <p:cNvPr id="31" name="v2_tau.png" descr="img/v2_ta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127248"/>
            <a:ext cx="4114800" cy="323378"/>
          </a:xfrm>
          <a:prstGeom prst="rect">
            <a:avLst/>
          </a:prstGeom>
        </p:spPr>
      </p:pic>
      <p:sp>
        <p:nvSpPr>
          <p:cNvPr id="32" name="placeholder"/>
          <p:cNvSpPr/>
          <p:nvPr/>
        </p:nvSpPr>
        <p:spPr>
          <a:xfrm>
            <a:off x="457200" y="3694176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5875">
            <a:solidFill>
              <a:srgbClr val="9AA3AF"/>
            </a:solidFill>
            <a:prstDash val="dash"/>
          </a:ln>
        </p:spPr>
      </p:sp>
      <p:sp>
        <p:nvSpPr>
          <p:cNvPr id="33" name="placeholder-label"/>
          <p:cNvSpPr txBox="1"/>
          <p:nvPr/>
        </p:nvSpPr>
        <p:spPr>
          <a:xfrm>
            <a:off x="548640" y="3694176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8102E"/>
                </a:solidFill>
              </a:rPr>
              <a:t>PLACEHOLDER</a:t>
            </a:r>
            <a:endParaRPr lang="en-US" sz="9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328"/>
                </a:solidFill>
              </a:rPr>
              <a:t>Encoder choice from my project (e.g. compact geometry-aware vision model) goes here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3  ·  GRADIENTS THROUGH RANDOMNESS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Pathwise vs. Score-Function Gradients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Pathwise gradients are low-variance but blind to discontinuities, and spoilage is one.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435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Pathwise (reparameterization): fix W, differentiate the path</a:t>
            </a:r>
            <a:endParaRPr lang="en-US" sz="1100" dirty="0"/>
          </a:p>
        </p:txBody>
      </p:sp>
      <p:pic>
        <p:nvPicPr>
          <p:cNvPr id="7" name="v2_pathwise.png" descr="img/v2_pathw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4206240" cy="39338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99339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Score function (likelihood ratio): differentiate the density</a:t>
            </a:r>
            <a:endParaRPr lang="en-US" sz="1100" dirty="0"/>
          </a:p>
        </p:txBody>
      </p:sp>
      <p:pic>
        <p:nvPicPr>
          <p:cNvPr id="9" name="v2_score.png" descr="img/v2_sc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67712"/>
            <a:ext cx="4206240" cy="38339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272491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Pathwise: low variance, needs f differentiable. Score function: works for any f, high variance; for SDEs the density ratio comes from Girsanov.</a:t>
            </a:r>
            <a:endParaRPr lang="en-US" sz="1100" dirty="0"/>
          </a:p>
        </p:txBody>
      </p:sp>
      <p:pic>
        <p:nvPicPr>
          <p:cNvPr id="11" name="indicator.png" descr="img/indica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0372" y="1207008"/>
            <a:ext cx="3632375" cy="21945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57200" y="3429000"/>
            <a:ext cx="2606040" cy="749808"/>
          </a:xfrm>
          <a:prstGeom prst="roundRect">
            <a:avLst>
              <a:gd name="adj" fmla="val 853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1792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Smooth surrogate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" y="37673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sigmoid((q − b)/ε): biased, low variance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3246120" y="3429000"/>
            <a:ext cx="2606040" cy="749808"/>
          </a:xfrm>
          <a:prstGeom prst="roundRect">
            <a:avLst>
              <a:gd name="adj" fmla="val 8537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3410712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Brownian-bridge crossing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410712" y="37673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smooth P(cross) per step (backup A5)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035040" y="3429000"/>
            <a:ext cx="2606040" cy="749808"/>
          </a:xfrm>
          <a:prstGeom prst="roundRect">
            <a:avLst>
              <a:gd name="adj" fmla="val 853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99632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Score function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6199632" y="37673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unbiased, high variance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3  ·  GRADIENTS THROUGH RANDOMNESS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Stochastic Adjoint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Same structure as the ODE adjoint, plus a noise term driven by the replayed Brownian path.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4358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Backward from T, Stratonovich (∘), same Brownian path W:</a:t>
            </a:r>
            <a:endParaRPr lang="en-US" sz="1100" dirty="0"/>
          </a:p>
        </p:txBody>
      </p:sp>
      <p:pic>
        <p:nvPicPr>
          <p:cNvPr id="7" name="v2_sadj.png" descr="img/v2_sad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4206240" cy="613963"/>
          </a:xfrm>
          <a:prstGeom prst="rect">
            <a:avLst/>
          </a:prstGeom>
        </p:spPr>
      </p:pic>
      <p:pic>
        <p:nvPicPr>
          <p:cNvPr id="8" name="v2_sadj_th.png" descr="img/v2_sadj_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206240" cy="75636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9809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</a:rPr>
              <a:t>μ = Stratonovich drift (convert Itô first). Li et al. 2020; why: backup A2.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349240" y="1243584"/>
            <a:ext cx="3337560" cy="914400"/>
          </a:xfrm>
          <a:prstGeom prst="roundRect">
            <a:avLst>
              <a:gd name="adj" fmla="val 7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0" y="1353312"/>
            <a:ext cx="310896" cy="31089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897880" y="133502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Replay the same noise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897880" y="160934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Store W (memory again), or regenerate W(s) from a seed with a Brownian tree: O(log 1/ε) per query (backup A5).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349240" y="2267712"/>
            <a:ext cx="3337560" cy="914400"/>
          </a:xfrm>
          <a:prstGeom prst="roundRect">
            <a:avLst>
              <a:gd name="adj" fmla="val 7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0" y="2377440"/>
            <a:ext cx="310896" cy="31089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897880" y="23591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Use Stratonovich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897880" y="2633472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Ordinary chain rule ⇒ the ODE adjoint carries over term by term.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57200" y="329184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33467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Exact version: </a:t>
            </a:r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reversible Heun is algebraically reversible, so a matching discrete adjoint reconstructs the forward states: gradients exact up to floating-point round-off, at O(1) memory (Kidger et al., NeurIPS 2021; in torchsde). </a:t>
            </a:r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Diffrax's BacksolveAdjoint solves the continuous adjoint instead, so it stays approximate.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3  ·  MEASURED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Get the Gradient, Measured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In Diffrax the adjoint is flat in memory but large, ~60× slower, and approximate. Checkpointing wins.</a:t>
            </a:r>
            <a:endParaRPr lang="en-US" sz="1300" dirty="0"/>
          </a:p>
        </p:txBody>
      </p:sp>
      <p:pic>
        <p:nvPicPr>
          <p:cNvPr id="6" name="adjoint_tradeoffs.png" descr="../../assets/adjoint_tradeof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8229600" cy="258052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840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16-dim neural SDE (12.7k params), 32 paths, reversible Heun, Diffrax, CPU. At 512 steps: backprop 10.3 MB / 2.1 s · checkpointing 1.0 MB / 3.0 s · adjoint 154 MB / 137 s. Setup: backup A6. Code: github.com/nishadw/neural-sde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4  ·  TRAINING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Training: the Latent-SDE ELBO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Girsanov turns the path-space KL into a running cost you integrate alongside the state.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435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forecast (sees only storage c)</a:t>
            </a:r>
            <a:endParaRPr lang="en-US" sz="1100" dirty="0"/>
          </a:p>
        </p:txBody>
      </p:sp>
      <p:pic>
        <p:nvPicPr>
          <p:cNvPr id="7" name="v2_prior.png" descr="img/v2_pri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4846320" cy="33781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84708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</a:rPr>
              <a:t>filter (also sees the photos)</a:t>
            </a:r>
            <a:endParaRPr lang="en-US" sz="1100" dirty="0"/>
          </a:p>
        </p:txBody>
      </p:sp>
      <p:pic>
        <p:nvPicPr>
          <p:cNvPr id="9" name="v2_post.png" descr="img/v2_p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4832"/>
            <a:ext cx="4846320" cy="28523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248716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objective</a:t>
            </a:r>
            <a:endParaRPr lang="en-US" sz="1100" dirty="0"/>
          </a:p>
        </p:txBody>
      </p:sp>
      <p:pic>
        <p:nvPicPr>
          <p:cNvPr id="11" name="v2_elbo.png" descr="img/v2_elb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24912"/>
            <a:ext cx="4846320" cy="616629"/>
          </a:xfrm>
          <a:prstGeom prst="rect">
            <a:avLst/>
          </a:prstGeom>
        </p:spPr>
      </p:pic>
      <p:pic>
        <p:nvPicPr>
          <p:cNvPr id="12" name="v2_u.png" descr="img/v2_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10128"/>
            <a:ext cx="118059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57200" y="36758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y_k = ripening stage of photo k; KL₀ = KL between initial-state distributions. Derivation: backup A3.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5577840" y="1243584"/>
            <a:ext cx="3108960" cy="896112"/>
          </a:xfrm>
          <a:prstGeom prst="roundRect">
            <a:avLst>
              <a:gd name="adj" fmla="val 7143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5742432" y="13350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</a:rPr>
              <a:t>Why a shared σ?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742432" y="160934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Different diffusions make the two path measures mutually singular: KL = ∞.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577840" y="2249424"/>
            <a:ext cx="3108960" cy="896112"/>
          </a:xfrm>
          <a:prstGeom prst="roundRect">
            <a:avLst>
              <a:gd name="adj" fmla="val 71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742432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Implementation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5742432" y="261518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Append ∫½‖u‖² dt as an extra state; each solve gives a Monte Carlo estimate of the KL.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577840" y="3255264"/>
            <a:ext cx="3108960" cy="896112"/>
          </a:xfrm>
          <a:prstGeom prst="roundRect">
            <a:avLst>
              <a:gd name="adj" fmla="val 71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742432" y="334670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Forecasting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5742432" y="36210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After the last photo, switch to the prior and sample forward to get P(τ ≤ t*).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4  ·  TRAINING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Solver, Different Loss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The differentiable solver is shared; the loss decides what "fit" means.</a:t>
            </a:r>
            <a:endParaRPr lang="en-US" sz="1300" dirty="0"/>
          </a:p>
        </p:txBody>
      </p:sp>
      <p:pic>
        <p:nvPicPr>
          <p:cNvPr id="6" name="local_vol_calibration.png" descr="../../assets/local_vol_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8229600" cy="19997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200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Calibration demo from the repo: neural local-vol SDE fit to a Heston smile by backprop through Monte Carlo. 0.31 vol pts RMSE (0.26 on held-out strikes) vs 4.21 for flat Black–Scholes.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3611880"/>
            <a:ext cx="2606040" cy="621792"/>
          </a:xfrm>
          <a:prstGeom prst="roundRect">
            <a:avLst>
              <a:gd name="adj" fmla="val 10294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364845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Latent SDE (ELBO)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90448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irregular observations, as in the avocado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3611880"/>
            <a:ext cx="2606040" cy="621792"/>
          </a:xfrm>
          <a:prstGeom prst="roundRect">
            <a:avLst>
              <a:gd name="adj" fmla="val 1029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3280" y="364845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SDE-GAN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390448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match path distributions; neural CDE discriminator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35040" y="3611880"/>
            <a:ext cx="2606040" cy="621792"/>
          </a:xfrm>
          <a:prstGeom prst="roundRect">
            <a:avLst>
              <a:gd name="adj" fmla="val 1029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72200" y="364845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Calibration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390448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match observed prices or statistics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4  ·  THE BRIDGE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Models Are Neural SDEs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A diffusion model is a neural SDE with fixed σ, trained without ever solving it.</a:t>
            </a:r>
            <a:endParaRPr lang="en-US" sz="1300" dirty="0"/>
          </a:p>
        </p:txBody>
      </p:sp>
      <p:pic>
        <p:nvPicPr>
          <p:cNvPr id="6" name="diffusion_paths.png" descr="img/diffusion_pat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61872"/>
            <a:ext cx="4114800" cy="17286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401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Forward SDE turns data into noise; sampling runs it backward.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forward (fixed)</a:t>
            </a:r>
            <a:endParaRPr lang="en-US" sz="1100" dirty="0"/>
          </a:p>
        </p:txBody>
      </p:sp>
      <p:pic>
        <p:nvPicPr>
          <p:cNvPr id="9" name="eq_fwd.png" descr="img/eq_fw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72184"/>
            <a:ext cx="1929305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846320" y="185623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</a:rPr>
              <a:t>reverse (learned score)</a:t>
            </a:r>
            <a:endParaRPr lang="en-US" sz="1100" dirty="0"/>
          </a:p>
        </p:txBody>
      </p:sp>
      <p:pic>
        <p:nvPicPr>
          <p:cNvPr id="11" name="eq_rev.png" descr="img/eq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103120"/>
            <a:ext cx="2903934" cy="2286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46320" y="24871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probability-flow ODE</a:t>
            </a:r>
            <a:endParaRPr lang="en-US" sz="1100" dirty="0"/>
          </a:p>
        </p:txBody>
      </p:sp>
      <p:pic>
        <p:nvPicPr>
          <p:cNvPr id="13" name="eq_pf.png" descr="img/eq_p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34056"/>
            <a:ext cx="2236776" cy="42062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46320" y="33101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</a:rPr>
              <a:t>training: denoising score matching</a:t>
            </a:r>
            <a:endParaRPr lang="en-US" sz="1100" dirty="0"/>
          </a:p>
        </p:txBody>
      </p:sp>
      <p:pic>
        <p:nvPicPr>
          <p:cNvPr id="15" name="v2_dsm.png" descr="img/v2_d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3557016"/>
            <a:ext cx="2700855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57200" y="3749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</a:rPr>
              <a:t>vs. our latent SDE: </a:t>
            </a:r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</a:rPr>
              <a:t>learns μ and σ, trained by backprop through the solver.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RUNNING EXAMPLE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Avocado Shelf Life: Results</a:t>
            </a:r>
            <a:endParaRPr lang="en-US" sz="2600" dirty="0"/>
          </a:p>
        </p:txBody>
      </p:sp>
      <p:sp>
        <p:nvSpPr>
          <p:cNvPr id="4" name="placeholder"/>
          <p:cNvSpPr/>
          <p:nvPr/>
        </p:nvSpPr>
        <p:spPr>
          <a:xfrm>
            <a:off x="457200" y="1261872"/>
            <a:ext cx="4023360" cy="1965960"/>
          </a:xfrm>
          <a:prstGeom prst="roundRect">
            <a:avLst>
              <a:gd name="adj" fmla="val 2791"/>
            </a:avLst>
          </a:prstGeom>
          <a:solidFill>
            <a:srgbClr val="FAFAFA"/>
          </a:solidFill>
          <a:ln w="15875">
            <a:solidFill>
              <a:srgbClr val="9AA3AF"/>
            </a:solidFill>
            <a:prstDash val="dash"/>
          </a:ln>
        </p:spPr>
      </p:sp>
      <p:sp>
        <p:nvSpPr>
          <p:cNvPr id="5" name="placeholder-label"/>
          <p:cNvSpPr txBox="1"/>
          <p:nvPr/>
        </p:nvSpPr>
        <p:spPr>
          <a:xfrm>
            <a:off x="548640" y="1261872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8102E"/>
                </a:solidFill>
              </a:rPr>
              <a:t>PLACEHOLDER</a:t>
            </a:r>
            <a:endParaRPr lang="en-US" sz="9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328"/>
                </a:solidFill>
              </a:rPr>
              <a:t>Forecast fan chart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held-out fruit per storage condition: predicted ripeness band vs. observed stages</a:t>
            </a:r>
            <a:endParaRPr lang="en-US" sz="900" dirty="0"/>
          </a:p>
        </p:txBody>
      </p:sp>
      <p:sp>
        <p:nvSpPr>
          <p:cNvPr id="6" name="placeholder"/>
          <p:cNvSpPr/>
          <p:nvPr/>
        </p:nvSpPr>
        <p:spPr>
          <a:xfrm>
            <a:off x="4663440" y="1261872"/>
            <a:ext cx="4023360" cy="1965960"/>
          </a:xfrm>
          <a:prstGeom prst="roundRect">
            <a:avLst>
              <a:gd name="adj" fmla="val 2791"/>
            </a:avLst>
          </a:prstGeom>
          <a:solidFill>
            <a:srgbClr val="FAFAFA"/>
          </a:solidFill>
          <a:ln w="15875">
            <a:solidFill>
              <a:srgbClr val="9AA3AF"/>
            </a:solidFill>
            <a:prstDash val="dash"/>
          </a:ln>
        </p:spPr>
      </p:sp>
      <p:sp>
        <p:nvSpPr>
          <p:cNvPr id="7" name="placeholder-label"/>
          <p:cNvSpPr txBox="1"/>
          <p:nvPr/>
        </p:nvSpPr>
        <p:spPr>
          <a:xfrm>
            <a:off x="4754880" y="1261872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8102E"/>
                </a:solidFill>
              </a:rPr>
              <a:t>PLACEHOLDER</a:t>
            </a:r>
            <a:endParaRPr lang="en-US" sz="9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328"/>
                </a:solidFill>
              </a:rPr>
              <a:t>Shelf-life calibration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reliability diagram: predicted P(τ ≤ t*) vs. observed frequency</a:t>
            </a:r>
            <a:endParaRPr lang="en-US" sz="900" dirty="0"/>
          </a:p>
        </p:txBody>
      </p:sp>
      <p:sp>
        <p:nvSpPr>
          <p:cNvPr id="8" name="placeholder"/>
          <p:cNvSpPr/>
          <p:nvPr/>
        </p:nvSpPr>
        <p:spPr>
          <a:xfrm>
            <a:off x="457200" y="3364992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AFAFA"/>
          </a:solidFill>
          <a:ln w="15875">
            <a:solidFill>
              <a:srgbClr val="9AA3AF"/>
            </a:solidFill>
            <a:prstDash val="dash"/>
          </a:ln>
        </p:spPr>
      </p:sp>
      <p:sp>
        <p:nvSpPr>
          <p:cNvPr id="9" name="placeholder-label"/>
          <p:cNvSpPr txBox="1"/>
          <p:nvPr/>
        </p:nvSpPr>
        <p:spPr>
          <a:xfrm>
            <a:off x="548640" y="3364992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8102E"/>
                </a:solidFill>
              </a:rPr>
              <a:t>PLACEHOLDER</a:t>
            </a:r>
            <a:endParaRPr lang="en-US" sz="9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328"/>
                </a:solidFill>
              </a:rPr>
              <a:t>Baselines × metrics table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classifier · GRU with time gaps + hazard head · latent ODE · latent SDE  —  C-index, Brier score, NLL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AFAFA"/>
          </a:solidFill>
          <a:ln w="12700">
            <a:solidFill>
              <a:srgbClr val="9AA3AF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102E"/>
                </a:solidFill>
              </a:rPr>
              <a:t>PLACEHOLDER  </a:t>
            </a:r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</a:rPr>
              <a:t>one-line headline result goes here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4  ·  BEYOND PRODUCE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Neural SDEs Show Up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Anywhere the answer is a distribution over trajectories.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2606040" cy="1298448"/>
          </a:xfrm>
          <a:prstGeom prst="roundRect">
            <a:avLst>
              <a:gd name="adj" fmla="val 493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3898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Generative models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190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</a:rPr>
              <a:t>image, audio, video sampling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Song et al., 2021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1261872"/>
            <a:ext cx="2606040" cy="1298448"/>
          </a:xfrm>
          <a:prstGeom prst="roundRect">
            <a:avLst>
              <a:gd name="adj" fmla="val 493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3898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Weather ensembles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7190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</a:rPr>
              <a:t>GenCast: diffusion-sampled forecasts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Price et al., Nature 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261872"/>
            <a:ext cx="2606040" cy="1298448"/>
          </a:xfrm>
          <a:prstGeom prst="roundRect">
            <a:avLst>
              <a:gd name="adj" fmla="val 493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3898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Robot policies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17190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</a:rPr>
              <a:t>Diffusion Policy; π0 flow matching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Chi et al. 2023; Black et al. 2024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24912"/>
            <a:ext cx="2606040" cy="1298448"/>
          </a:xfrm>
          <a:prstGeom prst="roundRect">
            <a:avLst>
              <a:gd name="adj" fmla="val 493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28529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Quant finance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1821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</a:rPr>
              <a:t>calibrated, arbitrage-free market models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675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Gierjatowicz 2022; Cohen 2021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46120" y="2724912"/>
            <a:ext cx="2606040" cy="1298448"/>
          </a:xfrm>
          <a:prstGeom prst="roundRect">
            <a:avLst>
              <a:gd name="adj" fmla="val 493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29000" y="28529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Clinical time series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429000" y="31821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</a:rPr>
              <a:t>sparse, irregular vitals and labs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3675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Rubanova 2019; Kidger 2020 (ODE/CDE)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2724912"/>
            <a:ext cx="2606040" cy="1298448"/>
          </a:xfrm>
          <a:prstGeom prst="roundRect">
            <a:avLst>
              <a:gd name="adj" fmla="val 4930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17920" y="28529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</a:rPr>
              <a:t>Food supply chain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31821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</a:rPr>
              <a:t>shelf-life forecasts for inventory and markdowns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217920" y="3675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this talk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4  ·  LIMITS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Breaks: Open Problems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Constant memory is real; exact, unbiased, identifiable gradients each take extra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43584"/>
            <a:ext cx="8229600" cy="530352"/>
          </a:xfrm>
          <a:prstGeom prst="roundRect">
            <a:avLst>
              <a:gd name="adj" fmla="val 1206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" y="1353312"/>
            <a:ext cx="310896" cy="31089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85216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243584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Adjoint gradients drift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24358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</a:rPr>
              <a:t>backward re-solve ≠ forward path; measured ~1e-5 here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1243584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Gholami 2019; slide 12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847088"/>
            <a:ext cx="8229600" cy="530352"/>
          </a:xfrm>
          <a:prstGeom prst="roundRect">
            <a:avLst>
              <a:gd name="adj" fmla="val 1206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" y="1956816"/>
            <a:ext cx="310896" cy="31089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5216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8470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Stiffness and step counts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1847088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</a:rPr>
              <a:t>learned dynamics stiffen; NFE climbs during training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1847088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Finlay et al., 2020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450592"/>
            <a:ext cx="8229600" cy="530352"/>
          </a:xfrm>
          <a:prstGeom prst="roundRect">
            <a:avLst>
              <a:gd name="adj" fmla="val 1206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5216" y="2560320"/>
            <a:ext cx="310896" cy="31089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5216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4505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Discontinuous objectives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2450592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</a:rPr>
              <a:t>spoilage indicator: pathwise gradient is zero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2450592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slide 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054096"/>
            <a:ext cx="8229600" cy="530352"/>
          </a:xfrm>
          <a:prstGeom prst="roundRect">
            <a:avLst>
              <a:gd name="adj" fmla="val 1206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" y="3163824"/>
            <a:ext cx="310896" cy="31089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85216" y="3163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0540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Identifiability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474720" y="3054096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</a:rPr>
              <a:t>latent scale, drift and diffusion trade off; anchor with the ordinal head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3054096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open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657600"/>
            <a:ext cx="8229600" cy="530352"/>
          </a:xfrm>
          <a:prstGeom prst="roundRect">
            <a:avLst>
              <a:gd name="adj" fmla="val 1206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5216" y="3767328"/>
            <a:ext cx="310896" cy="31089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5216" y="3767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" y="36576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Visual shift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474720" y="365760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</a:rPr>
              <a:t>lighting or camera changes can look like ripening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315200" y="365760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encoder robustness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2A3AE"/>
                </a:solidFill>
              </a:rPr>
              <a:t>DISCUSSION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Questions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Shelf life is a first-passage time. Smooth surrogate, Brownian-bridge correction, or score function: which would you train with, and why?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596896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487168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Diffusion models fix σ; our model learns it. When is learning the noise worth the identifiability trouble?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529584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419856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Which differentiable simulator from this course would you make stochastic, and what would happen to its gradients?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5262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AF"/>
                </a:solidFill>
              </a:rPr>
              <a:t>Code, benchmarks and slides: github.com/nishadw/neural-sde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BACKUP  ·  A1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Deriving the ODE Adjoint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Choose a(t) to cancel every ∂z/∂θ term; what's left is the gradient.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618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1. Add the dynamics as a constraint with multiplier a(t)</a:t>
            </a:r>
            <a:endParaRPr lang="en-US" sz="1100" dirty="0"/>
          </a:p>
        </p:txBody>
      </p:sp>
      <p:pic>
        <p:nvPicPr>
          <p:cNvPr id="7" name="v2_lag.png" descr="img/v2_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3106783" cy="548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1579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2. Differentiate in θ and integrate aᵀ (d/dt)(∂z/∂θ) by parts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41401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Terms in ∂z/∂θ collect into  [ ∂L/∂z(T) − a(T) ]·∂z(T)/∂θ  +  ∫ (ȧ + aᵀ∂f/∂z)·∂z/∂θ dt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529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3. Choose a to make both brackets zero</a:t>
            </a:r>
            <a:endParaRPr lang="en-US" sz="1100" dirty="0"/>
          </a:p>
        </p:txBody>
      </p:sp>
      <p:pic>
        <p:nvPicPr>
          <p:cNvPr id="11" name="v2_lag2.png" descr="img/v2_lag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08960"/>
            <a:ext cx="4265023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37307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The initial-state term ∂z(0)/∂θ is zero when z(0) doesn't depend on θ; otherwise add a(0)ᵀ ∂z(0)/∂θ.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BACKUP  ·  A2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Stratonovich for the Stochastic Adjoint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Stratonovich SDEs behave like ODEs driven by Ẇ, so the ODE adjoint carries over.</a:t>
            </a:r>
            <a:endParaRPr lang="en-US" sz="1300" dirty="0"/>
          </a:p>
        </p:txBody>
      </p:sp>
      <p:pic>
        <p:nvPicPr>
          <p:cNvPr id="6" name="v2_strat_ode.png" descr="img/v2_strat_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856806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965960"/>
            <a:ext cx="4023360" cy="2194560"/>
          </a:xfrm>
          <a:prstGeom prst="roundRect">
            <a:avLst>
              <a:gd name="adj" fmla="val 291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2075688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F2328"/>
                </a:solidFill>
              </a:rPr>
              <a:t>Itô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328"/>
                </a:solidFill>
              </a:rPr>
              <a:t>Left-endpoint integral: a martingale, natural for modeling and for Monte Carlo.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</a:rPr>
              <a:t>Chain rule gains the ½f″σ² term, and time reversal needs extra corrections.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3440" y="1965960"/>
            <a:ext cx="4023360" cy="2194560"/>
          </a:xfrm>
          <a:prstGeom prst="roundRect">
            <a:avLst>
              <a:gd name="adj" fmla="val 2917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46320" y="2075688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8102E"/>
                </a:solidFill>
              </a:rPr>
              <a:t>Stratonovich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328"/>
                </a:solidFill>
              </a:rPr>
              <a:t>Midpoint integral: the ordinary chain rule holds, so dynamics read as an ODE driven by noise (rough-path view).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</a:rPr>
              <a:t>Convert an Itô model with the drift correction from slide 8, then apply the ODE adjoint term by term.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BACKUP  ·  A3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Girsanov and the Path-Space KL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Same σ, different drift: the log density ratio is a stochastic integral plus a running cost.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618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Girsanov: change of drift ⇒ density ratio on paths (σu = h_φ − h_θ)</a:t>
            </a:r>
            <a:endParaRPr lang="en-US" sz="1100" dirty="0"/>
          </a:p>
        </p:txBody>
      </p:sp>
      <p:pic>
        <p:nvPicPr>
          <p:cNvPr id="7" name="v2_girs1.png" descr="img/v2_gir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3386328" cy="60350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2128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Under Q, W^P = W^Q + ∫u dt, and the Itô integral has mean zero:</a:t>
            </a:r>
            <a:endParaRPr lang="en-US" sz="1100" dirty="0"/>
          </a:p>
        </p:txBody>
      </p:sp>
      <p:pic>
        <p:nvPicPr>
          <p:cNvPr id="9" name="v2_girs2.png" descr="img/v2_gir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3484517" cy="6035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2186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Requires: </a:t>
            </a:r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same σσᵀ for prior and posterior; Novikov's condition E_P exp(½∫‖u‖²dt) &lt; ∞ (holds for bounded u).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In code: augment the state with ℓ_t, dℓ = ½‖u‖² dt; ℓ_T is a one-sample Monte Carlo estimate of the KL.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BACKUP  ·  A4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SDE Solvers at a Glance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Pick the solver for the calculus you wrote, and the order for the quantity you need.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61872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25880"/>
                <a:gridCol w="1828800"/>
                <a:gridCol w="1005840"/>
                <a:gridCol w="25146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Converges 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Euler–Maruyama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½ (1 for additive noise)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cheapest; the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Milstein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Itô or Strat.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∂σ; commutative noise in d &gt;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Stratonovich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½ (general noise)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predictor–corrector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Reversible Heun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Stratonovich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½ (general noise)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algebraically reversible ⇒ exact discrete adjoint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SRA1 / ShARK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Stratonovich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1.5, additive noise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order when σ is state-independent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39502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Strong order: pathwise error ~ Δt^order. Weak order: error in E f(Z_T). — = not used here. Sources: Kloeden &amp; Platen (1992); Kidger et al. (2021); Diffrax docs.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BACKUP  ·  A5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Brownian Bridges: Replay and Crossings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One formula does two jobs: regenerate W on demand, and give a smooth crossing probability.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618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Virtual Brownian tree: sample W(s) given its neighbours, recursively</a:t>
            </a:r>
            <a:endParaRPr lang="en-US" sz="1100" dirty="0"/>
          </a:p>
        </p:txBody>
      </p:sp>
      <p:pic>
        <p:nvPicPr>
          <p:cNvPr id="7" name="v2_vbt.png" descr="img/v2_vb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36192"/>
            <a:ext cx="64980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057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Seeds are derived from the interval, so the same query always returns the same W(s): O(1) memory, O(log 1/ε) work.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560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</a:rPr>
              <a:t>Crossing probability between solver steps (σ_q = local volatility of q, frozen over the step)</a:t>
            </a:r>
            <a:endParaRPr lang="en-US" sz="1100" dirty="0"/>
          </a:p>
        </p:txBody>
      </p:sp>
      <p:pic>
        <p:nvPicPr>
          <p:cNvPr id="10" name="v2_bridge.png" descr="img/v2_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34640"/>
            <a:ext cx="5266690" cy="5029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Spoilage estimate: P(τ ≤ t*) ≈ 1 − Π_k (1 − p_k), with p_k = 1 if an endpoint is already ≥ b. Smooth in the endpoints, so pathwise gradients work; drift drops out after conditioning on the endpoints. Here σ_q² = ‖∇q(Z_k)ᵀσ_θ(Z_k)‖².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BACKUP  ·  A6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Setup (Slide 12)</a:t>
            </a:r>
            <a:endParaRPr lang="en-US" sz="26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34256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342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Trend is robust; absolute numbers depend on hardware and model size.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8016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F2328"/>
                </a:solidFill>
              </a:rPr>
              <a:t>Model: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F2328"/>
                </a:solidFill>
              </a:rPr>
              <a:t>16-dim state; drift and diagonal-diffusion MLPs, width 64, depth 2 (12.7k parameters).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F2328"/>
                </a:solidFill>
              </a:rPr>
              <a:t>Batch: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F2328"/>
                </a:solidFill>
              </a:rPr>
              <a:t>32 paths solved as one 512-dim SDE with diagonal noise (one adjoint accumulator).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F2328"/>
                </a:solidFill>
              </a:rPr>
              <a:t>Solver: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F2328"/>
                </a:solidFill>
              </a:rPr>
              <a:t>reversible Heun; Virtual Brownian tree, tolerance 1/4096 (same paths at every resolution); float64; 2-core CPU.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F2328"/>
                </a:solidFill>
              </a:rPr>
              <a:t>Memory: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F2328"/>
                </a:solidFill>
              </a:rPr>
              <a:t>XLA's compiled temporary buffers for the gradient. Error: relative L2 vs. full backprop.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F2328"/>
                </a:solidFill>
              </a:rPr>
              <a:t>Adjoint memory scaling (64 steps):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F2328"/>
                </a:solidFill>
              </a:rPr>
              <a:t>256 → 1,024 noise channels: 62 → 438 MB. 4k → 42k parameters (512 channels): 95 → 389 MB. Backprop ≤ 3 MB throughout. The method needs only 2d + p ≈ 110 KB; the rest is a Diffrax/XLA implementation constant.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BACKUP  ·  A7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Chen et al. Neural Ordinary Differential Equations. NeurIPS 2018.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Rubanova, Chen, Duvenaud. Latent ODEs for Irregularly-Sampled Time Series. NeurIPS 2019.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Li, Wong, Chen, Duvenaud. Scalable Gradients for SDEs. AISTATS 2020.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Kidger et al. Neural SDEs as Infinite-Dimensional GANs. ICML 2021.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Kidger, Foster, Li, Lyons. Efficient and Accurate Gradients for Neural SDEs. NeurIPS 2021.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Kidger. On Neural Differential Equations. PhD thesis, 2022.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Mohamed et al. Monte Carlo Gradient Estimation in ML. JMLR 2020.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Gholami, Keutzer, Biros. ANODE. IJCAI 2019.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8016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Finlay et al. How to Train Your Neural ODE. ICML 2020.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Song et al. Score-Based Generative Modeling through SDEs. ICLR 2021.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Lipman et al. Flow Matching for Generative Modeling. ICLR 2023.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Kloeden &amp; Platen. Numerical Solution of SDEs. Springer 1992.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Särkkä &amp; Solin. Applied Stochastic Differential Equations. CUP 2019.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Griewank &amp; Walther. Revolve: binomial checkpointing. ACM TOMS 2000.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Gierjatowicz et al. Robust Pricing and Hedging via Neural SDEs. J. Comp. Finance 2022.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'Hass' Avocado Ripening Photographic Dataset. Mendeley Data, 2024.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al SDE">
  <a:themeElements>
    <a:clrScheme name="Neural SDE">
      <a:dk1>
        <a:srgbClr val="1F2328"/>
      </a:dk1>
      <a:lt1>
        <a:srgbClr val="FFFFFF"/>
      </a:lt1>
      <a:dk2>
        <a:srgbClr val="6B7280"/>
      </a:dk2>
      <a:lt2>
        <a:srgbClr val="F3F4F6"/>
      </a:lt2>
      <a:accent1>
        <a:srgbClr val="C8102E"/>
      </a:accent1>
      <a:accent2>
        <a:srgbClr val="1F2328"/>
      </a:accent2>
      <a:accent3>
        <a:srgbClr val="9AA3AF"/>
      </a:accent3>
      <a:accent4>
        <a:srgbClr val="E5E7EB"/>
      </a:accent4>
      <a:accent5>
        <a:srgbClr val="FBE9EC"/>
      </a:accent5>
      <a:accent6>
        <a:srgbClr val="374151"/>
      </a:accent6>
      <a:hlink>
        <a:srgbClr val="C8102E"/>
      </a:hlink>
      <a:folHlink>
        <a:srgbClr val="6B7280"/>
      </a:folHlink>
    </a:clrScheme>
    <a:fontScheme name="Neural SD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 Through Continuous Time: Neural SDEs</dc:title>
  <dc:subject>PptxGenJS Presentation</dc:subject>
  <dc:creator>Nishad Wajge</dc:creator>
  <cp:lastModifiedBy>Nishad Wajge</cp:lastModifiedBy>
  <cp:revision>1</cp:revision>
  <dcterms:created xsi:type="dcterms:W3CDTF">2026-10-16T19:13:51Z</dcterms:created>
  <dcterms:modified xsi:type="dcterms:W3CDTF">2026-10-16T19:13:51Z</dcterms:modified>
</cp:coreProperties>
</file>