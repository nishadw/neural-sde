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dcb4a44-cb3c-7d3e-4d8c-d4fc1794653f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Part 1: Differentiating solvers" id="{17866b30-d6d4-de88-eec5-42ae0d086c86}">
          <p14:sldIdLst>
            <p14:sldId id="262"/>
            <p14:sldId id="263"/>
            <p14:sldId id="264"/>
          </p14:sldIdLst>
        </p14:section>
        <p14:section name="Part 2: Stochastic dynamics" id="{0a6187db-55ac-c5a0-ffef-0ade5139d1ee}">
          <p14:sldIdLst>
            <p14:sldId id="265"/>
            <p14:sldId id="266"/>
            <p14:sldId id="267"/>
            <p14:sldId id="268"/>
          </p14:sldIdLst>
        </p14:section>
        <p14:section name="Part 3: Gradients through noise" id="{3a27f9f0-d64c-a863-5001-1652f17dca50}">
          <p14:sldIdLst>
            <p14:sldId id="269"/>
            <p14:sldId id="270"/>
            <p14:sldId id="271"/>
          </p14:sldIdLst>
        </p14:section>
        <p14:section name="Part 4: Training" id="{d9c61fbb-1ca5-48c6-2109-4947a92495e4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Appendix" id="{bc5b354f-fd39-b764-c9d9-9c849cafcccb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 – 0:20]
PLAN: 25:00 total = 20:00 talk + 5:00 discussion. If behind at slide 7 or 19, skip them.
CHECKPOINTS: slide 9 by 6:00 · slide 14 by 12:15 · slide 20 by 18:30 · discussion by 20:00.
Appendix (A1–A10) is not presented; jump there only if asked.
• Hi, I'm Nishad. Today: neural SDEs, and how to take gradients through randomness.
• One running example the whole way: when does an avocado go bad?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[0:20 – 1:10]
• Data: Xavier, Rodrigues and Silva, Foods 2024, open access. 478 Hass avocados photographed daily on both sides until overripe.
• Three groups: 10 °C, 20 °C (both 85% humidity), and room temperature, which drifted between 15.8 and 21.7 °C with humidity not logged.
• Labels: a 5-stage ripening index, refined to 10 stages. End of shelf life is reaching stage 5 (stage 9 on the 10-stage scale).
• Last column: from their fitted slopes, going from stage 1 to 5 takes ~17.6 days at 10 °C, ~8.5 at 20 °C.
• Splits are by fruit, so no avocado appears in both train and test.
IF ASKED — why is the 10-stage index there? Finer resolution; the paper reports it's less accurate exactly (≈60%) but ≈93% within one stage.
IF ASKED — license? The paper is CC BY 3.0; figures are reused with attribution. The dataset is on Mendeley Data (doi:10.17632/3xd9n945v8).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[1:10 – 2:00]
• Their method: a CNN with transfer learning classifies the stage from one photo; a per-group linear regression turns the stage into days left.
• Left: ~78% exact on 5 stages, &gt;99% within one stage. 10 stages: ~60% exact, ~93% within one.
• Right: mean absolute error in shelf life. Even with the TRUE stage label ('true stage' column), error is 1.7 days at 10 °C. So most of the error isn't the classifier; it's the stage → days map.
IF ASKED — the abstract says 88.8%? That's accuracy on the best side of each fruit; the table shows per-picture averages.
IF ASKED — what's 'by sample'? Each fruit has two photos (sides); 'by sample' uses the better/combined side, which improves accuracy because one side can have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 – 2:50]
• Their linear regression, Days Left = α(stage − 5), can be read as a constant-velocity ODE in stage: ds/dt ≈ v with v = 1/|α|.
• Rates: 0.23 stages/day at 10 °C, 0.47 at 20 °C, 0.52 at room temperature. 20 °C ripens ~2× faster than 10 °C, as the paper reports.
• Left plot (their Fig. 6a, T10): the error bars are standard deviations of days left at each stage, often ±2–3 days. A deterministic ODE can't represent that spread; a diffusion term can.
IF ASKED — is that inversion exact? No: regressing days on stage and inverting isn't the same as regressing stage on days (slopes differ by a factor R², ~4% here); stage is ordinal; and their fit is pinned at stage 5. Close enough to read off rates.
IF ASKED — R² ≈ 0.96 looks great; why change it? R² measures fit of the mean; the decision (sell/discount by Friday) needs the distribution around the mean, which R² doesn't 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[2:50 – 3:45]
• Fig. 11, 10 °C group: shelf-life error by stage. Left human labels, right model predictions.
• Average error ≈ 2 days at stages 1–4, tails to ~6 days.
• Part is unavoidable: one label can't tell day 1 of a stage from day 4. That floor, |α|/4, is 65% of the error at 10 °C, 91% at room temperature.
• The rest is what a model must represent as a distribution. It's largest at 10 °C, the longest horizon.
IF ASKED — couldn't this just be label noise? Partly: the 'attributed' labels are human. Separating diffusion (sd ∝ √horizon) from fruit-to-fruit rate variation (sd ∝ horizon) needs the per-stage sds in Fig. 6.
IF ASKED — why |α|/4? The MAE of a uniform distribution of width w about its center is w/4.
IF ASKED — why zero at stage 5? Days left is 0 by definition once the fruit is in stage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[3:45 – 4:20]
• The paper's model uses one image and outputs a point. Rows: what we want.
• A sequence model gets partway. A latent ODE handles irregular time, but has no noise that keeps arriving.
• Latent SDE: all five by construction; its diffusion adds variance that grows like √h along the way.
IF ASKED — can't a latent ODE spread? Yes, via an uncertain initial state or per-fruit rate (sd ∝ horizon), but that collapses as images accumulate.
IF ASKED — 'partial' for the paper on temperature: they fit a separate slope per storage group; that's temperature-dependent but not a function of temperature (can't interpolate to 15 °C).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[4:20 – 5:00] — SKIP-IF-SHORT (most of the room knows this).
• Residual block h + f(h) = one explicit Euler step. Δt → 0 gives dh/dt = f_θ(h, t); the solver chooses the steps.
• Bottom: in the avocado setting, z(0) is an encoding of the first photo, f evolves it under storage condition c. The paper's model is the special case f = constant rate v_g in stage space.
IF ASKED — costs? Each forward pass is a solve; adaptive solvers' step counts (NFE) tend to grow during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[5:00 – 5:55]
• Row 1: treat the solver as code and backprop. Exact gradient of the computed solution; stores every step.
• Row 2: Griewank's binomial checkpointing (revolve): O(log N) checkpoints, O(N log N) recomputation, still exact.
• Row 3: derive the continuous gradient as a backward ODE (next slide) and solve it. Memory independent of N, but the backward re-solve doesn't retrace the forward discrete path, so the gradient is approximate.
IF ASKED — 2d + p? Backward state = z (d), adjoint a (d), running parameter gradient (p).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[5:55 – 7:25] — core slide.
• a(t) = ∂L/∂z(t): sensitivity of the loss to the state at time t. Linear ODE backward from a(T) = ∂L/∂z(T).
• a_θ starts at 0 at T; its value at 0 is dL/dθ.
• z is re-integrated backward rather than stored: source of O(1) memory and of the approximation.
• Both terms are vector–Jacobian products: one reverse-mode call of f per solver stage (Lecture 4's primitive). Never form the Jacobian.
IF ASKED — derivation? Appendix A1 (Lagrange multiplier on ż = f, integrate by parts).
IF ASKED — relation to Pontryagin? a is the costate; the adjoint ODE is the costate equation.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[7:25 – 8:55]
• An SDE is shorthand for the integral equation; the dW integral is Itô (left endpoint).
• Increments are independent N(0, Δt); (dW)² = dt is why stochastic calculus differs.
• Itô's lemma: the extra ½ f″ σ² dt term. Example: d log S picks up −½σ².
• Stratonovich (midpoint) obeys the ordinary chain rule; the drift changes by −½ Σ_j (∂σ_j/∂z) σ_j. Zero when σ doesn't depend on z.
• Orders: Euler–Maruyama strong ½ (paths), weak 1 (expectations).
IF ASKED — strong vs weak? Strong: E|Z_T − Ẑ_T|. Weak: |E f(Z_T) − E f(Ẑ_T)|. Probabilities like P(τ ≤ t*) need weak; pathwise gradients care about strong.
IF ASKED — which does Euler converge to? Euler–Maruyama → Itô; Heun / midpoint → Stratonovich.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[8:55 – 10:15]
• Encode each photo; Z_t evolves as an SDE between photos; an ordinal head maps Z to stage probabilities; shelf life τ is when the ripeness score crosses the stage-4/5 cut.
• Drift: Arrhenius factor κ(c) times a neural rate. E_a activation energy, R gas constant, T in kelvin. Diffusion σ_θ: variability across fruit and storage.
• Ordinal head: cumulative-logit model, P(y ≤ k) = sigmoid(c_k − q(Z)), cut points c_k ordered. b = c_4 defines 'end of shelf life'.
• Bottom: what changes vs the paper. They classify one image and map to a point; we filter all images and output a probability.
IF ASKED — how do you compute P(τ ≤ t*)? Monte Carlo from the filtered posterior at the last photo; count crossings, with a Brownian-bridge correction between steps (A6).
IF ASKED — should σ scale with temperature? If temperature speeds up the whole biological clock, σ ∝ √κ. Slide 13 tests exactly this against the paper's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[10:15 – 11:10]
• Using their per-group slopes: rates 0.228 (10 °C) and 0.473 (20 °C) stages/day. Q10 ≈ 2.07, so Eₐ ≈ 50 kJ/mol, a plausible enzymatic value.
• Predict room temperature (mean 18.7 °C): 2.32 days per stage. Observed: 1.93. Ambient fruit ripened ~20% faster than temperature alone explains; you'd need 21.3 °C, near the top of the recorded range.
• Likely culprits: humidity wasn't controlled in Tamb, and temperature fluctuated. Point: a physics prior gets you most of the way; a learned residual absorbs what it misses. That's why the drift is κ(c) × network.
IF ASKED — is two points enough to fit Arrhenius? It determines Eₐ exactly but gives no check of the functional form; that's why I treat it as a prior, not a law.
IF ASKED — could temperature fluctuation explain it? Rate is convex in T, but with sd 1.2 °C the Jensen effect is under 1%. Not enough for 20%.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[11:10 – 12:15]
• Back-of-envelope: stage drifts at rate v with noise σ. Time to cover distance L is inverse Gaussian: mean L/v, sd √(Lσ²/v³).
• If σ is the same at all temperatures, the T10/T20 error ratio is (v₂₀/v₁₀)^{3/2} ≈ 3.0. If temperature speeds up the whole clock (σ² ∝ v), it's v₂₀/v₁₀ ≈ 2.1.
• Careful: quantization alone also gives 2.07.
• Observed: 2.33. Above quantization, so extra spread at 10 °C. Three numbers can't pin σ(T); it's a shape check, not a fit.
IF ASKED — Tamb is lower than every prediction? Consistent with Tamb being a different regime (uncontrolled humidity, fluctuating temperature), as slide 12 showed.
IF ASKED — why MAE ∝ sd? For a fixed distribution shape, MAE is a constant multiple of sd (0.8 for Gaussian). That assumes small CV; under fixed σ the inverse-Gaussian CV differs 1.44× between T10 and T20, so treat the ratios as rough.
IF ASKED — caveats? MAE of a stage-based estimate, not the sd of τ, and labels are human. Derivation in A4.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[12:15 – 13:45]
• Pathwise: Z_T as a deterministic function of θ and fixed noise W; differentiate inside E. VAE reparameterization trick. Low variance; needs f differentiable.
• Score function: E[f ∇ log p_θ]; any f, high variance.
• Plot: for each fixed noise path, 'spoiled by t*' is a step in θ, derivative zero almost everywhere. The expectation (red) has nonzero slope. Pathwise returns 0: a biased gradient, not a noisy one.
• Table: four estimators. Brownian-bridge crossing probability is the one I'd use: smooth in the endpoints, low variance, exact for frozen coefficients within a step.
IF ASKED — Girsanov ratio? For drift parameters: ∇_θ log p = ∫ (∂_θ(σ⁻¹μ))ᵀ dW. Parameters in σ change quadratic variation → path measures mutually singular in continuous time; on a grid the EM density exists but its estimator's variance blows up as Δt → 0.
IF ASKED — finance analogue? Digital and barrier options: same problem; same fixes (smoothing, likelihood-ratio Greeks, bridge corrections). Mohamed et al. JMLR 2020 for the ML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[13:45 – 15:05]
• Compare slide 9: one extra term per noise channel, aᵀ ∂σ_j/∂z ∘ dW^j.
• Requirement 1: the backward pass must see the same noise. A virtual Brownian tree regenerates W(s) from a seed (A6).
• Requirement 2: Stratonovich form, so the ordinary chain rule holds. Convert an Itô model's drift first, or the gradients are wrong.
• Exact version: reversible Heun with its matching discrete adjoint (Kidger 2021, torchsde). Diffrax's BacksolveAdjoint is approximate.
IF ASKED — conversion formula? μ̃ = μ − ½ Σ_j (∂σ_j/∂z) σ_j. Zero when σ doesn't depend on z.
IF ASKED — why is reversible Heun exact? It's algebraically reversible, so the backward pass recovers the forward states to round-off; pair it with the discrete adjoint of that scheme.
IF ASKED — Itô directly? Possible, but the backward-in-time Itô SDE needs extra correction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[15:05 – 15:45]
DEMO: no time in the talk. If someone asks during discussion, play assets/demo.mp4 (52 s).
• Memory (log scale): backprop linear in steps, checkpointing ~log, adjoint flat but ~150 MB. The method needs only 2d + p ≈ 110 KB; the rest is a Diffrax/XLA implementation constant growing with params and noise channels (A8).
• Time: adjoint ~60× slower.
• Error: adjoint vs backprop falls ~1/steps: discretization error of optimize-then-discretize. Plain Heun slightly better than reversible Heun here: reversibility alone doesn't make the continuous adjoint exact.
• Matches Diffrax's own recommendation: use checkpointing.
IF ASKED — why so large? Most likely per-noise-channel parameter cotangents materialized (512 × 12.7k × 8 B ≈ 52 MB, plus temporaries); measured scaling is consistent, not profiled buffer by buffer.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[15:45 – 17:05]
• Latent SDE (Li et al. 2020): a VAE whose latent is a path.
• Prior: our ripening SDE given only storage. Posterior: same σ, drift also sees the images (e.g., a GRU run backward over encoded photos gives a context per time).
• ELBO: expected log-likelihood of observed stage labels at photo times − KL of initial state − KL between the SDEs.
• Girsanov: path KL = E ∫ ½‖u‖² dt with σu = h_φ − h_θ. Append it as one extra state; each solve gives a Monte Carlo estimate.
• Gradients of all of it flow through the solver: slides 8–16.
IF ASKED — why shared σ? Girsanov changes drift only; different σσᵀ ⇒ different quadratic variation ⇒ mutually singular measures ⇒ KL = ∞.
IF ASKED — forecasting? After the last photo, switch to the prior and sample forward for P(τ ≤ t*).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[17:05 – 18:00]
• Song et al. 2021: a fixed forward SDE turns data into noise. Reversing it needs the score ∇ log p_t; learn it as s_θ. The reverse SDE is a neural SDE.
• Probability-flow ODE: same marginals, deterministic sampling.
• Training is simulation-free: p(x_t | x_0) is Gaussian in closed form. No solver, no adjoint.
• Contrast: our avocado model learns the dynamics, so it must backprop through the solve.
IF ASKED — who showed the reversal? Anderson (1982).
IF ASKED — flow matching? Trains the probability-flow ODE's velocity directly; π0 robot policies use it.
IF ASKED — likelihoods? Change of variables along the ODE, with a Hutchinson trace estimator.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[18:00 – 18:30] — SKIP-IF-SHORT.
• Same pattern as the avocado: hidden state, randomness, sparse observations, decisions on the distribution of futures.
• My repo also has the finance case: a neural local-vol SDE calibrated to a Heston smile by backprop through Monte Carlo (0.31 vol pts RMSE vs 4.21 flat).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[18:30 – 19:30] — analysis portion.
• Adjoint: not the gradient of what the forward solver computed. ANODE showed it can be badly wrong; 1e-4 to 1e-6 here.
• Stiffness: learned dynamics stiffen and solvers slow down; regularize kinetic energy or Jacobian norms.
• Our target is discontinuous: naive pathwise training gives zero gradient.
• Identifiability: fast drift + small noise can mimic slow drift + big noise. Test on synthetic data with a known SDE.
• Paper-specific: surface marks look like ripening, and ambient storage doesn't follow temperature.
IF ASKED — latent reparameterization? Any invertible map of the latent space leaves the likelihood unchanged; the ordinal head anchors the ripeness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[19:30 – 20:00]
• Four things to remember. Read each line once; don't add new material.
• Then: 'Let's open it up. Three questions to start.'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[20:00 – 25:00] — hard stop at 25:00.
~1:30 per question, then close.
• Q1: bias vs variance. Bridge crossing: exact per step for frozen coefficients, low variance. Score function: unbiased, noisy, drift params only. Sigmoid: needs ε annealing.
• Q2: fit the latent SDE with σ_θ(c) free per group, compare to σ ∝ √κ(c) by held-out likelihood; or estimate per-group variance of daily stage increments directly from the label sequences.
• Q3 (Prof. Lin's lectures): stochastic forcing adds Monte Carlo variance and needs same-noise replay; for contact-rich systems noise can smooth the loss landscape (randomized smoothing).
• Close at 25:00: 'Thanks. Code and slides are on GitHub.' Appendix is for questions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A1. Since ż − f = 0 on solutions, adding ∫aᵀ(ż − f)dt leaves L unchanged for any a. Integrate by parts to move d/dt off ∂z/∂θ; choose a to kill those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A2. Rough-path view: σ ∘ dW behaves like an input signal; the ODE adjoint (A1) applies with one extra term per noise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A3. Different σσᵀ ⇒ different quadratic variation ⇒ mutually singular measures ⇒ KL = ∞.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A4. Derivation via the Laplace transform of the hitting time of Brownian motion with drift, or via Wald's identities: E τ = L/v; Var τ = Lσ²/v³.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A5. All inputs from the paper's Table 4 and storage description; computations are mine.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A6. Standard Brownian-bridge (continuity) correction from barrier-option pricing; removes discrete-monitoring bias for the frozen-coefficient interpolant; solver weak error remains.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A7. '—' = not claimed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A8. Scripts: experiments/adjoint_tradeoffs.py, adjoint_memory_scaling.py.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A9. How the model would be scored against the paper; no new experiments are claimed.
• Keep the paper's 70/15/15 by-fruit split; refit α on training fruit only.
• CRPS(F, y) = ∫ (F(t) − 1{y ≤ t})² dt; equals absolute error for a point forecast; proper scoring rule.
• Baseline caveats: unclear whether Table 6 is test-only; 'by sample' keeps the better of two sides.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A10.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50" b="1" spc="150" kern="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_paths.png" descr="img/title_pat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234440"/>
            <a:ext cx="3840480" cy="268833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4173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SDEs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566928" y="2286000"/>
            <a:ext cx="64008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Differentiating through stochastic dynamics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328"/>
                </a:solidFill>
              </a:rPr>
              <a:t>Nishad Wajge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CMSC 838B  ·  University of Maryland  ·  Fall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RUNNING EXAMPLE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Xavier et al. (2024): Daily Images of 478 Avocados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Three storage regimes, daily images, ordinal labels: an irregularly observed latent process.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617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377440"/>
                <a:gridCol w="457200"/>
                <a:gridCol w="10515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1→5 (fit)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°C, 85% RH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°C, 85% RH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15.8–21.7 °C, RH not logged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461772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2057400"/>
                <a:gridCol w="10515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14,722 (2 sides × daily)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5-stage index; 10-stage refinement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70/15/15 by fruit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p_fig2_index.jpg" descr="img/p_fig2_inde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280160"/>
            <a:ext cx="3657600" cy="126004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029200" y="2587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Fig. 2 (cropped): 5- vs. 10-stage index; end of shelf life = entry to stage 5. Xavier, Rodrigues &amp; Silva, Foods 13:1150 (2024), CC BY 3.0.</a:t>
            </a:r>
            <a:endParaRPr lang="en-US" sz="800" dirty="0"/>
          </a:p>
        </p:txBody>
      </p:sp>
      <p:sp>
        <p:nvSpPr>
          <p:cNvPr id="10" name="Text 5"/>
          <p:cNvSpPr txBox="1"/>
          <p:nvPr/>
        </p:nvSpPr>
        <p:spPr>
          <a:xfrm>
            <a:off x="502920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Shelf life:  </a:t>
            </a:r>
            <a:pPr indent="0" marL="0">
              <a:buNone/>
            </a:pPr>
            <a:r>
              <a:rPr lang="en-US" sz="1300" b="1" dirty="0">
                <a:solidFill>
                  <a:srgbClr val="1F2328"/>
                </a:solidFill>
              </a:rPr>
              <a:t>τ = first day at stage 5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40690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Stage-1→5 durations computed from the paper's Table 4 slopes (4 × |α|).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RUNNING EXAMPLE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Pipeline: Classify, Then Map to Days Left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A strong per-image classifier; shelf life is a deterministic read-out of the current stage.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</a:rPr>
              <a:t>Photo x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04288" y="1463040"/>
            <a:ext cx="237744" cy="914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123444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</a:rPr>
              <a:t>CNN (AlexNet / ResNet-18)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07408" y="1463040"/>
            <a:ext cx="237744" cy="914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663440" y="123444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</a:rPr>
              <a:t>Stage ŝ ∈ {1,…,5}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10528" y="1463040"/>
            <a:ext cx="237744" cy="914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66560" y="123444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102E"/>
                </a:solidFill>
              </a:rPr>
              <a:t>Days Left = α_g (ŝ − 5)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19202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Stage accuracy (test, by picture)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76272"/>
          <a:ext cx="39776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594360"/>
                <a:gridCol w="960120"/>
                <a:gridCol w="5943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5-stage exact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10-stage exact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AlexNet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4846320" y="19202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Shelf-life MAE (days, 5-stage)</a:t>
            </a:r>
            <a:endParaRPr lang="en-US" sz="10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176272"/>
          <a:ext cx="3840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457200" y="40690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Tables 3 and 6, Xavier, Rodrigues &amp; Silva, Foods 13:1150 (2024). 'Predicted' = by sample.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RUNNING EXAMPLE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Shelf-Life Model, Read as a Constant-Drift ODE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Regression line = drift; error bars = the spread it leaves out.</a:t>
            </a:r>
            <a:endParaRPr lang="en-US" sz="1250" dirty="0"/>
          </a:p>
        </p:txBody>
      </p:sp>
      <p:pic>
        <p:nvPicPr>
          <p:cNvPr id="6" name="p_fig6a_T10.jpg" descr="img/p_fig6a_T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297680" cy="26989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90448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Fig. 6a (T10, cropped from Fig. 6): mean ± sd days left per stage. Xavier, Rodrigues &amp; Silva, Foods 13:1150 (2024), CC BY 3.0.</a:t>
            </a:r>
            <a:endParaRPr lang="en-US" sz="800" dirty="0"/>
          </a:p>
        </p:txBody>
      </p:sp>
      <p:pic>
        <p:nvPicPr>
          <p:cNvPr id="8" name="v3_drift.png" descr="img/v3_dri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98448"/>
            <a:ext cx="3703320" cy="524364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965960"/>
          <a:ext cx="37033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51560"/>
                <a:gridCol w="1005840"/>
                <a:gridCol w="8229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(d / stage)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= 1/|α|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−4.390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−2.116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−1.929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4983480" y="32004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α: Table 4 of the paper. v in stages / day (derived).</a:t>
            </a:r>
            <a:endParaRPr lang="en-US" sz="800" dirty="0"/>
          </a:p>
        </p:txBody>
      </p:sp>
      <p:sp>
        <p:nvSpPr>
          <p:cNvPr id="11" name="Text 6"/>
          <p:cNvSpPr txBox="1"/>
          <p:nvPr/>
        </p:nvSpPr>
        <p:spPr>
          <a:xfrm>
            <a:off x="4983480" y="3474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Missing:  </a:t>
            </a:r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</a:rPr>
              <a:t>dW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, memory of past images, uncertainty in τ.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RUNNING EXAMPLE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Point Estimate Hides Days of Spread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Quantization explains most error; the excess peaks at 10 °C, the longest horizon.</a:t>
            </a:r>
            <a:endParaRPr lang="en-US" sz="1250" dirty="0"/>
          </a:p>
        </p:txBody>
      </p:sp>
      <p:pic>
        <p:nvPicPr>
          <p:cNvPr id="6" name="p_fig11_T10_kde.jpg" descr="img/p_fig11_T10_k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754880" cy="221339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42900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Fig. 11 (T10, cropped): shelf-life error vs. ripening index; left attributed labels, right predicted. Xavier, Rodrigues &amp; Silva, Foods 13:1150 (2024), CC BY 3.0.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280160"/>
          <a:ext cx="32918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40080"/>
                <a:gridCol w="777240"/>
                <a:gridCol w="548640"/>
                <a:gridCol w="685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|α| (d)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|α|/4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40680" y="25420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MAE in days, attributed labels (Table 6). Floor: uniform position within a stage.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5440680" y="3154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Errors reach </a:t>
            </a:r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</a:rPr>
              <a:t>~6 days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 at stages 1–4 (T10).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RUNNING EXAMPLE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Better Model Needs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Continuous time + intrinsic noise + structured drift → latent neural SDE.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325880"/>
                <a:gridCol w="1280160"/>
                <a:gridCol w="1417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Per-image CNN (paper)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Latent 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Latent SDE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all past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A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Irregular / missing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A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over 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A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Temperature-structured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A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Within-fruit noise (sd ∝ √h)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A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A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A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PART 1  ·  DIFFERENTIATING SOLVERS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ODEs: Continuous-Depth Dynamics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ResNet = explicit Euler; a neural ODE delegates stepping to the solver.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618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residual block</a:t>
            </a:r>
            <a:endParaRPr lang="en-US" sz="1050" dirty="0"/>
          </a:p>
        </p:txBody>
      </p:sp>
      <p:pic>
        <p:nvPicPr>
          <p:cNvPr id="7" name="eq_resnet.png" descr="img/eq_res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99616"/>
            <a:ext cx="2049211" cy="3017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938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</a:rPr>
              <a:t>Δt → 0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2677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neural ODE</a:t>
            </a:r>
            <a:endParaRPr lang="en-US" sz="1050" dirty="0"/>
          </a:p>
        </p:txBody>
      </p:sp>
      <p:pic>
        <p:nvPicPr>
          <p:cNvPr id="10" name="eq_ode.png" descr="img/eq_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05456"/>
            <a:ext cx="1357278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32918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latent version (paper = special case f = v_g)</a:t>
            </a:r>
            <a:endParaRPr lang="en-US" sz="1050" dirty="0"/>
          </a:p>
        </p:txBody>
      </p:sp>
      <p:pic>
        <p:nvPicPr>
          <p:cNvPr id="12" name="v2_node_food.png" descr="img/v2_node_foo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47872"/>
            <a:ext cx="2727818" cy="438912"/>
          </a:xfrm>
          <a:prstGeom prst="rect">
            <a:avLst/>
          </a:prstGeom>
        </p:spPr>
      </p:pic>
      <p:pic>
        <p:nvPicPr>
          <p:cNvPr id="13" name="resnet_vs_ode.png" descr="img/resnet_vs_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188720"/>
            <a:ext cx="4297680" cy="281002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PART 1  ·  DIFFERENTIATING SOLVERS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Differentiate a Solver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Memory, compute and gradient exactness trade off; no method wins all three.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34440"/>
                <a:gridCol w="1600200"/>
                <a:gridCol w="1325880"/>
                <a:gridCol w="23317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(N steps)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compute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Diffrax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Backprop through steps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 backward 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(discrete)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RecursiveCheckpointAdjoint(checkpoints=N)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Binomial checkpointing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(discrete)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RecursiveCheckpointAdjoint()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adjoint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in 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backward solve (2d + 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BacksolveAdjoint()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d = state dim, p = #params. Rows 1–2: discretize-then-differentiate. Row 3: differentiate-then-discretize.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PART 1  ·  DIFFERENTIATING SOLVERS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Adjoint Method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Reverse-mode AD in continuous time: one VJP per solver stage.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618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backward from T → 0 (derivation: A1)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2763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state</a:t>
            </a:r>
            <a:endParaRPr lang="en-US" sz="1050" dirty="0"/>
          </a:p>
        </p:txBody>
      </p:sp>
      <p:pic>
        <p:nvPicPr>
          <p:cNvPr id="8" name="v2_aug1.png" descr="img/v2_au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664208"/>
            <a:ext cx="1240536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57200" y="2286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adjoint a = ∂L/∂z(t)</a:t>
            </a:r>
            <a:endParaRPr lang="en-US" sz="1050" dirty="0"/>
          </a:p>
        </p:txBody>
      </p:sp>
      <p:pic>
        <p:nvPicPr>
          <p:cNvPr id="10" name="v2_aug2.png" descr="img/v2_au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322576"/>
            <a:ext cx="1486907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29443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parameter gradient</a:t>
            </a:r>
            <a:endParaRPr lang="en-US" sz="1050" dirty="0"/>
          </a:p>
        </p:txBody>
      </p:sp>
      <p:pic>
        <p:nvPicPr>
          <p:cNvPr id="12" name="v2_aug3.png" descr="img/v2_aug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980944"/>
            <a:ext cx="3337560" cy="41957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" y="3675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a(T) = ∂L/∂z(T)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5715000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0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8412480" y="1298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806440" y="1691640"/>
            <a:ext cx="2788920" cy="914"/>
          </a:xfrm>
          <a:prstGeom prst="line">
            <a:avLst/>
          </a:prstGeom>
          <a:noFill/>
          <a:ln w="2540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17" name="Text 12"/>
          <p:cNvSpPr txBox="1"/>
          <p:nvPr/>
        </p:nvSpPr>
        <p:spPr>
          <a:xfrm>
            <a:off x="580644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328"/>
                </a:solidFill>
              </a:rPr>
              <a:t>forward: z(T); store nothing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 flipH="1">
            <a:off x="5806440" y="2286000"/>
            <a:ext cx="2788920" cy="914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9" name="Text 14"/>
          <p:cNvSpPr txBox="1"/>
          <p:nvPr/>
        </p:nvSpPr>
        <p:spPr>
          <a:xfrm>
            <a:off x="5806440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</a:rPr>
              <a:t>backward: (z, a, a_θ) jointly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2880360"/>
          <a:ext cx="30175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Primitive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aᵀ ∂f/∂z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VJP of f in 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aᵀ ∂f/∂θ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VJP of f in 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PART 2  ·  STOCHASTIC DYNAMICS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Itô Calculus: What You Need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Itô for modeling; Stratonovich for gradients (ordinary chain rule).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43584"/>
            <a:ext cx="4023360" cy="987552"/>
          </a:xfrm>
          <a:prstGeom prst="roundRect">
            <a:avLst>
              <a:gd name="adj" fmla="val 4630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3167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SDE (integral form)</a:t>
            </a:r>
            <a:endParaRPr lang="en-US" sz="1050" dirty="0"/>
          </a:p>
        </p:txBody>
      </p:sp>
      <p:pic>
        <p:nvPicPr>
          <p:cNvPr id="8" name="v2_ito_def.png" descr="img/v2_ito_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09344"/>
            <a:ext cx="3374595" cy="5303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63440" y="1243584"/>
            <a:ext cx="4023360" cy="987552"/>
          </a:xfrm>
          <a:prstGeom prst="roundRect">
            <a:avLst>
              <a:gd name="adj" fmla="val 4630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28032" y="13167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Brownian increments</a:t>
            </a:r>
            <a:endParaRPr lang="en-US" sz="1050" dirty="0"/>
          </a:p>
        </p:txBody>
      </p:sp>
      <p:pic>
        <p:nvPicPr>
          <p:cNvPr id="11" name="v2_bm.png" descr="img/v2_b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705219"/>
            <a:ext cx="3657600" cy="28373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340864"/>
            <a:ext cx="4023360" cy="987552"/>
          </a:xfrm>
          <a:prstGeom prst="roundRect">
            <a:avLst>
              <a:gd name="adj" fmla="val 4630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1792" y="2414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Itô's lemma</a:t>
            </a:r>
            <a:endParaRPr lang="en-US" sz="1050" dirty="0"/>
          </a:p>
        </p:txBody>
      </p:sp>
      <p:pic>
        <p:nvPicPr>
          <p:cNvPr id="14" name="v2_itolemma.png" descr="img/v2_itolemm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777036"/>
            <a:ext cx="3657600" cy="352951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663440" y="2340864"/>
            <a:ext cx="40233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828032" y="2414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</a:rPr>
              <a:t>Itô → Stratonovich drift</a:t>
            </a:r>
            <a:endParaRPr lang="en-US" sz="1050" dirty="0"/>
          </a:p>
        </p:txBody>
      </p:sp>
      <p:pic>
        <p:nvPicPr>
          <p:cNvPr id="17" name="v2_conv.png" descr="img/v2_con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706624"/>
            <a:ext cx="2782590" cy="585216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02152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822960"/>
                <a:gridCol w="82296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Euler–Maruyama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Milstein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Itô / Strat.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Reversible Heun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2"/>
          <p:cNvSpPr txBox="1"/>
          <p:nvPr/>
        </p:nvSpPr>
        <p:spPr>
          <a:xfrm>
            <a:off x="5760720" y="4023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Full table: A7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PART 2  ·  STOCHASTIC DYNAMICS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Latent Neural SDE for Ripening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Drift = rate (physics prior × network); diffusion = fruit-to-fruit variability; τ = first passage.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271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</a:rPr>
              <a:t>images x(t_k)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536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irregular t_k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38528" y="1536192"/>
            <a:ext cx="182880" cy="914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39696" y="1234440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85416" y="1271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</a:rPr>
              <a:t>encoder e_φ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185416" y="1536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CNN / ViT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21024" y="1536192"/>
            <a:ext cx="182880" cy="914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22192" y="1234440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67912" y="1271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102E"/>
                </a:solidFill>
              </a:rPr>
              <a:t>latent SDE Z_t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867912" y="1536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storage 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0" y="1536192"/>
            <a:ext cx="182880" cy="914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04688" y="1234440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50408" y="1271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</a:rPr>
              <a:t>ordinal head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550408" y="1536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stages 1–5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86016" y="1536192"/>
            <a:ext cx="182880" cy="914"/>
          </a:xfrm>
          <a:prstGeom prst="line">
            <a:avLst/>
          </a:prstGeom>
          <a:noFill/>
          <a:ln w="19050">
            <a:solidFill>
              <a:srgbClr val="1F232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87184" y="1234440"/>
            <a:ext cx="1463040" cy="603504"/>
          </a:xfrm>
          <a:prstGeom prst="roundRect">
            <a:avLst>
              <a:gd name="adj" fmla="val 7576"/>
            </a:avLst>
          </a:prstGeom>
          <a:solidFill>
            <a:srgbClr val="F5F6F7"/>
          </a:solidFill>
          <a:ln w="12700">
            <a:solidFill>
              <a:srgbClr val="F5F6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32904" y="1271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328"/>
                </a:solidFill>
              </a:rPr>
              <a:t>τ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232904" y="1536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first passage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0116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dynamics</a:t>
            </a:r>
            <a:endParaRPr lang="en-US" sz="1050" dirty="0"/>
          </a:p>
        </p:txBody>
      </p:sp>
      <p:pic>
        <p:nvPicPr>
          <p:cNvPr id="26" name="v2_ripen.png" descr="img/v2_ri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40280"/>
            <a:ext cx="4114800" cy="298209"/>
          </a:xfrm>
          <a:prstGeom prst="rect">
            <a:avLst/>
          </a:prstGeom>
        </p:spPr>
      </p:pic>
      <p:pic>
        <p:nvPicPr>
          <p:cNvPr id="27" name="v2_arrh.png" descr="img/v2_arr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94560"/>
            <a:ext cx="2805264" cy="42062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457200" y="2788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observation model</a:t>
            </a:r>
            <a:endParaRPr lang="en-US" sz="1050" dirty="0"/>
          </a:p>
        </p:txBody>
      </p:sp>
      <p:pic>
        <p:nvPicPr>
          <p:cNvPr id="29" name="v3_ord.png" descr="img/v3_o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17520"/>
            <a:ext cx="4114800" cy="25336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4846320" y="2788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target</a:t>
            </a:r>
            <a:endParaRPr lang="en-US" sz="1050" dirty="0"/>
          </a:p>
        </p:txBody>
      </p:sp>
      <p:pic>
        <p:nvPicPr>
          <p:cNvPr id="31" name="v2_tau.png" descr="img/v2_ta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17520"/>
            <a:ext cx="3840480" cy="30182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93008"/>
          <a:ext cx="60350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ŝ from one image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filtered Z_t from all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Left = α_g(ŝ − 5)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P(τ ≤ t* | images up to day k, 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PART 2  ·  CALIBRATING THE PRIOR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Fitting the Drift Prior to the Paper's Rates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Two temperatures pin Eₐ; ambient ripens 20% faster than Arrhenius predicts → learned residual.</a:t>
            </a:r>
            <a:endParaRPr lang="en-US" sz="1250" dirty="0"/>
          </a:p>
        </p:txBody>
      </p:sp>
      <p:pic>
        <p:nvPicPr>
          <p:cNvPr id="6" name="v3_arrhenius.png" descr="img/v3_arrheni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389120" cy="2926080"/>
          </a:xfrm>
          <a:prstGeom prst="rect">
            <a:avLst/>
          </a:prstGeom>
        </p:spPr>
      </p:pic>
      <p:pic>
        <p:nvPicPr>
          <p:cNvPr id="7" name="v3_arrh_fit.png" descr="img/v3_arrh_f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280160"/>
            <a:ext cx="1832295" cy="50292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965960"/>
          <a:ext cx="3566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Q₁₀ = v₂₀ / v₁₀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 kJ/mol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Tamb, predicted (18.7 °C)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2.32 d / 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Tamb, observed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 d / 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implied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120640" y="3794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Rates from the paper's Table 4; fit is ours (A5).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PART 2  ·  A QUICK TEST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Paper's Errors Have a Drift–Diffusion Shape?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Observed 2.33 &gt; 2.07 from quantization alone: extra spread at 10 °C.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6187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first passage of drifted Brownian motion (A4)</a:t>
            </a:r>
            <a:endParaRPr lang="en-US" sz="1050" dirty="0"/>
          </a:p>
        </p:txBody>
      </p:sp>
      <p:pic>
        <p:nvPicPr>
          <p:cNvPr id="7" name="v3_ig_a.png" descr="img/v3_ig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99616"/>
            <a:ext cx="3324497" cy="274320"/>
          </a:xfrm>
          <a:prstGeom prst="rect">
            <a:avLst/>
          </a:prstGeom>
        </p:spPr>
      </p:pic>
      <p:pic>
        <p:nvPicPr>
          <p:cNvPr id="8" name="v3_ig_b.png" descr="img/v3_ig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2460102" cy="329184"/>
          </a:xfrm>
          <a:prstGeom prst="rect">
            <a:avLst/>
          </a:prstGeom>
        </p:spPr>
      </p:pic>
      <p:pic>
        <p:nvPicPr>
          <p:cNvPr id="9" name="v3_ratio.png" descr="img/v3_rat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0"/>
            <a:ext cx="4023360" cy="41151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40690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731520"/>
                <a:gridCol w="731520"/>
                <a:gridCol w="868680"/>
                <a:gridCol w="7772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fixed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σ² ∝ 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quant.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 / T20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 / T20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457200" y="388620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Observed = MAE ratios with attributed labels (paper, Table 6).</a:t>
            </a:r>
            <a:endParaRPr lang="en-US" sz="800" dirty="0"/>
          </a:p>
        </p:txBody>
      </p:sp>
      <p:pic>
        <p:nvPicPr>
          <p:cNvPr id="12" name="v3_fpt_ratio.png" descr="img/v3_fpt_rati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88720"/>
            <a:ext cx="4114800" cy="25717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PART 3  ·  GRADIENTS THROUGH NOISE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Pathwise vs. Score-Function Gradients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Our target, P(τ ≤ t*), is discontinuous pathwise: the reparameterized gradient is zero.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4358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pathwise (reparameterization)</a:t>
            </a:r>
            <a:endParaRPr lang="en-US" sz="1050" dirty="0"/>
          </a:p>
        </p:txBody>
      </p:sp>
      <p:pic>
        <p:nvPicPr>
          <p:cNvPr id="7" name="v2_pathwise.png" descr="img/v2_pathw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4206240" cy="39338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93852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score function (likelihood ratio)</a:t>
            </a:r>
            <a:endParaRPr lang="en-US" sz="1050" dirty="0"/>
          </a:p>
        </p:txBody>
      </p:sp>
      <p:pic>
        <p:nvPicPr>
          <p:cNvPr id="9" name="v2_score.png" descr="img/v2_sco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76272"/>
            <a:ext cx="4206240" cy="383391"/>
          </a:xfrm>
          <a:prstGeom prst="rect">
            <a:avLst/>
          </a:prstGeom>
        </p:spPr>
      </p:pic>
      <p:pic>
        <p:nvPicPr>
          <p:cNvPr id="10" name="indicator.png" descr="img/indic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089" y="1188720"/>
            <a:ext cx="3673503" cy="150876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24912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18872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Estimator for P(τ ≤ t*)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Pathwise on 1{τ ≤ t*}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(∇ = 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 surrogate (ε)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O(ε)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as ε →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ε schedule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Brownian-bridge crossing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per step (A6)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function (Girsanov)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params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PART 3  ·  GRADIENTS THROUGH NOISE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Stochastic Adjoint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ODE adjoint + a noise term driven by the replayed Brownian path.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4358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backward from T, Stratonovich (∘), same W; μ = Stratonovich drift</a:t>
            </a:r>
            <a:endParaRPr lang="en-US" sz="1050" dirty="0"/>
          </a:p>
        </p:txBody>
      </p:sp>
      <p:pic>
        <p:nvPicPr>
          <p:cNvPr id="7" name="v2_sadj.png" descr="img/v2_sad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17904"/>
            <a:ext cx="4206240" cy="613963"/>
          </a:xfrm>
          <a:prstGeom prst="rect">
            <a:avLst/>
          </a:prstGeom>
        </p:spPr>
      </p:pic>
      <p:pic>
        <p:nvPicPr>
          <p:cNvPr id="8" name="v2_sadj_th.png" descr="img/v2_sadj_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4206240" cy="75636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" y="29809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Li, Wong, Chen &amp; Duvenaud, AISTATS 2020. Why Stratonovich: A2.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  <a:gridCol w="28346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W forward and backward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Brownian tree / Brownian Interval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memory, O(log 1/ε) per query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rule must 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Stratonovich form (convert Itô drift)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gradients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reversible Heun + matching discrete adjoint (torchsde)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up to round-off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PART 3  ·  MEASURED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Get the Gradient, Measured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In Diffrax, checkpointing beats the adjoint on memory, time and exactness at this scale.</a:t>
            </a:r>
            <a:endParaRPr lang="en-US" sz="1250" dirty="0"/>
          </a:p>
        </p:txBody>
      </p:sp>
      <p:pic>
        <p:nvPicPr>
          <p:cNvPr id="6" name="adjoint_tradeoffs.png" descr="../../assets/adjoint_tradeoff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833" y="1143000"/>
            <a:ext cx="7290334" cy="228600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93008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  <a:gridCol w="146304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steps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/ grad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Backprop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 MB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MB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 MB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 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rel. err 1.8e-6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760720" y="35478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16-dim neural SDE, 32 paths, reversible Heun, CPU. github.com/nishadw/neural-sde. Setup: A8.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PART 4  ·  TRAINING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Latent-SDE ELBO on the Avocado Data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Girsanov: path-space KL = running cost ∫½‖u‖²dt, integrated with the state.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4358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prior (forecast)</a:t>
            </a:r>
            <a:endParaRPr lang="en-US" sz="1050" dirty="0"/>
          </a:p>
        </p:txBody>
      </p:sp>
      <p:pic>
        <p:nvPicPr>
          <p:cNvPr id="7" name="v2_prior.png" descr="img/v2_pri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754880" cy="33143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18288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</a:rPr>
              <a:t>posterior (filter, sees images)</a:t>
            </a:r>
            <a:endParaRPr lang="en-US" sz="1050" dirty="0"/>
          </a:p>
        </p:txBody>
      </p:sp>
      <p:pic>
        <p:nvPicPr>
          <p:cNvPr id="9" name="v2_post.png" descr="img/v2_p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48256"/>
            <a:ext cx="4754880" cy="27985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24505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objective</a:t>
            </a:r>
            <a:endParaRPr lang="en-US" sz="1050" dirty="0"/>
          </a:p>
        </p:txBody>
      </p:sp>
      <p:pic>
        <p:nvPicPr>
          <p:cNvPr id="11" name="v2_elbo.png" descr="img/v2_elb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88336"/>
            <a:ext cx="4754880" cy="604995"/>
          </a:xfrm>
          <a:prstGeom prst="rect">
            <a:avLst/>
          </a:prstGeom>
        </p:spPr>
      </p:pic>
      <p:pic>
        <p:nvPicPr>
          <p:cNvPr id="12" name="v2_u.png" descr="img/v2_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18688"/>
            <a:ext cx="1138428" cy="24688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57200" y="3566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Li et al. 2020. KL derivation: A3.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280160"/>
          <a:ext cx="3200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ELBO 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Avocado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y_k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label of image 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t_k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 day (irregular)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 / T20 / Tamb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else KL = ∞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PART 4  ·  CONNECTION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 Are Neural SDEs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Diffusion = neural SDE with fixed σ, trained simulation-free; ours learns σ and backprops through the solver.</a:t>
            </a:r>
            <a:endParaRPr lang="en-US" sz="1250" dirty="0"/>
          </a:p>
        </p:txBody>
      </p:sp>
      <p:pic>
        <p:nvPicPr>
          <p:cNvPr id="6" name="diffusion_paths.png" descr="img/diffusion_pat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61872"/>
            <a:ext cx="4114800" cy="17286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846320" y="1225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forward (fixed)</a:t>
            </a:r>
            <a:endParaRPr lang="en-US" sz="1050" dirty="0"/>
          </a:p>
        </p:txBody>
      </p:sp>
      <p:pic>
        <p:nvPicPr>
          <p:cNvPr id="8" name="eq_fwd.png" descr="img/eq_fw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63040"/>
            <a:ext cx="1929305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46320" y="18379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</a:rPr>
              <a:t>reverse (learned score)</a:t>
            </a:r>
            <a:endParaRPr lang="en-US" sz="1050" dirty="0"/>
          </a:p>
        </p:txBody>
      </p:sp>
      <p:pic>
        <p:nvPicPr>
          <p:cNvPr id="10" name="eq_rev.png" descr="img/eq_re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075688"/>
            <a:ext cx="2903934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46320" y="2450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probability-flow ODE</a:t>
            </a:r>
            <a:endParaRPr lang="en-US" sz="1050" dirty="0"/>
          </a:p>
        </p:txBody>
      </p:sp>
      <p:pic>
        <p:nvPicPr>
          <p:cNvPr id="12" name="eq_pf.png" descr="img/eq_p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688336"/>
            <a:ext cx="2236776" cy="42062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846320" y="32552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denoising score matching</a:t>
            </a:r>
            <a:endParaRPr lang="en-US" sz="1050" dirty="0"/>
          </a:p>
        </p:txBody>
      </p:sp>
      <p:pic>
        <p:nvPicPr>
          <p:cNvPr id="14" name="v2_dsm.png" descr="img/v2_ds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493008"/>
            <a:ext cx="2700855" cy="274320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737360"/>
                <a:gridCol w="155448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Latent SDE (avocado)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Diffusion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μ, 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backprop through solver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simulation-free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BEYOND PRODUCE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Structure Elsewhere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Wherever decisions depend on the distribution over trajectories.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2468880"/>
                <a:gridCol w="28346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Latent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Neural SDE 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atmosphere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diffusion sampling of ensembles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et al., Nature 2025 (GenCast)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trajectory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 diffusion / flow matching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et al. 2023; Black et al.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 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price, volatility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calibrated market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Gierjatowicz 2022; Cohen 2021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irregular vitals (ODE/CDE family)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Rubanova 2019; Kidger 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models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/ audio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score-based sampling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Song et al. 2021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LIMITS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Problems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O(1) memory is real; exact, unbiased, identifiable gradients each cost extra.</a:t>
            </a:r>
            <a:endParaRPr lang="en-US" sz="1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474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/ 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Adjoint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backward re-solve ≠ forward 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ANODE (2019); 1e-4–1e-6 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Stiffness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NFE grows during 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kinetic / Jacobian regularization (Finlay 2020)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Discontinuous targets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∇ 1{τ ≤ t*} = 0 pathwise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 crossing, surrogate, score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↔ diffusion trade-off; latent reparam.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 head anchors q; synthetic recovery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confounds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lighting, marks, wind rub look like ripening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paper: per-sample &gt; per-picture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Uncontrolled covariates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 20% faster than Arrhenius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on humidity if logged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SUMMARY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</a:rPr>
              <a:t>Avocados:</a:t>
            </a:r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</a:rPr>
              <a:t> drift explains the mean; the spread needs diffusion.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</a:rPr>
              <a:t>Gradients:</a:t>
            </a:r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</a:rPr>
              <a:t> checkpointing is exact and cheap; the adjoint's O(1) memory costs accuracy.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</a:rPr>
              <a:t>Targets:</a:t>
            </a:r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</a:rPr>
              <a:t> first-passage losses need bridge, surrogate, or score-function gradients.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328"/>
                </a:solidFill>
              </a:rPr>
              <a:t>Training:</a:t>
            </a:r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</a:rPr>
              <a:t> latent-SDE ELBO; the path KL comes from Girsanov.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DISCUSSION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for the Room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371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</a:rPr>
              <a:t>Which estimator for P(τ ≤ t*): surrogate, bridge crossing, or score function?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AA3AF"/>
                </a:solidFill>
              </a:rPr>
              <a:t>2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860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</a:rPr>
              <a:t>Does σ depend on temperature? How would you test it on this data?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546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AA3AF"/>
                </a:solidFill>
              </a:rPr>
              <a:t>3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200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</a:rPr>
              <a:t>Which simulator from this course would you make stochastic? What happens to gradients?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Code, benchmarks, slides: github.com/nishadw/neural-sde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APPENDIX  ·  A1  ·  NOT PRESENTED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Derivation: ODE Adjoint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Choose a(t) to cancel every ∂z/∂θ term; what remains is dL/dθ.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618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1. Lagrangian with multiplier a(t) on ż = f</a:t>
            </a:r>
            <a:endParaRPr lang="en-US" sz="1050" dirty="0"/>
          </a:p>
        </p:txBody>
      </p:sp>
      <p:pic>
        <p:nvPicPr>
          <p:cNvPr id="7" name="v2_lag.png" descr="img/v2_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99616"/>
            <a:ext cx="3106783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21762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2. Differentiate in θ; integrate aᵀ (d/dt)(∂z/∂θ) by parts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41401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328"/>
                </a:solidFill>
              </a:rPr>
              <a:t>∂z/∂θ terms:  [ ∂L/∂z(T) − a(T) ]·∂z(T)/∂θ  +  ∫ (ȧ + aᵀ ∂f/∂z)·∂z/∂θ dt  +  a(0)ᵀ ∂z(0)/∂θ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8529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3. Set both brackets to zero</a:t>
            </a:r>
            <a:endParaRPr lang="en-US" sz="1050" dirty="0"/>
          </a:p>
        </p:txBody>
      </p:sp>
      <p:pic>
        <p:nvPicPr>
          <p:cNvPr id="11" name="v2_lag2.png" descr="img/v2_la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90672"/>
            <a:ext cx="4265023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Add a(0)ᵀ ∂z(0)/∂θ if the initial state depends on θ (e.g., z(0) = e_φ(x₀)).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APPENDIX  ·  A2  ·  NOT PRESENTED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Stratonovich for the Stochastic Adjoint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Stratonovich obeys the ordinary chain rule, so the ODE adjoint carries over.</a:t>
            </a:r>
            <a:endParaRPr lang="en-US" sz="1250" dirty="0"/>
          </a:p>
        </p:txBody>
      </p:sp>
      <p:pic>
        <p:nvPicPr>
          <p:cNvPr id="6" name="v2_strat_ode.png" descr="img/v2_strat_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7856806" cy="411480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659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Stratonovich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integral evaluated 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martingale property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rule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Itô's lemma (+½ f″σ² dt)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reversal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correction terms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conversion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 − ½ Σⱼ (∂σⱼ/∂z) σⱼ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APPENDIX  ·  A3  ·  NOT PRESENTED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Derivation: Path-Space KL via Girsanov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Same σσᵀ, different drift: log dQ/dP = stochastic integral + running cost.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618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Girsanov (σu = h_φ − h_θ)</a:t>
            </a:r>
            <a:endParaRPr lang="en-US" sz="1050" dirty="0"/>
          </a:p>
        </p:txBody>
      </p:sp>
      <p:pic>
        <p:nvPicPr>
          <p:cNvPr id="7" name="v2_girs1.png" descr="img/v2_gir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99616"/>
            <a:ext cx="3386328" cy="60350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224028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Under Q: W^P = W^Q + ∫u dt; the Itô integral has zero mean</a:t>
            </a:r>
            <a:endParaRPr lang="en-US" sz="1050" dirty="0"/>
          </a:p>
        </p:txBody>
      </p:sp>
      <p:pic>
        <p:nvPicPr>
          <p:cNvPr id="9" name="v2_girs2.png" descr="img/v2_gir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78024"/>
            <a:ext cx="3484517" cy="60350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</a:rPr>
              <a:t>Conditions: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same σσᵀ; Novikov: E_P exp(½∫‖u‖²dt) &lt; ∞.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1F2328"/>
                </a:solidFill>
              </a:rPr>
              <a:t>In code: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append dℓ = ½‖u‖² dt to the state; ℓ_T is a one-sample estimate.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APPENDIX  ·  A4  ·  NOT PRESENTED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Derivation: First-Passage Ratios (Slide 13)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Inverse-Gaussian first passage gives sd(τ) ∝ √(Lσ²/v³).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618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density of τ for X = vt + σW, barrier at L &gt; 0</a:t>
            </a:r>
            <a:endParaRPr lang="en-US" sz="1050" dirty="0"/>
          </a:p>
        </p:txBody>
      </p:sp>
      <p:pic>
        <p:nvPicPr>
          <p:cNvPr id="7" name="v3_ig_den.png" descr="img/v3_ig_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99616"/>
            <a:ext cx="3172968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21579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⇒  E τ = L / v,   Var τ = L σ² / v³   (inverse Gaussian, mean L/v, shape L²/σ²)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560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ratios between storage groups at equal distance L</a:t>
            </a:r>
            <a:endParaRPr lang="en-US" sz="1050" dirty="0"/>
          </a:p>
        </p:txBody>
      </p:sp>
      <p:pic>
        <p:nvPicPr>
          <p:cNvPr id="10" name="v3_ratio.png" descr="img/v3_rat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98064"/>
            <a:ext cx="4470076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Rates (Table 4): v₁₀ = 0.228, v₂₀ = 0.473, v_amb = 0.518 stages/day.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Assumes MAE ∝ sd (small CV). Quantization also predicts v₂₀/v₁₀.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Labeling noise ignored.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APPENDIX  ·  A5  ·  NOT PRESENTED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Arrhenius Fit (Slide 12)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Eₐ from two rates; prediction at the ambient mean; implied temperature.</a:t>
            </a:r>
            <a:endParaRPr lang="en-US" sz="12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20624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= 1 / |α|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0.228, 0.473, 0.518 d⁻¹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Q₁₀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v₂₀ / v₁₀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ln Q₁₀ / (1/283.15 − 1/293.15)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 kJ/mol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v_amb predicted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v₂₀ exp[−Eₐ/R (1/291.85 − 1/293.15)]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0.431 d⁻¹ (2.32 d/stage)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v_amb observed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1.929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0.518 d⁻¹ (1.93 d/stage)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implied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 Arrhenius for v = 0.518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Jensen (sd 1.2 °C)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½ (Eₐ/RT²)² σ_T²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 effect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APPENDIX  ·  A6  ·  NOT PRESENTED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Brownian Bridges: Replay and Crossings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One conditional Gaussian regenerates W and gives a smooth crossing probability.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618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virtual Brownian tree: recursive bisection from a seed</a:t>
            </a:r>
            <a:endParaRPr lang="en-US" sz="1050" dirty="0"/>
          </a:p>
        </p:txBody>
      </p:sp>
      <p:pic>
        <p:nvPicPr>
          <p:cNvPr id="7" name="v2_vbt.png" descr="img/v2_vb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99616"/>
            <a:ext cx="64980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21488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crossing probability within a step (σ_q = local vol of q, frozen)</a:t>
            </a:r>
            <a:endParaRPr lang="en-US" sz="1050" dirty="0"/>
          </a:p>
        </p:txBody>
      </p:sp>
      <p:pic>
        <p:nvPicPr>
          <p:cNvPr id="9" name="v2_bridge.png" descr="img/v2_bri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86584"/>
            <a:ext cx="526669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P(τ ≤ t*) ≈ 1 − Π_k (1 − p_k), with p_k = 1 if an endpoint ≥ b.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σ_q² = ‖∇q(Z_k)ᵀ σ_θ(Z_k)‖². Drift cancels after conditioning on endpoints.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APPENDIX  ·  A7  ·  NOT PRESENTED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SDE Solvers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Match solver to your calculus, and order to the quantity you need.</a:t>
            </a:r>
            <a:endParaRPr lang="en-US" sz="12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737360"/>
                <a:gridCol w="100584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Converges 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Euler–Maruyama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½ (1 additive)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Milstein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Itô / Strat.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∂σ; commutative noise if d &gt;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Stratonovich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½ (general)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predictor–corrector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Reversible Heun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Stratonovich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½ (general)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algebraically reversible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SRA1 / ShARK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Stratonovich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(additive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state-independent 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7490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Kloeden &amp; Platen (1992); Kidger et al. (2021); Diffrax docs.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APPENDIX  ·  A8  ·  NOT PRESENTED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Setup (Slide 16)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Trend robust; absolute numbers depend on hardware and size.</a:t>
            </a:r>
            <a:endParaRPr lang="en-US" sz="12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16-dim state; drift + diagonal-diffusion MLPs, width 64, depth 2 (12.7k params)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paths as one 512-dim SDE, diagonal noise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reversible Heun; virtual Brownian tree tol 1/4096; float64; 2-core CPU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XLA compiled temp buffers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Adjoint memory 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→ 1,024 channels: 62 → 438 MB; 4k → 42k params: 95 → 389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Method's own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+ p ≈ 110 KB → rest is implementation constant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APPENDIX  ·  A9  ·  NOT PRESENTED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Protocol (If Asked)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akeaway"/>
          <p:cNvSpPr txBox="1"/>
          <p:nvPr/>
        </p:nvSpPr>
        <p:spPr>
          <a:xfrm>
            <a:off x="457200" y="442569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328"/>
                </a:solidFill>
              </a:rPr>
              <a:t>Same by-fruit split; CRPS and coverage reward a calibrated distribution.</a:t>
            </a:r>
            <a:endParaRPr lang="en-US" sz="12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Shelf-life 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Xavier et al. (CNN + linear)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 latent SDE reports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MAE, T10 / T20 / Tamb (days)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1.82 / 0.75 / 0.54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of 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MAE, all (days)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of 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CRPS of τ, all (days)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 (= MAE for a point)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predictive distribution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interval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(no interval)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be ≈ 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29184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</a:rPr>
              <a:t>Baseline: Table 6 (5-stage, by sample), Xavier, Rodrigues &amp; Silva, Foods 13:1150 (2024).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chemeClr val="tx2"/>
                </a:solidFill>
              </a:rPr>
              <a:t>APPENDIX  ·  A10  ·  NOT PRESENTED</a:t>
            </a:r>
            <a:endParaRPr lang="en-US" sz="9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9377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and Figure Credits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61872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F2328"/>
                </a:solidFill>
              </a:rPr>
              <a:t>Xavier, Rodrigues &amp; Silva. Shelf-life management and ripening assessment of 'Hass' avocado using deep learning. Foods 13(8):1150, 2024. doi:10.3390/foods13081150. CC BY 3.0 (Figs. 1, 2, 6a, 11; Tables 3, 4, 6).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F2328"/>
                </a:solidFill>
              </a:rPr>
              <a:t>'Hass' Avocado Ripening Photographic Dataset. Mendeley Data, 2024. doi:10.17632/3xd9n945v8.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F2328"/>
                </a:solidFill>
              </a:rPr>
              <a:t>Chen et al. Neural ODEs. NeurIPS 2018.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F2328"/>
                </a:solidFill>
              </a:rPr>
              <a:t>Li, Wong, Chen, Duvenaud. Scalable Gradients for SDEs. AISTATS 2020.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F2328"/>
                </a:solidFill>
              </a:rPr>
              <a:t>Kidger, Foster, Li, Lyons. Efficient and Accurate Gradients for Neural SDEs. NeurIPS 2021.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F2328"/>
                </a:solidFill>
              </a:rPr>
              <a:t>Kidger. On Neural Differential Equations. PhD thesis, 2022.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261872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F2328"/>
                </a:solidFill>
              </a:rPr>
              <a:t>Mohamed et al. Monte Carlo Gradient Estimation in ML. JMLR 2020.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F2328"/>
                </a:solidFill>
              </a:rPr>
              <a:t>Gholami, Keutzer, Biros. ANODE. IJCAI 2019.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F2328"/>
                </a:solidFill>
              </a:rPr>
              <a:t>Finlay et al. How to Train Your Neural ODE. ICML 2020.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F2328"/>
                </a:solidFill>
              </a:rPr>
              <a:t>Song et al. Score-Based Generative Modeling through SDEs. ICLR 2021.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F2328"/>
                </a:solidFill>
              </a:rPr>
              <a:t>Kloeden &amp; Platen. Numerical Solution of SDEs. 1992.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F2328"/>
                </a:solidFill>
              </a:rPr>
              <a:t>Särkkä &amp; Solin. Applied SDEs. CUP 2019.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F2328"/>
                </a:solidFill>
              </a:rPr>
              <a:t>Griewank &amp; Walther. Revolve. ACM TOMS 2000.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1F2328"/>
                </a:solidFill>
              </a:rPr>
              <a:t>Rubanova et al. 2019; Kidger et al. 2020 (CDEs); Price et al. 2025; Chi et al. 2023; Black et al. 2024; Gierjatowicz et al. 2022.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ral SDE">
  <a:themeElements>
    <a:clrScheme name="Neural SDE">
      <a:dk1>
        <a:srgbClr val="1F2328"/>
      </a:dk1>
      <a:lt1>
        <a:srgbClr val="FFFFFF"/>
      </a:lt1>
      <a:dk2>
        <a:srgbClr val="6B7280"/>
      </a:dk2>
      <a:lt2>
        <a:srgbClr val="F5F6F7"/>
      </a:lt2>
      <a:accent1>
        <a:srgbClr val="C8102E"/>
      </a:accent1>
      <a:accent2>
        <a:srgbClr val="1F2328"/>
      </a:accent2>
      <a:accent3>
        <a:srgbClr val="9AA3AF"/>
      </a:accent3>
      <a:accent4>
        <a:srgbClr val="E5E7EB"/>
      </a:accent4>
      <a:accent5>
        <a:srgbClr val="F5F6F7"/>
      </a:accent5>
      <a:accent6>
        <a:srgbClr val="374151"/>
      </a:accent6>
      <a:hlink>
        <a:srgbClr val="C8102E"/>
      </a:hlink>
      <a:folHlink>
        <a:srgbClr val="6B7280"/>
      </a:folHlink>
    </a:clrScheme>
    <a:fontScheme name="Neural SD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SDEs: Differentiating Through Stochastic Dynamics</dc:title>
  <dc:subject>PptxGenJS Presentation</dc:subject>
  <dc:creator>Nishad Wajge</dc:creator>
  <cp:lastModifiedBy>Nishad Wajge</cp:lastModifiedBy>
  <cp:revision>1</cp:revision>
  <dcterms:created xsi:type="dcterms:W3CDTF">2026-10-21T20:06:42Z</dcterms:created>
  <dcterms:modified xsi:type="dcterms:W3CDTF">2026-10-21T20:06:42Z</dcterms:modified>
</cp:coreProperties>
</file>