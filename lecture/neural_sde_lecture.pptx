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d105446-0efa-c221-a80f-f4f462caf418}">
          <p14:sldIdLst>
            <p14:sldId id="256"/>
            <p14:sldId id="257"/>
          </p14:sldIdLst>
        </p14:section>
        <p14:section name="Part 1: Neural ODEs" id="{5f2089aa-7c3c-782b-aeaa-fcae51a1712f}">
          <p14:sldIdLst>
            <p14:sldId id="258"/>
            <p14:sldId id="259"/>
            <p14:sldId id="260"/>
            <p14:sldId id="261"/>
          </p14:sldIdLst>
        </p14:section>
        <p14:section name="Part 2: Neural SDEs" id="{c1e8b04a-6126-3521-99de-304cc2e11e27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rt 3: The Bridge" id="{12c01dea-29c7-8954-74fa-1d54c42399a0}">
          <p14:sldIdLst>
            <p14:sldId id="268"/>
          </p14:sldIdLst>
        </p14:section>
        <p14:section name="Part 4: Use and Limits" id="{300d429c-9071-a06e-ba10-dc2ae7ca0650}">
          <p14:sldIdLst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 (30 s)
TIMING PLAN: ~20 min talk + ~5 min discussion. If running long, compress slide 11 (code) and slide 12 (training objectives).
• Nishad. Today: how to take a gradient through a differential equation solver.
• First deterministic (neural ODEs), then random (neural SDEs).
• End: why every diffusion model you've used is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1:00]  (30 s)
• Four parts.
• One: a ResNet is secretly a differential equation.
• Two: how to backprop through it without storing every step.
• Three: add noise. What changes, what breaks.
• Four: diffusion models, real applications, where it fails.
• One question the whole way: how do we get the gradient?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– 2:30]  (90 s)
• Start with something everyone knows: a residual block. h next = h plus f of h.
• That is exactly one step of Euler's method, step size 1.
• Black dots: the ResNet. Each block is one step.
• Shrink the step to zero: you get the red curve. dh/dt = f.
• So: instead of stacking layers, let a network define the velocity, and let a solver do the stepping.
• Chen et al., NeurIPS 2018. Best paper. That's a neural 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– 3:30]  (60 s)
• Formally: final state = start + integral of the network over time.
• f is any network. The solver is any solver: Euler, RK4, adaptive Dopri5.
• Forward pass = one call to ODESolve.
• Training needs dL/dθ. The solver sits between θ and the loss.
• So: how do you differentiate a solver? Two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– 5:00]  (90 s)
• Option one, left: treat the solver as ordinary code. Autodiff through every step.
  – Exact gradient of what the solver computed.
  – Memory grows with the number of steps. 1,000 adaptive steps = 1,000 activations saved.
• Option two, right: write the gradient itself as an ODE, solve it backward. The adjoint method.
  – Constant memory. Nothing stored from the forward pass.
  – But you re-solve the trajectory backward, so the gradient picks up solver error.
• Memory versus accuracy. Keep that in mind; it comes back with noise, and again in the critique.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7:30]  (2.5 min) — the core slide; go slowly.
• a(t): how much the loss cares about the state at time t. The continuous version of backprop's "delta."
• It obeys its own ODE, run from T back to 0. Second line.
• As it flows back, it collects the parameter gradient. Third line.
• Right side: forward pass solves for z(T). Backward pass solves three things together, in reverse time: the state again, the adjoint, the gradient.
• Key link to this course: aᵀ ∂f/∂z is a vector-Jacobian product. That's one reverse-mode call. Never form the Jacobian.
• Memory is constant because z is recomputed backward, not stored.
• Catch, previewed: recomputing z backward is a fresh solve. On hard dynamics it doesn't retrace the forward path exactly.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 (60 s)
• Left: same start, same model, always the same path.
• Right: same drift, plus noise. Forty runs, forty paths. Red is one sample.
• Real systems look like the right: asset prices, weather, molecules, a robot hand slipping on contact.
• For those, the right output is a distribution over futures, not one future.
• That's what an SDE gives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10:00]  (90 s)
• Two networks now.
• Drift μ: the deterministic part. Exactly the neural ODE from before.
• Diffusion σ: scales the noise. dW is Brownian motion: tiny independent Gaussian kicks.
• To simulate: Euler step, plus σ times √Δt times a fresh Gaussian.
• Why √Δt and not Δt: Brownian variance grows linearly in time, so the std grows like √t. Get this wrong and the noise vanishes as you refine the grid.
• Set σ = 0: you're back to a neural 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– 11:00]  (60 s)
• How do you differentiate something random?
• Draw the noise first. Now the solve is deterministic in θ.
• Backprop along that one path. Average over a batch of paths: unbiased gradient of the expected loss.
• This is the reparameterization trick from VAEs: x = μ + σε. Same idea, continuous time.
• Discretize-then-differentiate works out of the box. The adjoint is where it gets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13:00]  (2 min)
• Li et al., AISTATS 2020, extended the adjoint to SDEs. Two catches.
• Catch 1: the backward solve must see the same noise the forward pass saw. Different noise = gradient of a different path.
  – Storing the whole path costs memory: what we wanted to avoid.
  – Li: a "virtual Brownian tree" regenerates any W(t) from a seed. Kidger 2021: the Brownian Interval, faster.
• Catch 2: for SDEs the adjoint is cleanest in Stratonovich calculus. Itô SDEs (what most people write) need a drift correction first. Mix them up and the gradient is silently wrong.
• Fix, Kidger et al., NeurIPS 2021: reversible Heun plus a matching discrete adjoint. The solver is algebraically reversible, so the backward pass reconstructs the forward states exactly: exact solver gradients with O(1) memory.
• Caveat I found while testing: that exact scheme is in torchsde. Diffrax's BacksolveAdjoint solves the continuous adjoint instead, so even with reversible Heun its gradient is approximate. Diffrax's own docs recommend checkpointing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 – 14:00]  (60 s)
• Diffrax, Kidger's JAX library. Everything from the last slide, in code.
• Line 2: the Brownian path, regenerated from a key. Catch 1.
• Lines 3–4: drift and diffusion as one term.
• Line 5: reversible Heun. Line 7: BacksolveAdjoint, the O(1)-memory adjoint.
• Last line: plain jax.grad. The adjoint is invisible to the user.
• I ran it (repo: github.com/nishadw/neural-sde). Adjoint gradients match full backprop to ~1e-5 relative error, and the error falls as the step count rises: it's discretisation error, because this is optimise-then-discretise.
• Gotcha I hit: parameters must go through args=, not a closure, or the custom adjoint can't see them.
• drift and diffusion have signature (t, z, params); diffusion returns a d×d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– 15:30]  (90 s)
• You can backprop through the solver. Through what loss?
• 1. Latent SDE (Li 2020): a VAE whose latent is a path. Prior SDE and posterior SDE; the KL between them has a closed form when they share σ. Good for sparse, irregular time series.
• 2. SDE-GAN (Kidger 2021): the SDE is the generator; the discriminator reads whole paths with a neural CDE. Matches path distributions without a likelihood.
• 3. Calibration (Gierjatowicz 2020): no data paths at all. Tune the SDE until model option prices match market prices. Standard quant workflow, now with neural drift and vol.
• Same gradient machinery in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– 17:30]  (2 min) — the payoff slide.
• Left: real simulation. Data has two clusters. A fixed forward SDE adds noise until it's a plain Gaussian.
• Song et al., ICLR 2021: run that SDE backward and you get data back. The reverse SDE needs one unknown: the score, gradient of log density.
• Train a network s_θ to predict it. That network is the neural part. The reverse SDE is a neural SDE with fixed σ = g(t).
• Third line: same marginals with no noise at all. The probability-flow ODE. That's a neural ODE; it gives exact likelihoods and deterministic sampling (DDIM-style).
• Flow matching (Lipman 2023) trains that ODE's velocity directly. π0 robot policies use it.
• Nuance if asked: diffusion models are TRAINED without solving the SDE (score matching is simulation-free). The solver only runs at sampling time. Li/Kidger-style neural SDEs backprop through the solve; diffusion models don't need to.
• So the math from the first half is the engine of modern generative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 – 19:00]  (90 s)
• Generative models: the reverse SDE from the last slide. Image, audio and video diffusion.
• Weather: DeepMind's GenCast (Nature 2025) samples whole ensembles of 15-day forecasts with diffusion. Better calibrated tail risk than a single deterministic forecast.
• Robots (highlighted, closest to this course's physical-intelligence theme): Diffusion Policy samples action trajectories by reverse diffusion; π0 uses flow matching, the ODE version.
• Quant: calibrate neural stochastic-volatility models to option prices, and get robust price bounds (Gierjatowicz). Cohen et al. build arbitrage-free market simulators.
• Irregular time series: latent SDEs handle missing, uneven observations natively.
• Uncertainty: Xu et al. put an SDE on the weights. An infinitely deep Bayesian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– 20:00]  (60 s) — the critique; this is the "analysis" part of the grade.
• 1. The original adjoint can return wrong gradients: re-solving backward on stiff or chaotic dynamics doesn't land on the forward path (Gholami, ANODE, IJCAI 2019). Fixes: checkpointing, or reversible solvers.
• 2. As the model trains, its dynamics get harder, and adaptive solvers take more and more steps. Finlay et al. regularize the dynamics to keep them cheap.
• 3. My own benchmark (Diffrax, 16-dim state, 32 paths): adjoint memory is flat in the step count, as promised, but sits at ~150 MB, growing with parameter count and noise channels; backprop needed under 3 MB at 128 steps. It was also ~60× slower (137 s vs 2.1 s per gradient at 512 steps). Recursive checkpointing was the practical winner: about 1 MB even at 512 steps, within 1.5× of backprop's speed, exact gradients. Plus, noise isn't free: the Brownian path must be stored or regenerated.
• 4. SDE-GANs are GANs: unstable without Lipschitz constraints. And Itô vs. Stratonovich mistakes give gradients that look fine and are wrong.
• Bottom line: the O(1)-memory promise holds; "exact" depends on the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– 25:00]  (~5 min) — open the floor.
• Q1 (warm-up, everyone has a project): push for concrete numbers. Long horizons and big states favor the adjoint; chaotic or contact-rich dynamics favor checkpointed backprop.
• Q2: learning σ buys calibrated uncertainty and a real noise model; fixing it buys a simple regression loss and stable training. Diffusion chose stability.
• Q3 (ties to Lin's lectures on fluids, traffic, physics): stochastic forcing adds variance to gradients and needs the same-noise replay. Contact already makes gradients noisy; would adding SDE noise smooth them (like randomized smoothing) or hurt?
• If quiet: "Who has used a diffusion model? You've solved a neural SDE."
• Thank you.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slide. Not presented; here for the posted copy of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A3AE"/>
                </a:solidFill>
              </a:rPr>
              <a:t>CMSC 838B  ·  STUDENT LECTURE  ·  FALL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 Through Continuous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1D5DB"/>
                </a:solidFill>
              </a:rPr>
              <a:t>Neural ODEs, neural SDEs, and the diffusion models built on them</a:t>
            </a:r>
            <a:endParaRPr lang="en-US" sz="1800" dirty="0"/>
          </a:p>
        </p:txBody>
      </p:sp>
      <p:pic>
        <p:nvPicPr>
          <p:cNvPr id="5" name="sde_paths_dark.png" descr="img/sde_path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2880360"/>
            <a:ext cx="3017520" cy="13030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Nishad Wajge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</a:rPr>
              <a:t>University of Maryland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Parts, One Question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The question all the way through: how do we backprop through a solver?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Continuous depth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Neural ODEs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8892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88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Gradients without memory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adjoint method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204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Add noise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Neural SDEs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76656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Use and limits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Diffusion, applications, critique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ResNet Is Euler's Method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Shrink the step and a deep network becomes a differential equation.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ResNet block</a:t>
            </a:r>
            <a:endParaRPr lang="en-US" sz="1200" dirty="0"/>
          </a:p>
        </p:txBody>
      </p:sp>
      <p:pic>
        <p:nvPicPr>
          <p:cNvPr id="7" name="eq_resnet.png" descr="img/eq_res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2359698" cy="3474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step size → 0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5840" y="2697480"/>
            <a:ext cx="914" cy="32004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457200" y="3108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Neural ODE</a:t>
            </a:r>
            <a:endParaRPr lang="en-US" sz="1200" dirty="0"/>
          </a:p>
        </p:txBody>
      </p:sp>
      <p:pic>
        <p:nvPicPr>
          <p:cNvPr id="11" name="eq_ode.png" descr="img/eq_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1538248" cy="621792"/>
          </a:xfrm>
          <a:prstGeom prst="rect">
            <a:avLst/>
          </a:prstGeom>
        </p:spPr>
      </p:pic>
      <p:pic>
        <p:nvPicPr>
          <p:cNvPr id="12" name="resnet_vs_ode.png" descr="img/resnet_vs_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527" y="1234440"/>
            <a:ext cx="4545106" cy="2971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Defines the Velocity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The forward pass is a call to an ODE solver.</a:t>
            </a:r>
            <a:endParaRPr lang="en-US" sz="1400" dirty="0"/>
          </a:p>
        </p:txBody>
      </p:sp>
      <p:pic>
        <p:nvPicPr>
          <p:cNvPr id="6" name="eq_node.png" descr="img/eq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7213" y="1371600"/>
            <a:ext cx="3869575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51460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fθ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any neural net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46120" y="251460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2900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Solver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2900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Euler, RK4, adaptive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35040" y="251460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Output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state at time 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8"/>
                </a:solidFill>
              </a:rPr>
              <a:t>Training needs  </a:t>
            </a:r>
            <a:pPr algn="ctr" indent="0" marL="0">
              <a:buNone/>
            </a:pPr>
            <a:r>
              <a:rPr lang="en-US" sz="2000" b="1" dirty="0">
                <a:solidFill>
                  <a:srgbClr val="C8102E"/>
                </a:solidFill>
              </a:rPr>
              <a:t>dL / dθ</a:t>
            </a:r>
            <a:pPr algn="ctr" indent="0" marL="0">
              <a:buNone/>
            </a:pPr>
            <a:r>
              <a:rPr lang="en-US" sz="2000" dirty="0">
                <a:solidFill>
                  <a:srgbClr val="1F2328"/>
                </a:solidFill>
              </a:rPr>
              <a:t>  through the solver.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Differentiate a Solver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Memory vs. gradient accuracy: the trade-off behind the rest of this talk.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Discretize, then differentiate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Backprop through every solver step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97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697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Memory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grows with steps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Gradient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337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exact for the numerics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</a:rPr>
              <a:t>Differentiate, then discretize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965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Solve a second ODE backward: the adjoint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2697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2697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Memory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constant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333756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492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Gradient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3337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approximate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Adjoint Method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The adjoint is backprop, run as an ODE in reverse time.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167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sensitivity</a:t>
            </a:r>
            <a:endParaRPr lang="en-US" sz="1200" dirty="0"/>
          </a:p>
        </p:txBody>
      </p:sp>
      <p:pic>
        <p:nvPicPr>
          <p:cNvPr id="7" name="eq_adj1.png" descr="img/eq_adj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298448"/>
            <a:ext cx="1164739" cy="566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231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flows backward</a:t>
            </a:r>
            <a:endParaRPr lang="en-US" sz="1200" dirty="0"/>
          </a:p>
        </p:txBody>
      </p:sp>
      <p:pic>
        <p:nvPicPr>
          <p:cNvPr id="9" name="eq_adj2.png" descr="img/eq_adj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212848"/>
            <a:ext cx="1787201" cy="548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1272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collects the gradient</a:t>
            </a:r>
            <a:endParaRPr lang="en-US" sz="1200" dirty="0"/>
          </a:p>
        </p:txBody>
      </p:sp>
      <p:pic>
        <p:nvPicPr>
          <p:cNvPr id="11" name="eq_adj3.png" descr="img/eq_adj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3108960"/>
            <a:ext cx="2110324" cy="6583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0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8458200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T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0" y="1783080"/>
            <a:ext cx="3108960" cy="914"/>
          </a:xfrm>
          <a:prstGeom prst="line">
            <a:avLst/>
          </a:prstGeom>
          <a:noFill/>
          <a:ln w="317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48640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forward: solve for z(T)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 flipH="1">
            <a:off x="5486400" y="2423160"/>
            <a:ext cx="3108960" cy="914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7" name="Text 12"/>
          <p:cNvSpPr txBox="1"/>
          <p:nvPr/>
        </p:nvSpPr>
        <p:spPr>
          <a:xfrm>
            <a:off x="548640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backward: z, a, dL/dθ together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349240" y="30175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532120" y="31272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Each step needs aᵀ ∂f/∂z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vector-Jacobian product: reverse-mode AD from Lecture 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Future, or Many?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When the system is random, a single path is the wrong answer.</a:t>
            </a:r>
            <a:endParaRPr lang="en-US" sz="1400" dirty="0"/>
          </a:p>
        </p:txBody>
      </p:sp>
      <p:pic>
        <p:nvPicPr>
          <p:cNvPr id="6" name="ode_path.png" descr="img/ode_pa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234440"/>
            <a:ext cx="3520440" cy="2514600"/>
          </a:xfrm>
          <a:prstGeom prst="rect">
            <a:avLst/>
          </a:prstGeom>
        </p:spPr>
      </p:pic>
      <p:pic>
        <p:nvPicPr>
          <p:cNvPr id="7" name="sde_paths.png" descr="img/sde_path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1234440"/>
            <a:ext cx="3520440" cy="2514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3749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ODE: one deterministic path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937760" y="3749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SDE: a distribution over paths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Neural SDE Is Two Networks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 neural SDE is a neural ODE that rolls dice at every step.</a:t>
            </a:r>
            <a:endParaRPr lang="en-US" sz="1400" dirty="0"/>
          </a:p>
        </p:txBody>
      </p:sp>
      <p:pic>
        <p:nvPicPr>
          <p:cNvPr id="6" name="eq_sde.png" descr="img/eq_s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1325880"/>
            <a:ext cx="5623560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01168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Drift  μθ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505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where the state is heading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201168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3776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Diffusion  σθ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24505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how hard the noise pushes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154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Simulate it (Euler–Maruyama)</a:t>
            </a:r>
            <a:endParaRPr lang="en-US" sz="1200" dirty="0"/>
          </a:p>
        </p:txBody>
      </p:sp>
      <p:pic>
        <p:nvPicPr>
          <p:cNvPr id="14" name="eq_em.png" descr="img/eq_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382" y="3520440"/>
            <a:ext cx="4639235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Noise, Then Differentiate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With the noise held fixed, an SDE solve is just another differentiable function.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Sample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 Brownian path 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99232" y="1965960"/>
            <a:ext cx="310896" cy="914"/>
          </a:xfrm>
          <a:prstGeom prst="line">
            <a:avLst/>
          </a:prstGeom>
          <a:noFill/>
          <a:ln w="2540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37560" y="14630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Solve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Z(T) = Solve(θ, W)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9592" y="1965960"/>
            <a:ext cx="310896" cy="914"/>
          </a:xfrm>
          <a:prstGeom prst="line">
            <a:avLst/>
          </a:prstGeom>
          <a:noFill/>
          <a:ln w="2540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17920" y="14630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Score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Loss L(Z(T))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3291840" y="2743200"/>
            <a:ext cx="4572000" cy="914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291840" y="28163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dL/dθ along that one path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328"/>
                </a:solidFill>
              </a:rPr>
              <a:t>Same trick as the VAE's reparameterization: the randomness becomes an input.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Stochastic Adjoint: Two Catches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Randomness makes the adjoint harder, not impossible.</a:t>
            </a:r>
            <a:endParaRPr lang="en-US" sz="1400" dirty="0"/>
          </a:p>
        </p:txBody>
      </p:sp>
      <p:pic>
        <p:nvPicPr>
          <p:cNvPr id="6" name="brownian.png" descr="img/brown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291840" cy="17174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The backward pass must replay this exact path.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1280160"/>
            <a:ext cx="4572000" cy="896112"/>
          </a:xfrm>
          <a:prstGeom prst="roundRect">
            <a:avLst>
              <a:gd name="adj" fmla="val 816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9392" y="1435608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79392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3898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Same noise, backward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Store the path, or regenerate it on demand: Brownian tree / Brownian Interval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2304288"/>
            <a:ext cx="4572000" cy="896112"/>
          </a:xfrm>
          <a:prstGeom prst="roundRect">
            <a:avLst>
              <a:gd name="adj" fmla="val 816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79392" y="245973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79392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4140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Different calculus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7157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The backward SDE is Stratonovich; Itô needs a correction term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14800" y="3401568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97680" y="34015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Fix: </a:t>
            </a:r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reversible Heun + its own adjoint → exact gradients, constant memory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Code: About Ten Lines of JAX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Measured: adjoint ≈ backprop to ~10⁻⁵, and the gap shrinks as steps increase.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7863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loss_fn(params, key):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bm    = dfx.VirtualBrownianTree(0., 1., tol=1e-3, shape=(d,), key=key)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terms = dfx.MultiTerm(dfx.ODETerm(drift),          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μθ dt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dfx.ControlTerm(diffusion, bm))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σθ dW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sol   = dfx.diffeqsolve(terms, dfx.ReversibleHeun(), 0., 1., dt0=0.01,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y0=z0, args=params,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adjoint=dfx.BacksolveAdjoint())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 memory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objective(sol.ys[-1])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grads = jax.grad(loss_fn)(params, key)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Train One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Same differentiable solver. The loss decides what "fit" means.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72768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Latent SDE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Fit noisy time series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ELBO with a KL between two SDEs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Li et al., 2020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572768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7472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SDE-GAN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Match a distribution of paths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Neural CDE as the discriminator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Kidger et al., 2021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13716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1572768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6364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Calibration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Match observed prices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Loss on model vs. market quantities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Gierjatowicz et al., 2020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3  ·  THE BRIDGE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Models Are Neural SDEs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Every diffusion or flow-matching model samples by solving a neural SDE or ODE.</a:t>
            </a:r>
            <a:endParaRPr lang="en-US" sz="1400" dirty="0"/>
          </a:p>
        </p:txBody>
      </p:sp>
      <p:pic>
        <p:nvPicPr>
          <p:cNvPr id="6" name="diffusion_paths.png" descr="img/diffusion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4663440" cy="19591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7307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Forward: data → noise. Sampling runs it backward.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1298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Forward: add noise</a:t>
            </a:r>
            <a:endParaRPr lang="en-US" sz="1200" dirty="0"/>
          </a:p>
        </p:txBody>
      </p:sp>
      <p:pic>
        <p:nvPicPr>
          <p:cNvPr id="9" name="eq_fwd.png" descr="img/eq_fw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91056"/>
            <a:ext cx="2083650" cy="2468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12080" y="21122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Reverse: learned score</a:t>
            </a:r>
            <a:endParaRPr lang="en-US" sz="1200" dirty="0"/>
          </a:p>
        </p:txBody>
      </p:sp>
      <p:pic>
        <p:nvPicPr>
          <p:cNvPr id="11" name="eq_rev.png" descr="img/eq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404872"/>
            <a:ext cx="3136249" cy="2468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29260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Probability-flow ODE: same marginals</a:t>
            </a:r>
            <a:endParaRPr lang="en-US" sz="1200" dirty="0"/>
          </a:p>
        </p:txBody>
      </p:sp>
      <p:pic>
        <p:nvPicPr>
          <p:cNvPr id="13" name="eq_pf.png" descr="img/eq_p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3218688"/>
            <a:ext cx="2431279" cy="457200"/>
          </a:xfrm>
          <a:prstGeom prst="rect">
            <a:avLst/>
          </a:prstGeom>
        </p:spPr>
      </p:pic>
      <p:pic>
        <p:nvPicPr>
          <p:cNvPr id="14" name="eq_score.png" descr="img/eq_sco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904488"/>
            <a:ext cx="1599184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USE AND LIMITS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Neural SDEs Show Up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Anywhere the answer is a distribution over trajectories.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264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Generative models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556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Images, audio, video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Song et al., 2021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29844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14264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Weather ensembles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7556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GenCast: diffusion-sampled forecasts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Price et al.,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9844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6208" y="14264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Robot policies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17556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Diffusion Policy; π0 flow matching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36208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Chi et al., 2023; Black et al., 2024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8895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Quant finance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Calibrated, arbitrage-free market models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Gierjatowicz 2020; Cohen 2021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276148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47288" y="28895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Irregular time series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447288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Sparse, noisy sensor or clinical data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447288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Li et al., 2020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76148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36208" y="28895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Uncertainty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236208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Bayesian nets as SDEs over weights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Xu et al., 2022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USE AND LIMITS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Breaks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Constant memory is real. Exact gradients need the right solver.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42646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426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12801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Adjoint gradients drift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28016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The backward re-solve doesn't retrace the forward path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2801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Gholami et al., 2019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215798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157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01168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Solvers slow down in training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01168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Learned dynamics stiffen, step counts climb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201168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Finlay et al., 2020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288950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2889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4320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The adjoint isn't cheap 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274320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Measured: flat in steps but ~150 MB; ~60× slower than backprop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274320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This repo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362102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621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347472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Training is fragile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347472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SDE-GANs need Lipschitz control; Itô/Stratonovich bugs are silent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223760" y="34747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Kidger et al., 2021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A3AE"/>
                </a:solidFill>
              </a:rPr>
              <a:t>DISCUSSION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AF"/>
                </a:solidFill>
              </a:rPr>
              <a:t>Code and benchmarks: github.com/nishadw/neural-sde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6916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When is the adjoint's memory saving worth its gradient error? Where in your own project?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Diffusion models fix σ and learn only the score. What do we lose by not learning the noise?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611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Could a differentiable simulator from this class become stochastic? What happens to its gradients?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References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Chen, Rubanova, Bettencourt, Duvenaud. Neural Ordinary Differential Equations. NeurIPS 2018.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Li, Wong, Chen, Duvenaud. Scalable Gradients for Stochastic Differential Equations. AISTATS 2020.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Kidger, Foster, Li, Oberhauser, Lyons. Neural SDEs as Infinite-Dimensional GANs. ICML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Kidger, Foster, Li, Lyons. Efficient and Accurate Gradients for Neural SDEs. NeurIPS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Kidger. On Neural Differential Equations. PhD thesis, Oxford, 2022.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Song et al. Score-Based Generative Modeling through SDEs. ICLR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Lipman et al. Flow Matching for Generative Modeling. ICLR 2023.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Gholami, Keutzer, Biros. ANODE. IJCAI 2019.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Finlay et al. How to Train Your Neural ODE. ICML 2020.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Gierjatowicz et al. Robust Pricing and Hedging via Neural SDEs. J. Comp. Finance, 2022.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Cohen, Reisinger, Wang. Arbitrage-Free Neural-SDE Market Models.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Price et al. Probabilistic Weather Forecasting with ML (GenCast). Nature 2025.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Chi et al. Diffusion Policy. RSS 2023.   Black et al. π0. 2024.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Xu, Chen, Li, Duvenaud. Infinitely Deep Bayesian NNs with SDEs. AISTATS 2022.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al SDE">
  <a:themeElements>
    <a:clrScheme name="Neural SDE">
      <a:dk1>
        <a:srgbClr val="1F2328"/>
      </a:dk1>
      <a:lt1>
        <a:srgbClr val="FFFFFF"/>
      </a:lt1>
      <a:dk2>
        <a:srgbClr val="6B7280"/>
      </a:dk2>
      <a:lt2>
        <a:srgbClr val="F3F4F6"/>
      </a:lt2>
      <a:accent1>
        <a:srgbClr val="C8102E"/>
      </a:accent1>
      <a:accent2>
        <a:srgbClr val="1F2328"/>
      </a:accent2>
      <a:accent3>
        <a:srgbClr val="9AA3AF"/>
      </a:accent3>
      <a:accent4>
        <a:srgbClr val="E5E7EB"/>
      </a:accent4>
      <a:accent5>
        <a:srgbClr val="FBE9EC"/>
      </a:accent5>
      <a:accent6>
        <a:srgbClr val="374151"/>
      </a:accent6>
      <a:hlink>
        <a:srgbClr val="C8102E"/>
      </a:hlink>
      <a:folHlink>
        <a:srgbClr val="6B7280"/>
      </a:folHlink>
    </a:clrScheme>
    <a:fontScheme name="Neural S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 Through Continuous Time: Neural ODEs, Neural SDEs, and Diffusion</dc:title>
  <dc:subject>PptxGenJS Presentation</dc:subject>
  <dc:creator>Nishad Wajge</dc:creator>
  <cp:lastModifiedBy>Nishad Wajge</cp:lastModifiedBy>
  <cp:revision>1</cp:revision>
  <dcterms:created xsi:type="dcterms:W3CDTF">2026-10-11T22:13:49Z</dcterms:created>
  <dcterms:modified xsi:type="dcterms:W3CDTF">2026-10-11T22:13:49Z</dcterms:modified>
</cp:coreProperties>
</file>