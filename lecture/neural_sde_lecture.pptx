
<file path=[Content_Types].xml><?xml version="1.0" encoding="utf-8"?>
<Types xmlns="http://schemas.openxmlformats.org/package/2006/content-types">
  <Default ContentType="image/jpeg" Extension="jpg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  <p:sldMasterId id="2147483652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8" roundtripDataSignature="AMtx7mhv+++DIUPRWXf0OlfVBqSU4CWTo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011B6A4-50AB-4A3F-8FDA-CB2C49E14753}">
  <a:tblStyle styleId="{7011B6A4-50AB-4A3F-8FDA-CB2C49E1475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customschemas.google.com/relationships/presentationmetadata" Target="metadata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h60cdd362965d0808_1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" name="Google Shape;23;h60cdd362965d0808_1_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[0:00 – 0:30]</a:t>
            </a:r>
            <a:br>
              <a:rPr lang="en-US"/>
            </a:br>
            <a:r>
              <a:rPr lang="en-US"/>
              <a:t>• Hi everyone, I'm Nishad. Today I'm talking about neural stochastic differential equations, or neural SDEs.</a:t>
            </a:r>
            <a:br>
              <a:rPr lang="en-US"/>
            </a:br>
            <a:r>
              <a:rPr lang="en-US"/>
              <a:t>• The short version: they're neural networks that predict a whole range of possible futures instead of just one.</a:t>
            </a:r>
            <a:br>
              <a:rPr lang="en-US"/>
            </a:br>
            <a:r>
              <a:rPr lang="en-US"/>
              <a:t>• I'll build up to them from neural ODEs, show how you train them, and finish with one example from food science: predicting when an avocado goes bad.</a:t>
            </a:r>
            <a:endParaRPr/>
          </a:p>
        </p:txBody>
      </p:sp>
      <p:sp>
        <p:nvSpPr>
          <p:cNvPr id="24" name="Google Shape;24;h60cdd362965d0808_1_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h60cdd362965d0808_1_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" name="Google Shape;34;h60cdd362965d0808_1_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[0:30 – 1:30]</a:t>
            </a:r>
            <a:br>
              <a:rPr lang="en-US"/>
            </a:br>
            <a:r>
              <a:rPr lang="en-US"/>
              <a:t>• Let's start with why.</a:t>
            </a:r>
            <a:br>
              <a:rPr lang="en-US"/>
            </a:br>
            <a:r>
              <a:rPr lang="en-US"/>
              <a:t>• Lots of things change over time with some randomness. Weather. Stock prices. Fruit on a shelf.</a:t>
            </a:r>
            <a:br>
              <a:rPr lang="en-US"/>
            </a:br>
            <a:r>
              <a:rPr lang="en-US"/>
              <a:t>• Same start, different outcomes. Two avocados bought on the same day don't go bad on the same day.</a:t>
            </a:r>
            <a:br>
              <a:rPr lang="en-US"/>
            </a:br>
            <a:r>
              <a:rPr lang="en-US"/>
              <a:t>• Most models give you one number, like "four days left." That number is often wrong, and it doesn't tell you how wrong.</a:t>
            </a:r>
            <a:br>
              <a:rPr lang="en-US"/>
            </a:br>
            <a:r>
              <a:rPr lang="en-US"/>
              <a:t>• We want a model that learns both the trend and the randomness from data.</a:t>
            </a:r>
            <a:br>
              <a:rPr lang="en-US"/>
            </a:br>
            <a:r>
              <a:rPr lang="en-US"/>
              <a:t>• Then we can ask a better question: what's the chance it's spoiled by Friday?</a:t>
            </a:r>
            <a:br>
              <a:rPr lang="en-US"/>
            </a:br>
            <a:r>
              <a:rPr lang="en-US"/>
              <a:t>• That's what a neural SDE gives us: a spread of futures, like the gray paths on the right.</a:t>
            </a:r>
            <a:br>
              <a:rPr lang="en-US"/>
            </a:br>
            <a:r>
              <a:rPr lang="en-US"/>
              <a:t>• To get there, we need neural ODEs first. So, one slide on ODEs.</a:t>
            </a:r>
            <a:endParaRPr/>
          </a:p>
        </p:txBody>
      </p:sp>
      <p:sp>
        <p:nvSpPr>
          <p:cNvPr id="35" name="Google Shape;35;h60cdd362965d0808_1_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h60cdd362965d0808_1_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" name="Google Shape;47;h60cdd362965d0808_1_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[1:30 – 2:40]</a:t>
            </a:r>
            <a:br>
              <a:rPr lang="en-US"/>
            </a:br>
            <a:r>
              <a:rPr lang="en-US"/>
              <a:t>• Here's everything we need about ODEs.</a:t>
            </a:r>
            <a:br>
              <a:rPr lang="en-US"/>
            </a:br>
            <a:r>
              <a:rPr lang="en-US"/>
              <a:t>• z is some state that changes over time. A position, a concentration, or a hidden layer.</a:t>
            </a:r>
            <a:br>
              <a:rPr lang="en-US"/>
            </a:br>
            <a:r>
              <a:rPr lang="en-US"/>
              <a:t>• Top equation: dz/dt equals f(z(t),t). f tells you how fast z is changing right now.</a:t>
            </a:r>
            <a:br>
              <a:rPr lang="en-US"/>
            </a:br>
            <a:r>
              <a:rPr lang="en-US"/>
              <a:t>• In the picture, f is the gray arrows. At every point, it says which way to go.</a:t>
            </a:r>
            <a:br>
              <a:rPr lang="en-US"/>
            </a:br>
            <a:r>
              <a:rPr lang="en-US"/>
              <a:t>• Middle equation: we know where we start. The end point is the start plus all the small changes on the way.</a:t>
            </a:r>
            <a:br>
              <a:rPr lang="en-US"/>
            </a:br>
            <a:r>
              <a:rPr lang="en-US"/>
              <a:t>• We usually can't solve that by hand, so we use a numerical solver.</a:t>
            </a:r>
            <a:br>
              <a:rPr lang="en-US"/>
            </a:br>
            <a:r>
              <a:rPr lang="en-US"/>
              <a:t>• The simplest one is Euler's method, the bottom equation. Look at the arrow, take a small step, and repeat.</a:t>
            </a:r>
            <a:br>
              <a:rPr lang="en-US"/>
            </a:br>
            <a:r>
              <a:rPr lang="en-US"/>
              <a:t>• That's the red line. With big steps, it drifts away from the true black curve.</a:t>
            </a:r>
            <a:br>
              <a:rPr lang="en-US"/>
            </a:br>
            <a:r>
              <a:rPr lang="en-US"/>
              <a:t>• Keep Euler's method in mind. It's about to show up somewhere you know.</a:t>
            </a:r>
            <a:endParaRPr/>
          </a:p>
        </p:txBody>
      </p:sp>
      <p:sp>
        <p:nvSpPr>
          <p:cNvPr id="48" name="Google Shape;48;h60cdd362965d0808_1_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h60cdd362965d0808_1_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h60cdd362965d0808_1_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[2:40 – 3:30]</a:t>
            </a:r>
            <a:br>
              <a:rPr lang="en-US"/>
            </a:br>
            <a:r>
              <a:rPr lang="en-US"/>
              <a:t>• Here's where it shows up: in a ResNet.</a:t>
            </a:r>
            <a:br>
              <a:rPr lang="en-US"/>
            </a:br>
            <a:r>
              <a:rPr lang="en-US"/>
              <a:t>• A residual block takes the hidden state z, computes a small update f, and adds it back. z +=  f(z).</a:t>
            </a:r>
            <a:br>
              <a:rPr lang="en-US"/>
            </a:br>
            <a:r>
              <a:rPr lang="en-US"/>
              <a:t>• Compare that to Euler's method: z + h*f.</a:t>
            </a:r>
            <a:br>
              <a:rPr lang="en-US"/>
            </a:br>
            <a:r>
              <a:rPr lang="en-US"/>
              <a:t>• It's the same thing, with a step size of one.</a:t>
            </a:r>
            <a:br>
              <a:rPr lang="en-US"/>
            </a:br>
            <a:r>
              <a:rPr lang="en-US"/>
              <a:t>• So every ResNet layer is one Euler step, and depth plays the role of time.</a:t>
            </a:r>
            <a:br>
              <a:rPr lang="en-US"/>
            </a:br>
            <a:r>
              <a:rPr lang="en-US"/>
              <a:t>• On the right, each dot is one layer, and each segment is one update.</a:t>
            </a:r>
            <a:br>
              <a:rPr lang="en-US"/>
            </a:br>
            <a:r>
              <a:rPr lang="en-US"/>
              <a:t>• So the natural question is: what if we make the steps really small?</a:t>
            </a:r>
            <a:endParaRPr/>
          </a:p>
        </p:txBody>
      </p:sp>
      <p:sp>
        <p:nvSpPr>
          <p:cNvPr id="65" name="Google Shape;65;h60cdd362965d0808_1_3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h60cdd362965d0808_1_5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h60cdd362965d0808_1_5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[3:30 – 4:40]</a:t>
            </a:r>
            <a:br>
              <a:rPr lang="en-US"/>
            </a:br>
            <a:r>
              <a:rPr lang="en-US"/>
              <a:t>• That's a neural ODE.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• We make two changes to the ResNet. First, we feed the time t into the network. Second, we use the same weights at every depth.</a:t>
            </a:r>
            <a:br>
              <a:rPr lang="en-US"/>
            </a:br>
            <a:r>
              <a:rPr lang="en-US"/>
              <a:t>• Then we replace the for-loop with one call to an ODE solver. That's the code at the top. The solver decides how many steps to take.</a:t>
            </a:r>
            <a:br>
              <a:rPr lang="en-US"/>
            </a:br>
            <a:r>
              <a:rPr lang="en-US"/>
              <a:t>• The equation says: dz/dt equals f-theta of z and t.</a:t>
            </a:r>
            <a:br>
              <a:rPr lang="en-US"/>
            </a:br>
            <a:r>
              <a:rPr lang="en-US"/>
              <a:t>• f-theta is an ordinary neural network with weights theta. It draws the arrows, and the solver follows them.</a:t>
            </a:r>
            <a:br>
              <a:rPr lang="en-US"/>
            </a:br>
            <a:r>
              <a:rPr lang="en-US"/>
              <a:t>• So a neural ODE is a ResNet with infinitely many tiny layers. That's the picture on the right.</a:t>
            </a:r>
            <a:br>
              <a:rPr lang="en-US"/>
            </a:br>
            <a:r>
              <a:rPr lang="en-US"/>
              <a:t>• Why bother? You get adaptive accuracy, you can handle data at uneven times, and training can use very little memory. That's the next two slides.</a:t>
            </a:r>
            <a:br>
              <a:rPr lang="en-US"/>
            </a:br>
            <a:br>
              <a:rPr lang="en-US"/>
            </a:br>
            <a:r>
              <a:rPr lang="en-US"/>
              <a:t>IF ASKED — how deep is it? No fixed depth; the number of solver steps plays that role.</a:t>
            </a:r>
            <a:endParaRPr/>
          </a:p>
        </p:txBody>
      </p:sp>
      <p:sp>
        <p:nvSpPr>
          <p:cNvPr id="79" name="Google Shape;79;h60cdd362965d0808_1_5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h60cdd362965d0808_1_6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h60cdd362965d0808_1_6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[4:40 – 6:10]</a:t>
            </a:r>
            <a:br>
              <a:rPr lang="en-US"/>
            </a:br>
            <a:r>
              <a:rPr lang="en-US"/>
              <a:t>• So how do we train a neural ODE? We need the gradient of the loss with respect to the weights theta.</a:t>
            </a:r>
            <a:br>
              <a:rPr lang="en-US"/>
            </a:br>
            <a:r>
              <a:rPr lang="en-US"/>
              <a:t>• Option one is plain backprop, through every step the solver took.</a:t>
            </a:r>
            <a:br>
              <a:rPr lang="en-US"/>
            </a:br>
            <a:r>
              <a:rPr lang="en-US"/>
              <a:t>• Lambda-k is the gradient at step k. It answers one question: if I nudged z at step k, how much would the loss change?</a:t>
            </a:r>
            <a:br>
              <a:rPr lang="en-US"/>
            </a:br>
            <a:r>
              <a:rPr lang="en-US"/>
              <a:t>• The second equation is the chain rule. We get lambda at step k from step k plus one. We pass it back one step at a time.</a:t>
            </a:r>
            <a:br>
              <a:rPr lang="en-US"/>
            </a:br>
            <a:r>
              <a:rPr lang="en-US"/>
              <a:t>• The third equation says each weight's gradient adds up its share from every step.</a:t>
            </a:r>
            <a:br>
              <a:rPr lang="en-US"/>
            </a:br>
            <a:r>
              <a:rPr lang="en-US"/>
              <a:t>• Look at the animation. Going forward, we save every step. The gray boxes fill up.</a:t>
            </a:r>
            <a:br>
              <a:rPr lang="en-US"/>
            </a:br>
            <a:r>
              <a:rPr lang="en-US"/>
              <a:t>• Going backward, lambda, in red, walks back over the saved steps.</a:t>
            </a:r>
            <a:br>
              <a:rPr lang="en-US"/>
            </a:br>
            <a:r>
              <a:rPr lang="en-US"/>
              <a:t>• This is exact. The problem is memory: it grows with the number of steps.</a:t>
            </a:r>
            <a:br>
              <a:rPr lang="en-US"/>
            </a:br>
            <a:r>
              <a:rPr lang="en-US"/>
              <a:t>• A solver can take thousands of steps, so that adds up fast.</a:t>
            </a:r>
            <a:br>
              <a:rPr lang="en-US"/>
            </a:br>
            <a:br>
              <a:rPr lang="en-US"/>
            </a:br>
            <a:r>
              <a:rPr lang="en-US"/>
              <a:t>IF ASKED — where does the 'I +' come from? The skip connection: z plus h times f.</a:t>
            </a:r>
            <a:endParaRPr/>
          </a:p>
        </p:txBody>
      </p:sp>
      <p:sp>
        <p:nvSpPr>
          <p:cNvPr id="95" name="Google Shape;95;h60cdd362965d0808_1_6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h60cdd362965d0808_1_8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" name="Google Shape;113;h60cdd362965d0808_1_8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[6:10 – 7:50]</a:t>
            </a:r>
            <a:br>
              <a:rPr lang="en-US"/>
            </a:br>
            <a:r>
              <a:rPr lang="en-US"/>
              <a:t>• Option two is the adjoint method.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• Lambda of t is the same idea as before, just in continuous time.</a:t>
            </a:r>
            <a:br>
              <a:rPr lang="en-US"/>
            </a:br>
            <a:r>
              <a:rPr lang="en-US"/>
              <a:t>• The second equation says lambda follows its own ODE, backward in time.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• The third equation: the sum over steps becomes an integral over time.</a:t>
            </a:r>
            <a:br>
              <a:rPr lang="en-US"/>
            </a:br>
            <a:r>
              <a:rPr lang="en-US"/>
              <a:t>• We start at the end, where lambda is just the gradient of the loss. Then we call the solver again, running backward.</a:t>
            </a:r>
            <a:br>
              <a:rPr lang="en-US"/>
            </a:br>
            <a:r>
              <a:rPr lang="en-US"/>
              <a:t>• Look at the animation. Going forward, we save nothing except where we are.</a:t>
            </a:r>
            <a:br>
              <a:rPr lang="en-US"/>
            </a:br>
            <a:r>
              <a:rPr lang="en-US"/>
              <a:t>• Going backward, we re-solve z and lambda together. Memory is always just three things.</a:t>
            </a:r>
            <a:br>
              <a:rPr lang="en-US"/>
            </a:br>
            <a:r>
              <a:rPr lang="en-US"/>
              <a:t>• The table sums it up. Backprop's memory grows with the steps. The adjoint's stays flat.</a:t>
            </a:r>
            <a:br>
              <a:rPr lang="en-US"/>
            </a:br>
            <a:r>
              <a:rPr lang="en-US"/>
              <a:t>• The price is one extra solve, plus a small numerical error.</a:t>
            </a:r>
            <a:br>
              <a:rPr lang="en-US"/>
            </a:br>
            <a:r>
              <a:rPr lang="en-US"/>
              <a:t>• Duvenaud's slogan for this: approximate the derivative, don't differentiate the approximation.</a:t>
            </a:r>
            <a:br>
              <a:rPr lang="en-US"/>
            </a:br>
            <a:br>
              <a:rPr lang="en-US"/>
            </a:br>
            <a:r>
              <a:rPr lang="en-US"/>
              <a:t>IF ASKED — is it exact? No; the backward re-solve has its own error (ANODE, 2019).</a:t>
            </a:r>
            <a:br>
              <a:rPr lang="en-US"/>
            </a:br>
            <a:r>
              <a:rPr lang="en-US"/>
              <a:t>IF ASKED — derivation? Lagrange multiplier plus integration by parts (A2).</a:t>
            </a:r>
            <a:endParaRPr/>
          </a:p>
        </p:txBody>
      </p:sp>
      <p:sp>
        <p:nvSpPr>
          <p:cNvPr id="114" name="Google Shape;114;h60cdd362965d0808_1_8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h60cdd362965d0808_1_10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h60cdd362965d0808_1_10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[7:50 – 9:20]</a:t>
            </a:r>
            <a:br>
              <a:rPr lang="en-US"/>
            </a:br>
            <a:r>
              <a:rPr lang="en-US"/>
              <a:t>• Now we add randomness. This is the main idea of the talk.</a:t>
            </a:r>
            <a:br>
              <a:rPr lang="en-US"/>
            </a:br>
            <a:r>
              <a:rPr lang="en-US"/>
              <a:t>• A neural ODE says: follow the arrows. A neural SDE says: follow the arrows, plus take a random kick at every moment.</a:t>
            </a:r>
            <a:br>
              <a:rPr lang="en-US"/>
            </a:br>
            <a:r>
              <a:rPr lang="en-US"/>
              <a:t>• First equation: the change in Z equals the drift times dt, plus the diffusion times dW.</a:t>
            </a:r>
            <a:br>
              <a:rPr lang="en-US"/>
            </a:br>
            <a:r>
              <a:rPr lang="en-US"/>
              <a:t>• Z-t is the state. Now it's random. Run the model twice from the same start, and you get two different paths.</a:t>
            </a:r>
            <a:br>
              <a:rPr lang="en-US"/>
            </a:br>
            <a:r>
              <a:rPr lang="en-US"/>
              <a:t>• Mu-theta is the drift. It's a neural network with the same job f had before: the average direction.</a:t>
            </a:r>
            <a:br>
              <a:rPr lang="en-US"/>
            </a:br>
            <a:r>
              <a:rPr lang="en-US"/>
              <a:t>• Sigma-theta is the diffusion. It's a second network, and it sets how big the kicks are.</a:t>
            </a:r>
            <a:br>
              <a:rPr lang="en-US"/>
            </a:br>
            <a:r>
              <a:rPr lang="en-US"/>
              <a:t>• W is Brownian motion, the source of randomness. dW is one tiny random kick.</a:t>
            </a:r>
            <a:br>
              <a:rPr lang="en-US"/>
            </a:br>
            <a:r>
              <a:rPr lang="en-US"/>
              <a:t>• Theta is just all the weights of both networks.</a:t>
            </a:r>
            <a:br>
              <a:rPr lang="en-US"/>
            </a:br>
            <a:r>
              <a:rPr lang="en-US"/>
              <a:t>• The bottom equation says the same thing as a running total: the start, plus all the drift, plus all the kicks.</a:t>
            </a:r>
            <a:br>
              <a:rPr lang="en-US"/>
            </a:br>
            <a:r>
              <a:rPr lang="en-US"/>
              <a:t>• We write dZ instead of dZ over dt because these paths are too jagged to have a derivative.</a:t>
            </a:r>
            <a:br>
              <a:rPr lang="en-US"/>
            </a:br>
            <a:br>
              <a:rPr lang="en-US"/>
            </a:br>
            <a:r>
              <a:rPr lang="en-US"/>
              <a:t>IF ASKED — d and m? d is the size of the state; m is the number of independent noise sources.</a:t>
            </a:r>
            <a:endParaRPr/>
          </a:p>
        </p:txBody>
      </p:sp>
      <p:sp>
        <p:nvSpPr>
          <p:cNvPr id="133" name="Google Shape;133;h60cdd362965d0808_1_10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h60cdd362965d0808_1_1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h60cdd362965d0808_1_1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[9:20 – 10:10]</a:t>
            </a:r>
            <a:br>
              <a:rPr lang="en-US"/>
            </a:br>
            <a:r>
              <a:rPr lang="en-US"/>
              <a:t>• Here they are side by side.</a:t>
            </a:r>
            <a:br>
              <a:rPr lang="en-US"/>
            </a:br>
            <a:r>
              <a:rPr lang="en-US"/>
              <a:t>• On the left, a neural ODE. One start, one future.</a:t>
            </a:r>
            <a:br>
              <a:rPr lang="en-US"/>
            </a:br>
            <a:r>
              <a:rPr lang="en-US"/>
              <a:t>• On the right, the same arrows plus noise. One start, a whole cloud of futures.</a:t>
            </a:r>
            <a:br>
              <a:rPr lang="en-US"/>
            </a:br>
            <a:r>
              <a:rPr lang="en-US"/>
              <a:t>• The table lists what changes. We add a noise term. We get a distribution instead of one path. The chain rule changes, which is next. The solver changes. And for gradients, we fix the noise first.</a:t>
            </a:r>
            <a:br>
              <a:rPr lang="en-US"/>
            </a:br>
            <a:r>
              <a:rPr lang="en-US"/>
              <a:t>• A good sanity check: set sigma to zero. The noise goes away, and you're back to a neural ODE.</a:t>
            </a:r>
            <a:endParaRPr/>
          </a:p>
        </p:txBody>
      </p:sp>
      <p:sp>
        <p:nvSpPr>
          <p:cNvPr id="148" name="Google Shape;148;h60cdd362965d0808_1_1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h60cdd362965d0808_1_1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h60cdd362965d0808_1_1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[10:10 – 11:40]</a:t>
            </a:r>
            <a:br>
              <a:rPr lang="en-US"/>
            </a:br>
            <a:r>
              <a:rPr lang="en-US"/>
              <a:t>• So what is a random kick? It comes from Brownian motion. Think of a random walk with really tiny steps.</a:t>
            </a:r>
            <a:br>
              <a:rPr lang="en-US"/>
            </a:br>
            <a:r>
              <a:rPr lang="en-US"/>
              <a:t>• The top line has three rules. It starts at zero. Each change is Gaussian, with variance equal to the time gap. And changes over separate windows are independent.</a:t>
            </a:r>
            <a:br>
              <a:rPr lang="en-US"/>
            </a:br>
            <a:r>
              <a:rPr lang="en-US"/>
              <a:t>• The key fact: over a tiny step delta-t, a kick has size about root delta-t. Not delta-t.</a:t>
            </a:r>
            <a:br>
              <a:rPr lang="en-US"/>
            </a:br>
            <a:r>
              <a:rPr lang="en-US"/>
              <a:t>• That changes calculus. Normally, the square of a tiny step is so small that we drop it.</a:t>
            </a:r>
            <a:br>
              <a:rPr lang="en-US"/>
            </a:br>
            <a:r>
              <a:rPr lang="en-US"/>
              <a:t>• Here, a kick squared is about delta-t. That's the same size as the step itself, so we can't drop it.</a:t>
            </a:r>
            <a:br>
              <a:rPr lang="en-US"/>
            </a:br>
            <a:r>
              <a:rPr lang="en-US"/>
              <a:t>• So the chain rule gets an extra term. That's Itô's lemma, the second equation.</a:t>
            </a:r>
            <a:br>
              <a:rPr lang="en-US"/>
            </a:br>
            <a:r>
              <a:rPr lang="en-US"/>
              <a:t>• The extra term is one-half, f-double-prime, sigma squared, dt.</a:t>
            </a:r>
            <a:br>
              <a:rPr lang="en-US"/>
            </a:br>
            <a:r>
              <a:rPr lang="en-US"/>
              <a:t>• Quick example: a stock with no trend at all. Its log still drifts down, by half sigma squared. Noise plus curvature makes drift.</a:t>
            </a:r>
            <a:br>
              <a:rPr lang="en-US"/>
            </a:br>
            <a:r>
              <a:rPr lang="en-US"/>
              <a:t>• There's another convention, called Stratonovich, that keeps the normal chain rule. It comes back on slide 13.</a:t>
            </a:r>
            <a:br>
              <a:rPr lang="en-US"/>
            </a:br>
            <a:br>
              <a:rPr lang="en-US"/>
            </a:br>
            <a:r>
              <a:rPr lang="en-US"/>
              <a:t>IF ASKED — Itô to Stratonovich? The drift changes by −½ Σⱼ (∂σⱼ/∂z) σⱼ; no change if σ doesn't depend on the state.</a:t>
            </a:r>
            <a:endParaRPr/>
          </a:p>
        </p:txBody>
      </p:sp>
      <p:sp>
        <p:nvSpPr>
          <p:cNvPr id="160" name="Google Shape;160;h60cdd362965d0808_1_12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h60cdd362965d0808_1_14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h60cdd362965d0808_1_14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[11:40 – 12:50]</a:t>
            </a:r>
            <a:br>
              <a:rPr lang="en-US"/>
            </a:br>
            <a:r>
              <a:rPr lang="en-US"/>
              <a:t>• How do we simulate one of these? Euler's method, plus a random kick. It's called Euler–Maruyama.</a:t>
            </a:r>
            <a:br>
              <a:rPr lang="en-US"/>
            </a:br>
            <a:r>
              <a:rPr lang="en-US"/>
              <a:t>• Read the equation as: next equals now, plus a drift step, plus a random kick.</a:t>
            </a:r>
            <a:br>
              <a:rPr lang="en-US"/>
            </a:br>
            <a:r>
              <a:rPr lang="en-US"/>
              <a:t>• The kick is sigma, times root delta-t, times a random normal number.</a:t>
            </a:r>
            <a:br>
              <a:rPr lang="en-US"/>
            </a:br>
            <a:r>
              <a:rPr lang="en-US"/>
              <a:t>• Why root delta-t? From the last slide: that's the size of a Brownian kick.</a:t>
            </a:r>
            <a:br>
              <a:rPr lang="en-US"/>
            </a:br>
            <a:r>
              <a:rPr lang="en-US"/>
              <a:t>• In code it's three lines: draw a random number, take the drift step, add the kick.</a:t>
            </a:r>
            <a:br>
              <a:rPr lang="en-US"/>
            </a:br>
            <a:r>
              <a:rPr lang="en-US"/>
              <a:t>• The animation shows many runs from the same start. Each run gets different random numbers.</a:t>
            </a:r>
            <a:br>
              <a:rPr lang="en-US"/>
            </a:br>
            <a:r>
              <a:rPr lang="en-US"/>
              <a:t>• One run gives you one future. Many runs give you the whole spread.</a:t>
            </a:r>
            <a:br>
              <a:rPr lang="en-US"/>
            </a:br>
            <a:br>
              <a:rPr lang="en-US"/>
            </a:br>
            <a:r>
              <a:rPr lang="en-US"/>
              <a:t>IF ASKED — accuracy? Single paths converge like √Δt, averages like Δt. Better solvers: Milstein, Heun, reversible Heun.</a:t>
            </a:r>
            <a:endParaRPr/>
          </a:p>
        </p:txBody>
      </p:sp>
      <p:sp>
        <p:nvSpPr>
          <p:cNvPr id="177" name="Google Shape;177;h60cdd362965d0808_1_14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h60cdd362965d0808_1_15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2" name="Google Shape;192;h60cdd362965d0808_1_15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[12:50 – 14:20]</a:t>
            </a:r>
            <a:br>
              <a:rPr lang="en-US"/>
            </a:br>
            <a:r>
              <a:rPr lang="en-US"/>
              <a:t>• Now, training. How do you backprop through something random?</a:t>
            </a:r>
            <a:br>
              <a:rPr lang="en-US"/>
            </a:br>
            <a:r>
              <a:rPr lang="en-US"/>
              <a:t>• The trick is to roll all the dice first.</a:t>
            </a:r>
            <a:br>
              <a:rPr lang="en-US"/>
            </a:br>
            <a:r>
              <a:rPr lang="en-US"/>
              <a:t>• Look at the diagram. Theta goes through K solver steps to a loss. Each step takes in a random number, epsilon.</a:t>
            </a:r>
            <a:br>
              <a:rPr lang="en-US"/>
            </a:br>
            <a:r>
              <a:rPr lang="en-US"/>
              <a:t>• If we draw all the epsilons first and hold them fixed, the whole run is an ordinary function of theta.</a:t>
            </a:r>
            <a:br>
              <a:rPr lang="en-US"/>
            </a:br>
            <a:r>
              <a:rPr lang="en-US"/>
              <a:t>• That's the first equation. The final state is a plain function F of the weights and the noise.</a:t>
            </a:r>
            <a:br>
              <a:rPr lang="en-US"/>
            </a:br>
            <a:r>
              <a:rPr lang="en-US"/>
              <a:t>• The second equation: do N runs with different noise, and average their gradients.</a:t>
            </a:r>
            <a:br>
              <a:rPr lang="en-US"/>
            </a:br>
            <a:r>
              <a:rPr lang="en-US"/>
              <a:t>• Then we just call autodiff. Gradients flow back through every step, along the red arrow.</a:t>
            </a:r>
            <a:br>
              <a:rPr lang="en-US"/>
            </a:br>
            <a:r>
              <a:rPr lang="en-US"/>
              <a:t>• This is the reparameterization trick from VAEs, used at every time step.</a:t>
            </a:r>
            <a:br>
              <a:rPr lang="en-US"/>
            </a:br>
            <a:r>
              <a:rPr lang="en-US"/>
              <a:t>• It only works when the loss is smooth in the path. I'll show where it breaks near the end.</a:t>
            </a:r>
            <a:br>
              <a:rPr lang="en-US"/>
            </a:br>
            <a:br>
              <a:rPr lang="en-US"/>
            </a:br>
            <a:r>
              <a:rPr lang="en-US"/>
              <a:t>IF ASKED — any other way? Score-function gradients: work for any loss, but very noisy.</a:t>
            </a:r>
            <a:endParaRPr/>
          </a:p>
        </p:txBody>
      </p:sp>
      <p:sp>
        <p:nvSpPr>
          <p:cNvPr id="193" name="Google Shape;193;h60cdd362965d0808_1_15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h60cdd362965d0808_1_2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9" name="Google Shape;229;h60cdd362965d0808_1_2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[15:50 – 16:40] — SKIP-IF-SHORT.</a:t>
            </a:r>
            <a:br>
              <a:rPr lang="en-US"/>
            </a:br>
            <a:r>
              <a:rPr lang="en-US"/>
              <a:t>• Where is this used?</a:t>
            </a:r>
            <a:br>
              <a:rPr lang="en-US"/>
            </a:br>
            <a:r>
              <a:rPr lang="en-US"/>
              <a:t>• The best-known case is diffusion models, the image generators. A fixed SDE turns images into noise. A learned SDE turns noise back into images.</a:t>
            </a:r>
            <a:br>
              <a:rPr lang="en-US"/>
            </a:br>
            <a:r>
              <a:rPr lang="en-US"/>
              <a:t>• The same idea shows up in weather, like DeepMind's GenCast, in robot control, and in finance.</a:t>
            </a:r>
            <a:br>
              <a:rPr lang="en-US"/>
            </a:br>
            <a:r>
              <a:rPr lang="en-US"/>
              <a:t>• One difference: diffusion models fix the noise level. When you learn the noise, like we do here, you backprop through the solver.</a:t>
            </a:r>
            <a:br>
              <a:rPr lang="en-US"/>
            </a:br>
            <a:r>
              <a:rPr lang="en-US"/>
              <a:t>• The last row is our example.</a:t>
            </a:r>
            <a:endParaRPr/>
          </a:p>
        </p:txBody>
      </p:sp>
      <p:sp>
        <p:nvSpPr>
          <p:cNvPr id="230" name="Google Shape;230;h60cdd362965d0808_1_2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h60cdd362965d0808_1_2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2" name="Google Shape;242;h60cdd362965d0808_1_2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[16:40 – 18:10]</a:t>
            </a:r>
            <a:br>
              <a:rPr lang="en-US"/>
            </a:br>
            <a:r>
              <a:rPr lang="en-US"/>
              <a:t>• Here's the example. It's a 2024 food-science paper by Xavier, Rodrigues and Silva.</a:t>
            </a:r>
            <a:br>
              <a:rPr lang="en-US"/>
            </a:br>
            <a:r>
              <a:rPr lang="en-US"/>
              <a:t>• They photographed 478 avocados every day. Each photo got a ripeness stage from 1 to 5. Stage 5 means spoiled.</a:t>
            </a:r>
            <a:br>
              <a:rPr lang="en-US"/>
            </a:br>
            <a:r>
              <a:rPr lang="en-US"/>
              <a:t>• Their model is a CNN that reads the stage from a photo, plus a straight line that turns it into days left.</a:t>
            </a:r>
            <a:br>
              <a:rPr lang="en-US"/>
            </a:br>
            <a:r>
              <a:rPr lang="en-US"/>
              <a:t>• It's about a day off on average, and it gives one number with no uncertainty.</a:t>
            </a:r>
            <a:br>
              <a:rPr lang="en-US"/>
            </a:br>
            <a:r>
              <a:rPr lang="en-US"/>
              <a:t>• As a neural SDE: the state Z is ripeness. The drift is ripening speed, which is faster when it's warm. The diffusion is how much fruits differ from each other.</a:t>
            </a:r>
            <a:br>
              <a:rPr lang="en-US"/>
            </a:br>
            <a:r>
              <a:rPr lang="en-US"/>
              <a:t>• Shelf life is the first time a path hits stage 5. Each path hits on a different day.</a:t>
            </a:r>
            <a:br>
              <a:rPr lang="en-US"/>
            </a:br>
            <a:r>
              <a:rPr lang="en-US"/>
              <a:t>• So we get a probability. Here, 75 percent are spoiled by day 10 at 20 degrees. Only 5 percent at 10 degrees.</a:t>
            </a:r>
            <a:br>
              <a:rPr lang="en-US"/>
            </a:br>
            <a:r>
              <a:rPr lang="en-US"/>
              <a:t>• To be clear: this uses the paper's ripening speeds and a noise level I picked. It's an illustration, not a trained model.</a:t>
            </a:r>
            <a:br>
              <a:rPr lang="en-US"/>
            </a:br>
            <a:br>
              <a:rPr lang="en-US"/>
            </a:br>
            <a:r>
              <a:rPr lang="en-US"/>
              <a:t>IF ASKED — fitting it to the photos? A latent SDE: a VAE whose hidden variable is a path (A1).</a:t>
            </a:r>
            <a:br>
              <a:rPr lang="en-US"/>
            </a:br>
            <a:r>
              <a:rPr lang="en-US"/>
              <a:t>IF ASKED — temperature effect? 10 → 20 °C roughly doubles ripening speed; Arrhenius gives Eₐ ≈ 50 kJ/mol (A3).</a:t>
            </a:r>
            <a:endParaRPr/>
          </a:p>
        </p:txBody>
      </p:sp>
      <p:sp>
        <p:nvSpPr>
          <p:cNvPr id="243" name="Google Shape;243;h60cdd362965d0808_1_2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h60cdd362965d0808_1_26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3" name="Google Shape;263;h60cdd362965d0808_1_26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[19:30 – 20:40]</a:t>
            </a:r>
            <a:br>
              <a:rPr lang="en-US"/>
            </a:br>
            <a:r>
              <a:rPr lang="en-US"/>
              <a:t>• To wrap up.</a:t>
            </a:r>
            <a:br>
              <a:rPr lang="en-US"/>
            </a:br>
            <a:r>
              <a:rPr lang="en-US"/>
              <a:t>• Neural ODEs are ResNets with infinitely many tiny layers.</a:t>
            </a:r>
            <a:br>
              <a:rPr lang="en-US"/>
            </a:br>
            <a:r>
              <a:rPr lang="en-US"/>
              <a:t>• We train them with backprop, which stores every step, or with the adjoint, which doesn't.</a:t>
            </a:r>
            <a:br>
              <a:rPr lang="en-US"/>
            </a:br>
            <a:r>
              <a:rPr lang="en-US"/>
              <a:t>• Neural SDEs add learned noise, so we get a spread of futures.</a:t>
            </a:r>
            <a:br>
              <a:rPr lang="en-US"/>
            </a:br>
            <a:r>
              <a:rPr lang="en-US"/>
              <a:t>• To train them, we fix the noise, then use backprop or the adjoint.</a:t>
            </a:r>
            <a:br>
              <a:rPr lang="en-US"/>
            </a:br>
            <a:r>
              <a:rPr lang="en-US"/>
              <a:t>• A few limits, on the right. The adjoint's gradient is approximate.</a:t>
            </a:r>
            <a:br>
              <a:rPr lang="en-US"/>
            </a:br>
            <a:r>
              <a:rPr lang="en-US"/>
              <a:t>• Learned dynamics can get stiff, which means lots of tiny steps.</a:t>
            </a:r>
            <a:br>
              <a:rPr lang="en-US"/>
            </a:br>
            <a:r>
              <a:rPr lang="en-US"/>
              <a:t>• Yes-or-no targets need one of those fixes.</a:t>
            </a:r>
            <a:br>
              <a:rPr lang="en-US"/>
            </a:br>
            <a:r>
              <a:rPr lang="en-US"/>
              <a:t>• And with little data, drift and noise are hard to tell apart.</a:t>
            </a:r>
            <a:br>
              <a:rPr lang="en-US"/>
            </a:br>
            <a:r>
              <a:rPr lang="en-US"/>
              <a:t>• Thank you for listening. I'm happy to take questions.</a:t>
            </a:r>
            <a:endParaRPr/>
          </a:p>
        </p:txBody>
      </p:sp>
      <p:sp>
        <p:nvSpPr>
          <p:cNvPr id="264" name="Google Shape;264;h60cdd362965d0808_1_26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h60cdd362965d0808_1_2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6" name="Google Shape;276;h60cdd362965d0808_1_27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[20:40 – 25:00] — questions until the hard stop.</a:t>
            </a:r>
            <a:br>
              <a:rPr lang="en-US"/>
            </a:br>
            <a:r>
              <a:rPr lang="en-US"/>
              <a:t>• Leave this up while taking questions. The appendix (A1–A5) is for specific follow-ups.</a:t>
            </a:r>
            <a:endParaRPr/>
          </a:p>
        </p:txBody>
      </p:sp>
      <p:sp>
        <p:nvSpPr>
          <p:cNvPr id="277" name="Google Shape;277;h60cdd362965d0808_1_27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h60cdd362965d0808_1_28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" name="Google Shape;286;h60cdd362965d0808_1_28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Appendix A1. How to fit a neural SDE to observations (Li et al., 2020).</a:t>
            </a:r>
            <a:br>
              <a:rPr lang="en-US"/>
            </a:br>
            <a:r>
              <a:rPr lang="en-US"/>
              <a:t>• A latent SDE is a VAE whose hidden variable is a whole path instead of one vector.</a:t>
            </a:r>
            <a:br>
              <a:rPr lang="en-US"/>
            </a:br>
            <a:r>
              <a:rPr lang="en-US"/>
              <a:t>• The prior is the model we forecast with. The posterior is the same model, but its drift can look at the data. Both share the same σ.</a:t>
            </a:r>
            <a:br>
              <a:rPr lang="en-US"/>
            </a:br>
            <a:r>
              <a:rPr lang="en-US"/>
              <a:t>• Train on the ELBO: how well posterior paths explain the data, minus a penalty for straying from the prior.</a:t>
            </a:r>
            <a:br>
              <a:rPr lang="en-US"/>
            </a:br>
            <a:r>
              <a:rPr lang="en-US"/>
              <a:t>• Girsanov: with the same noise, the penalty is the squared drift difference (scaled by σ), integrated over time.</a:t>
            </a:r>
            <a:br>
              <a:rPr lang="en-US"/>
            </a:br>
            <a:r>
              <a:rPr lang="en-US"/>
              <a:t>• In code, add that term as one more state the solver integrates, then backprop. After the last observation, switch to the prior to forecast.</a:t>
            </a:r>
            <a:br>
              <a:rPr lang="en-US"/>
            </a:br>
            <a:r>
              <a:rPr lang="en-US"/>
              <a:t>IF ASKED — why must σ match? Otherwise the two path distributions don't overlap and the KL is infinite.</a:t>
            </a:r>
            <a:endParaRPr/>
          </a:p>
        </p:txBody>
      </p:sp>
      <p:sp>
        <p:nvSpPr>
          <p:cNvPr id="287" name="Google Shape;287;h60cdd362965d0808_1_28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h60cdd362965d0808_1_30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4" name="Google Shape;304;h60cdd362965d0808_1_30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Appendix A2. Derivation of slide 7.</a:t>
            </a:r>
            <a:br>
              <a:rPr lang="en-US"/>
            </a:br>
            <a:r>
              <a:rPr lang="en-US"/>
              <a:t>• On any solution ż − f = 0, so adding ∫ λ(ż − f) dt doesn't change the loss, for any λ(t).</a:t>
            </a:r>
            <a:br>
              <a:rPr lang="en-US"/>
            </a:br>
            <a:r>
              <a:rPr lang="en-US"/>
              <a:t>• Differentiate in θ; the hard term is ∂z/∂θ along the whole path.</a:t>
            </a:r>
            <a:br>
              <a:rPr lang="en-US"/>
            </a:br>
            <a:r>
              <a:rPr lang="en-US"/>
              <a:t>• Integrate by parts and choose λ(t) so every ∂z/∂θ term cancels: that choice is the adjoint ODE with λ(T) = ∂L/∂z(T). What remains is the gradient formula.</a:t>
            </a:r>
            <a:br>
              <a:rPr lang="en-US"/>
            </a:br>
            <a:r>
              <a:rPr lang="en-US"/>
              <a:t>IF ASKED — initial state depends on θ? Add λ(0) ∂z(0)/∂θ.</a:t>
            </a:r>
            <a:endParaRPr/>
          </a:p>
        </p:txBody>
      </p:sp>
      <p:sp>
        <p:nvSpPr>
          <p:cNvPr id="305" name="Google Shape;305;h60cdd362965d0808_1_30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h60cdd362965d0808_1_3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9" name="Google Shape;319;h60cdd362965d0808_1_3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Appendix A3. All inputs from the paper's Table 4 and storage description; computations are mine.</a:t>
            </a:r>
            <a:endParaRPr/>
          </a:p>
        </p:txBody>
      </p:sp>
      <p:sp>
        <p:nvSpPr>
          <p:cNvPr id="320" name="Google Shape;320;h60cdd362965d0808_1_3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h60cdd362965d0808_1_3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0" name="Google Shape;330;h60cdd362965d0808_1_3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Appendix A4. Standard Brownian-bridge (continuity) correction from barrier-option pricing; removes discrete-monitoring bias for the frozen-coefficient interpolant; solver weak error remains.</a:t>
            </a:r>
            <a:endParaRPr/>
          </a:p>
        </p:txBody>
      </p:sp>
      <p:sp>
        <p:nvSpPr>
          <p:cNvPr id="331" name="Google Shape;331;h60cdd362965d0808_1_3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h60cdd362965d0808_1_24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5" name="Google Shape;345;h60cdd362965d0808_1_24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[18:10 – 19:30]</a:t>
            </a:r>
            <a:br>
              <a:rPr lang="en-US"/>
            </a:br>
            <a:r>
              <a:rPr lang="en-US"/>
              <a:t>• This example also shows a real training problem.</a:t>
            </a:r>
            <a:br>
              <a:rPr lang="en-US"/>
            </a:br>
            <a:r>
              <a:rPr lang="en-US"/>
              <a:t>• We care about a yes-or-no event: is it spoiled by Friday?</a:t>
            </a:r>
            <a:br>
              <a:rPr lang="en-US"/>
            </a:br>
            <a:r>
              <a:rPr lang="en-US"/>
              <a:t>• For one path, the answer is just yes or no.</a:t>
            </a:r>
            <a:br>
              <a:rPr lang="en-US"/>
            </a:br>
            <a:r>
              <a:rPr lang="en-US"/>
              <a:t>• The gray lines show one path's answer as we change a parameter. It jumps from no to yes, and it's flat everywhere else. So its gradient is zero.</a:t>
            </a:r>
            <a:br>
              <a:rPr lang="en-US"/>
            </a:br>
            <a:r>
              <a:rPr lang="en-US"/>
              <a:t>• The red line is the average over many paths. It's smooth, and that's what we want the gradient of.</a:t>
            </a:r>
            <a:br>
              <a:rPr lang="en-US"/>
            </a:br>
            <a:r>
              <a:rPr lang="en-US"/>
              <a:t>• But slide 12's trick works one path at a time, so it returns zero. That's not a noisy gradient. It's a wrong one.</a:t>
            </a:r>
            <a:br>
              <a:rPr lang="en-US"/>
            </a:br>
            <a:r>
              <a:rPr lang="en-US"/>
              <a:t>• There are three fixes. Smooth the yes-or-no with a sigmoid. Compute the chance of crossing between two steps. Or use score-function gradients.</a:t>
            </a:r>
            <a:br>
              <a:rPr lang="en-US"/>
            </a:br>
            <a:r>
              <a:rPr lang="en-US"/>
              <a:t>• I'd use the crossing probability, because it's exact for each step.</a:t>
            </a:r>
            <a:br>
              <a:rPr lang="en-US"/>
            </a:br>
            <a:br>
              <a:rPr lang="en-US"/>
            </a:br>
            <a:r>
              <a:rPr lang="en-US"/>
              <a:t>IF ASKED — crossing formula? exp(−2(b−q_k)(b−q_{k+1})/(σ²Δt)) (A4).</a:t>
            </a:r>
            <a:endParaRPr/>
          </a:p>
        </p:txBody>
      </p:sp>
      <p:sp>
        <p:nvSpPr>
          <p:cNvPr id="346" name="Google Shape;346;h60cdd362965d0808_1_24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solidFill>
          <a:srgbClr val="FFFFFF"/>
        </a:solidFill>
      </p:bgPr>
    </p:bg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">
  <p:cSld name="CONTENT">
    <p:bg>
      <p:bgPr>
        <a:solidFill>
          <a:srgbClr val="FFFFFF"/>
        </a:solid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6"/>
          <p:cNvSpPr txBox="1"/>
          <p:nvPr>
            <p:ph idx="1" type="body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190"/>
              </a:spcBef>
              <a:spcAft>
                <a:spcPts val="0"/>
              </a:spcAft>
              <a:buClr>
                <a:schemeClr val="dk2"/>
              </a:buClr>
              <a:buSzPts val="950"/>
              <a:buFont typeface="Arial"/>
              <a:buNone/>
              <a:defRPr b="1" i="0" sz="95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6"/>
          <p:cNvSpPr txBox="1"/>
          <p:nvPr>
            <p:ph type="title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  <a:defRPr b="1" i="0" sz="2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6"/>
          <p:cNvSpPr txBox="1"/>
          <p:nvPr>
            <p:ph idx="12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sz="9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">
  <p:cSld name="CONTENT">
    <p:bg>
      <p:bgPr>
        <a:solidFill>
          <a:srgbClr val="FFFFFF"/>
        </a:solid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h57f36f7930e389a_3_3"/>
          <p:cNvSpPr txBox="1"/>
          <p:nvPr>
            <p:ph idx="1" type="body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190"/>
              </a:spcBef>
              <a:spcAft>
                <a:spcPts val="0"/>
              </a:spcAft>
              <a:buClr>
                <a:schemeClr val="dk2"/>
              </a:buClr>
              <a:buSzPts val="950"/>
              <a:buFont typeface="Arial"/>
              <a:buNone/>
              <a:defRPr b="1" i="0" sz="95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h57f36f7930e389a_3_3"/>
          <p:cNvSpPr txBox="1"/>
          <p:nvPr>
            <p:ph type="title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  <a:defRPr b="1" i="0" sz="2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9" name="Google Shape;19;h57f36f7930e389a_3_3"/>
          <p:cNvSpPr txBox="1"/>
          <p:nvPr>
            <p:ph idx="12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4"/>
          <p:cNvSpPr txBox="1"/>
          <p:nvPr>
            <p:ph idx="12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h57f36f7930e389a_3_0"/>
          <p:cNvSpPr txBox="1"/>
          <p:nvPr>
            <p:ph idx="12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1"/>
    <p:sldLayoutId id="2147483654" r:id="rId2"/>
    <p:sldLayoutId id="2147483655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.png"/><Relationship Id="rId4" Type="http://schemas.openxmlformats.org/officeDocument/2006/relationships/image" Target="../media/image24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22.png"/><Relationship Id="rId5" Type="http://schemas.openxmlformats.org/officeDocument/2006/relationships/image" Target="../media/image4.png"/><Relationship Id="rId6" Type="http://schemas.openxmlformats.org/officeDocument/2006/relationships/image" Target="../media/image37.gif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23.png"/><Relationship Id="rId6" Type="http://schemas.openxmlformats.org/officeDocument/2006/relationships/image" Target="../media/image2.gif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5.png"/><Relationship Id="rId4" Type="http://schemas.openxmlformats.org/officeDocument/2006/relationships/image" Target="../media/image1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8.png"/><Relationship Id="rId4" Type="http://schemas.openxmlformats.org/officeDocument/2006/relationships/image" Target="../media/image1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image" Target="../media/image21.gif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6.png"/><Relationship Id="rId4" Type="http://schemas.openxmlformats.org/officeDocument/2006/relationships/image" Target="../media/image2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jpg"/><Relationship Id="rId4" Type="http://schemas.openxmlformats.org/officeDocument/2006/relationships/image" Target="../media/image2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7.png"/><Relationship Id="rId4" Type="http://schemas.openxmlformats.org/officeDocument/2006/relationships/image" Target="../media/image29.png"/><Relationship Id="rId5" Type="http://schemas.openxmlformats.org/officeDocument/2006/relationships/image" Target="../media/image26.png"/><Relationship Id="rId6" Type="http://schemas.openxmlformats.org/officeDocument/2006/relationships/image" Target="../media/image3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1.png"/><Relationship Id="rId4" Type="http://schemas.openxmlformats.org/officeDocument/2006/relationships/image" Target="../media/image3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2.png"/><Relationship Id="rId4" Type="http://schemas.openxmlformats.org/officeDocument/2006/relationships/image" Target="../media/image3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title_paths.png" id="26" name="Google Shape;26;h60cdd362965d0808_1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46320" y="1234440"/>
            <a:ext cx="3840480" cy="2688336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h60cdd362965d0808_1_0"/>
          <p:cNvSpPr txBox="1"/>
          <p:nvPr/>
        </p:nvSpPr>
        <p:spPr>
          <a:xfrm>
            <a:off x="548640" y="1417320"/>
            <a:ext cx="54864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F2328"/>
                </a:solidFill>
                <a:latin typeface="Arial"/>
                <a:ea typeface="Arial"/>
                <a:cs typeface="Arial"/>
                <a:sym typeface="Arial"/>
              </a:rPr>
              <a:t>Neural SDEs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h60cdd362965d0808_1_0"/>
          <p:cNvSpPr/>
          <p:nvPr/>
        </p:nvSpPr>
        <p:spPr>
          <a:xfrm>
            <a:off x="566928" y="2286000"/>
            <a:ext cx="640080" cy="45720"/>
          </a:xfrm>
          <a:prstGeom prst="rect">
            <a:avLst/>
          </a:prstGeom>
          <a:solidFill>
            <a:srgbClr val="C8102E"/>
          </a:solidFill>
          <a:ln cap="flat" cmpd="sng" w="12700">
            <a:solidFill>
              <a:srgbClr val="C810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h60cdd362965d0808_1_0"/>
          <p:cNvSpPr txBox="1"/>
          <p:nvPr/>
        </p:nvSpPr>
        <p:spPr>
          <a:xfrm>
            <a:off x="548640" y="24688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Learning random dynamics, with a produce-decay example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h60cdd362965d0808_1_0"/>
          <p:cNvSpPr txBox="1"/>
          <p:nvPr/>
        </p:nvSpPr>
        <p:spPr>
          <a:xfrm>
            <a:off x="548640" y="388620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Nishad Wajge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h60cdd362965d0808_1_0"/>
          <p:cNvSpPr txBox="1"/>
          <p:nvPr/>
        </p:nvSpPr>
        <p:spPr>
          <a:xfrm>
            <a:off x="548640" y="416052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Fall 2026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h60cdd362965d0808_1_11"/>
          <p:cNvSpPr txBox="1"/>
          <p:nvPr>
            <p:ph idx="1" type="body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50"/>
              <a:buNone/>
            </a:pPr>
            <a:r>
              <a:rPr b="1" lang="en-US" sz="950">
                <a:solidFill>
                  <a:schemeClr val="dk2"/>
                </a:solidFill>
              </a:rPr>
              <a:t>MOTIVATION</a:t>
            </a:r>
            <a:endParaRPr sz="950"/>
          </a:p>
        </p:txBody>
      </p:sp>
      <p:sp>
        <p:nvSpPr>
          <p:cNvPr id="38" name="Google Shape;38;h60cdd362965d0808_1_11"/>
          <p:cNvSpPr txBox="1"/>
          <p:nvPr>
            <p:ph type="title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b="1" lang="en-US" sz="2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Why Neural SDEs?</a:t>
            </a:r>
            <a:endParaRPr sz="2500"/>
          </a:p>
        </p:txBody>
      </p:sp>
      <p:cxnSp>
        <p:nvCxnSpPr>
          <p:cNvPr id="39" name="Google Shape;39;h60cdd362965d0808_1_11"/>
          <p:cNvCxnSpPr/>
          <p:nvPr/>
        </p:nvCxnSpPr>
        <p:spPr>
          <a:xfrm>
            <a:off x="457200" y="4370832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" name="Google Shape;40;h60cdd362965d0808_1_11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r>
              <a:rPr b="1" i="0" lang="en-US" sz="12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preads of possible futures, not one guess.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h60cdd362965d0808_1_11"/>
          <p:cNvSpPr txBox="1"/>
          <p:nvPr/>
        </p:nvSpPr>
        <p:spPr>
          <a:xfrm>
            <a:off x="457200" y="1325880"/>
            <a:ext cx="493776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03200" lvl="0" marL="20320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900"/>
              <a:buFont typeface="Calibri"/>
              <a:buChar char="•"/>
            </a:pPr>
            <a:r>
              <a:rPr b="0" i="0" lang="en-US" sz="19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Systems evolve with randomness.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203200" marR="0" rtl="0" algn="l">
              <a:spcBef>
                <a:spcPts val="1260"/>
              </a:spcBef>
              <a:spcAft>
                <a:spcPts val="0"/>
              </a:spcAft>
              <a:buClr>
                <a:srgbClr val="1F2328"/>
              </a:buClr>
              <a:buSzPts val="1900"/>
              <a:buFont typeface="Calibri"/>
              <a:buChar char="•"/>
            </a:pPr>
            <a:r>
              <a:rPr b="0" i="0" lang="en-US" sz="19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Same start, different outcomes.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203200" marR="0" rtl="0" algn="l">
              <a:spcBef>
                <a:spcPts val="1260"/>
              </a:spcBef>
              <a:spcAft>
                <a:spcPts val="0"/>
              </a:spcAft>
              <a:buClr>
                <a:srgbClr val="1F2328"/>
              </a:buClr>
              <a:buSzPts val="1900"/>
              <a:buFont typeface="Calibri"/>
              <a:buChar char="•"/>
            </a:pPr>
            <a:r>
              <a:rPr b="0" i="0" lang="en-US" sz="19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Learn the dynamics from data.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203200" marR="0" rtl="0" algn="l">
              <a:spcBef>
                <a:spcPts val="1260"/>
              </a:spcBef>
              <a:spcAft>
                <a:spcPts val="0"/>
              </a:spcAft>
              <a:buClr>
                <a:srgbClr val="1F2328"/>
              </a:buClr>
              <a:buSzPts val="1900"/>
              <a:buFont typeface="Calibri"/>
              <a:buChar char="•"/>
            </a:pPr>
            <a:r>
              <a:rPr b="0" i="0" lang="en-US" sz="19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Problem: P(spoiled by Friday)?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sde_paths.png" id="42" name="Google Shape;42;h60cdd362965d0808_1_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77840" y="1188720"/>
            <a:ext cx="3108960" cy="2220686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h60cdd362965d0808_1_11"/>
          <p:cNvSpPr txBox="1"/>
          <p:nvPr/>
        </p:nvSpPr>
        <p:spPr>
          <a:xfrm>
            <a:off x="5577840" y="3429000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Calibri"/>
              <a:buNone/>
            </a:pPr>
            <a:r>
              <a:rPr b="0" i="1" lang="en-US" sz="8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Many sampled futures (gray), one highlighted (red).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h60cdd362965d0808_1_11"/>
          <p:cNvSpPr txBox="1"/>
          <p:nvPr>
            <p:ph idx="4294967295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9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h60cdd362965d0808_1_23"/>
          <p:cNvSpPr txBox="1"/>
          <p:nvPr>
            <p:ph idx="1" type="body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50"/>
              <a:buNone/>
            </a:pPr>
            <a:r>
              <a:rPr b="1" lang="en-US" sz="950">
                <a:solidFill>
                  <a:schemeClr val="dk2"/>
                </a:solidFill>
              </a:rPr>
              <a:t>PART 1  ·  NEURAL ODEs</a:t>
            </a:r>
            <a:endParaRPr sz="950"/>
          </a:p>
        </p:txBody>
      </p:sp>
      <p:sp>
        <p:nvSpPr>
          <p:cNvPr id="51" name="Google Shape;51;h60cdd362965d0808_1_23"/>
          <p:cNvSpPr txBox="1"/>
          <p:nvPr>
            <p:ph type="title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-US"/>
              <a:t>Ordinary Differential Equations (</a:t>
            </a:r>
            <a:r>
              <a:rPr b="1" lang="en-US" sz="2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ODEs)</a:t>
            </a:r>
            <a:endParaRPr sz="2500"/>
          </a:p>
        </p:txBody>
      </p:sp>
      <p:cxnSp>
        <p:nvCxnSpPr>
          <p:cNvPr id="52" name="Google Shape;52;h60cdd362965d0808_1_23"/>
          <p:cNvCxnSpPr/>
          <p:nvPr/>
        </p:nvCxnSpPr>
        <p:spPr>
          <a:xfrm>
            <a:off x="457200" y="4370832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3" name="Google Shape;53;h60cdd362965d0808_1_23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Arrows guide movement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9_ode_bg.png" id="54" name="Google Shape;54;h60cdd362965d0808_1_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188720"/>
            <a:ext cx="4206240" cy="2628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g/v9_ivp.png" id="55" name="Google Shape;55;h60cdd362965d0808_1_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37760" y="1280160"/>
            <a:ext cx="1329080" cy="318668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h60cdd362965d0808_1_23"/>
          <p:cNvSpPr txBox="1"/>
          <p:nvPr/>
        </p:nvSpPr>
        <p:spPr>
          <a:xfrm>
            <a:off x="4937760" y="1664208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b="0" i="0" lang="en-US" sz="11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f is the arrows: which way z moves now.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9_ivpsol.png" id="57" name="Google Shape;57;h60cdd362965d0808_1_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37760" y="2057400"/>
            <a:ext cx="2888742" cy="663245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h60cdd362965d0808_1_23"/>
          <p:cNvSpPr txBox="1"/>
          <p:nvPr/>
        </p:nvSpPr>
        <p:spPr>
          <a:xfrm>
            <a:off x="4937760" y="2724912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b="0" i="0" lang="en-US" sz="11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End = start + every small change on the way.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9_euler.png" id="59" name="Google Shape;59;h60cdd362965d0808_1_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937760" y="3154680"/>
            <a:ext cx="2637434" cy="279806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h60cdd362965d0808_1_23"/>
          <p:cNvSpPr txBox="1"/>
          <p:nvPr/>
        </p:nvSpPr>
        <p:spPr>
          <a:xfrm>
            <a:off x="4937760" y="3520440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b="0" i="0" lang="en-US" sz="11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Step a little along the arrow, then repeat.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h60cdd362965d0808_1_23"/>
          <p:cNvSpPr txBox="1"/>
          <p:nvPr>
            <p:ph idx="4294967295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9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h60cdd362965d0808_1_39"/>
          <p:cNvSpPr txBox="1"/>
          <p:nvPr>
            <p:ph idx="1" type="body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50"/>
              <a:buNone/>
            </a:pPr>
            <a:r>
              <a:rPr b="1" lang="en-US" sz="950">
                <a:solidFill>
                  <a:schemeClr val="dk2"/>
                </a:solidFill>
              </a:rPr>
              <a:t>PART 1  ·  NEURAL ODEs</a:t>
            </a:r>
            <a:endParaRPr sz="950"/>
          </a:p>
        </p:txBody>
      </p:sp>
      <p:sp>
        <p:nvSpPr>
          <p:cNvPr id="68" name="Google Shape;68;h60cdd362965d0808_1_39"/>
          <p:cNvSpPr txBox="1"/>
          <p:nvPr>
            <p:ph type="title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b="1" lang="en-US" sz="2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ResNets Are Euler Steps</a:t>
            </a:r>
            <a:endParaRPr sz="2500"/>
          </a:p>
        </p:txBody>
      </p:sp>
      <p:cxnSp>
        <p:nvCxnSpPr>
          <p:cNvPr id="69" name="Google Shape;69;h60cdd362965d0808_1_39"/>
          <p:cNvCxnSpPr/>
          <p:nvPr/>
        </p:nvCxnSpPr>
        <p:spPr>
          <a:xfrm>
            <a:off x="457200" y="4370832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" name="Google Shape;70;h60cdd362965d0808_1_39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b="1" i="0" lang="en-US" sz="12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 ResNet is Euler's method with step size 1.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h60cdd362965d0808_1_39"/>
          <p:cNvSpPr/>
          <p:nvPr/>
        </p:nvSpPr>
        <p:spPr>
          <a:xfrm>
            <a:off x="457200" y="1325880"/>
            <a:ext cx="4663440" cy="1828800"/>
          </a:xfrm>
          <a:prstGeom prst="roundRect">
            <a:avLst>
              <a:gd fmla="val 2500" name="adj"/>
            </a:avLst>
          </a:prstGeom>
          <a:solidFill>
            <a:srgbClr val="F5F6F7"/>
          </a:solidFill>
          <a:ln cap="flat" cmpd="sng" w="12700">
            <a:solidFill>
              <a:srgbClr val="F5F6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h60cdd362965d0808_1_39"/>
          <p:cNvSpPr txBox="1"/>
          <p:nvPr/>
        </p:nvSpPr>
        <p:spPr>
          <a:xfrm>
            <a:off x="594360" y="1444752"/>
            <a:ext cx="448056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1F2328"/>
                </a:solidFill>
                <a:latin typeface="Courier New"/>
                <a:ea typeface="Courier New"/>
                <a:cs typeface="Courier New"/>
                <a:sym typeface="Courier New"/>
              </a:rPr>
              <a:t>def f(z, t, params):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1F2328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mlp([z, t], params)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1F2328"/>
                </a:solidFill>
                <a:latin typeface="Courier New"/>
                <a:ea typeface="Courier New"/>
                <a:cs typeface="Courier New"/>
                <a:sym typeface="Courier New"/>
              </a:rPr>
              <a:t>def resnet(z, params):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1F2328"/>
                </a:solidFill>
                <a:latin typeface="Courier New"/>
                <a:ea typeface="Courier New"/>
                <a:cs typeface="Courier New"/>
                <a:sym typeface="Courier New"/>
              </a:rPr>
              <a:t>    for t in range(T):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1F2328"/>
                </a:solidFill>
                <a:latin typeface="Courier New"/>
                <a:ea typeface="Courier New"/>
                <a:cs typeface="Courier New"/>
                <a:sym typeface="Courier New"/>
              </a:rPr>
              <a:t>        z = z + f(z, t, params)    # one layer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1F2328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z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h60cdd362965d0808_1_39"/>
          <p:cNvSpPr txBox="1"/>
          <p:nvPr/>
        </p:nvSpPr>
        <p:spPr>
          <a:xfrm>
            <a:off x="457200" y="3383280"/>
            <a:ext cx="46634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03200" lvl="0" marL="20320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450"/>
              <a:buFont typeface="Calibri"/>
              <a:buChar char="•"/>
            </a:pPr>
            <a:r>
              <a:rPr b="0" i="0" lang="en-US" sz="14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Each layer adds a small update to z.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203200" marR="0" rtl="0" algn="l">
              <a:spcBef>
                <a:spcPts val="840"/>
              </a:spcBef>
              <a:spcAft>
                <a:spcPts val="0"/>
              </a:spcAft>
              <a:buClr>
                <a:srgbClr val="1F2328"/>
              </a:buClr>
              <a:buSzPts val="1450"/>
              <a:buFont typeface="Calibri"/>
              <a:buChar char="•"/>
            </a:pPr>
            <a:r>
              <a:rPr b="0" i="0" lang="en-US" sz="14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Same form as Euler: z + h·f, with h = 1.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9_resnet_field.png" id="74" name="Google Shape;74;h60cdd362965d0808_1_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0" y="1188720"/>
            <a:ext cx="2828925" cy="3017520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h60cdd362965d0808_1_39"/>
          <p:cNvSpPr txBox="1"/>
          <p:nvPr>
            <p:ph idx="4294967295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9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h60cdd362965d0808_1_52"/>
          <p:cNvSpPr txBox="1"/>
          <p:nvPr>
            <p:ph idx="1" type="body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50"/>
              <a:buNone/>
            </a:pPr>
            <a:r>
              <a:rPr b="1" lang="en-US" sz="950">
                <a:solidFill>
                  <a:schemeClr val="dk2"/>
                </a:solidFill>
              </a:rPr>
              <a:t>PART 1  ·  NEURAL ODEs</a:t>
            </a:r>
            <a:endParaRPr sz="950"/>
          </a:p>
        </p:txBody>
      </p:sp>
      <p:sp>
        <p:nvSpPr>
          <p:cNvPr id="82" name="Google Shape;82;h60cdd362965d0808_1_52"/>
          <p:cNvSpPr txBox="1"/>
          <p:nvPr>
            <p:ph type="title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b="1" lang="en-US" sz="2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Neural ODEs: Infinitely Many Tiny Layers</a:t>
            </a:r>
            <a:endParaRPr sz="2500"/>
          </a:p>
        </p:txBody>
      </p:sp>
      <p:cxnSp>
        <p:nvCxnSpPr>
          <p:cNvPr id="83" name="Google Shape;83;h60cdd362965d0808_1_52"/>
          <p:cNvCxnSpPr/>
          <p:nvPr/>
        </p:nvCxnSpPr>
        <p:spPr>
          <a:xfrm>
            <a:off x="457200" y="4370832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4" name="Google Shape;84;h60cdd362965d0808_1_52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Neural ODE = ResNet with infinitely many tiny layers.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h60cdd362965d0808_1_52"/>
          <p:cNvSpPr/>
          <p:nvPr/>
        </p:nvSpPr>
        <p:spPr>
          <a:xfrm>
            <a:off x="457200" y="1280160"/>
            <a:ext cx="4663440" cy="685800"/>
          </a:xfrm>
          <a:prstGeom prst="roundRect">
            <a:avLst>
              <a:gd fmla="val 6667" name="adj"/>
            </a:avLst>
          </a:prstGeom>
          <a:solidFill>
            <a:srgbClr val="F5F6F7"/>
          </a:solidFill>
          <a:ln cap="flat" cmpd="sng" w="12700">
            <a:solidFill>
              <a:srgbClr val="F5F6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h60cdd362965d0808_1_52"/>
          <p:cNvSpPr txBox="1"/>
          <p:nvPr/>
        </p:nvSpPr>
        <p:spPr>
          <a:xfrm>
            <a:off x="594360" y="1371600"/>
            <a:ext cx="4480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1F2328"/>
                </a:solidFill>
                <a:latin typeface="Courier New"/>
                <a:ea typeface="Courier New"/>
                <a:cs typeface="Courier New"/>
                <a:sym typeface="Courier New"/>
              </a:rPr>
              <a:t>def odenet(z, params):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1F2328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odesolve(f, z, 0, 1, params)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7_ode.png" id="87" name="Google Shape;87;h60cdd362965d0808_1_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121408"/>
            <a:ext cx="2937967" cy="362712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h60cdd362965d0808_1_52"/>
          <p:cNvSpPr txBox="1"/>
          <p:nvPr/>
        </p:nvSpPr>
        <p:spPr>
          <a:xfrm>
            <a:off x="457200" y="2514600"/>
            <a:ext cx="4663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b="0" i="0" lang="en-US" sz="11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A network sets the arrows; a solver follows them.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9" name="Google Shape;89;h60cdd362965d0808_1_52"/>
          <p:cNvGraphicFramePr/>
          <p:nvPr/>
        </p:nvGraphicFramePr>
        <p:xfrm>
          <a:off x="457200" y="29260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{7011B6A4-50AB-4A3F-8FDA-CB2C49E14753}</a:tableStyleId>
              </a:tblPr>
              <a:tblGrid>
                <a:gridCol w="1097275"/>
                <a:gridCol w="3566150"/>
              </a:tblGrid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Symbol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Meaning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z(t) ∈ ℝᵈ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hidden state at depth (time) 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fθ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neural network: the arrows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θ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weights, shared across all depths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img/v9_odenet_field.png" id="90" name="Google Shape;90;h60cdd362965d0808_1_5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0" y="1188720"/>
            <a:ext cx="2828925" cy="301752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h60cdd362965d0808_1_52"/>
          <p:cNvSpPr txBox="1"/>
          <p:nvPr>
            <p:ph idx="4294967295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9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h60cdd362965d0808_1_67"/>
          <p:cNvSpPr txBox="1"/>
          <p:nvPr>
            <p:ph idx="1" type="body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50"/>
              <a:buNone/>
            </a:pPr>
            <a:r>
              <a:rPr b="1" lang="en-US" sz="950">
                <a:solidFill>
                  <a:schemeClr val="dk2"/>
                </a:solidFill>
              </a:rPr>
              <a:t>PART 1  ·  NEURAL ODEs</a:t>
            </a:r>
            <a:endParaRPr sz="950"/>
          </a:p>
        </p:txBody>
      </p:sp>
      <p:sp>
        <p:nvSpPr>
          <p:cNvPr id="98" name="Google Shape;98;h60cdd362965d0808_1_67"/>
          <p:cNvSpPr txBox="1"/>
          <p:nvPr>
            <p:ph type="title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b="1" lang="en-US" sz="2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Training, Option 1: Classic Backprop</a:t>
            </a:r>
            <a:endParaRPr sz="2500"/>
          </a:p>
        </p:txBody>
      </p:sp>
      <p:cxnSp>
        <p:nvCxnSpPr>
          <p:cNvPr id="99" name="Google Shape;99;h60cdd362965d0808_1_67"/>
          <p:cNvCxnSpPr/>
          <p:nvPr/>
        </p:nvCxnSpPr>
        <p:spPr>
          <a:xfrm>
            <a:off x="457200" y="4370832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" name="Google Shape;100;h60cdd362965d0808_1_67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Exact, but memory grows with every step.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h60cdd362965d0808_1_67"/>
          <p:cNvSpPr txBox="1"/>
          <p:nvPr/>
        </p:nvSpPr>
        <p:spPr>
          <a:xfrm>
            <a:off x="457200" y="1261872"/>
            <a:ext cx="4114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Backprop through every solver step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11_bp_lam.png" id="102" name="Google Shape;102;h60cdd362965d0808_1_6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536192"/>
            <a:ext cx="902208" cy="39624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h60cdd362965d0808_1_67"/>
          <p:cNvSpPr txBox="1"/>
          <p:nvPr/>
        </p:nvSpPr>
        <p:spPr>
          <a:xfrm>
            <a:off x="457200" y="1959864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b="0" i="0" lang="en-US" sz="11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λₖ: how much the loss cares about step k.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11_bp_rec.png" id="104" name="Google Shape;104;h60cdd362965d0808_1_6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2325624"/>
            <a:ext cx="2526792" cy="448056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h60cdd362965d0808_1_67"/>
          <p:cNvSpPr txBox="1"/>
          <p:nvPr/>
        </p:nvSpPr>
        <p:spPr>
          <a:xfrm>
            <a:off x="457200" y="2801112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b="0" i="0" lang="en-US" sz="11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Pass λ back one step at a time.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11_bp_th.png" id="106" name="Google Shape;106;h60cdd362965d0808_1_6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" y="3166872"/>
            <a:ext cx="2240280" cy="606552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h60cdd362965d0808_1_67"/>
          <p:cNvSpPr txBox="1"/>
          <p:nvPr/>
        </p:nvSpPr>
        <p:spPr>
          <a:xfrm>
            <a:off x="457200" y="3800856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b="0" i="0" lang="en-US" sz="11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Weight gradient: add up every step's share.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11_backprop.gif" id="108" name="Google Shape;108;h60cdd362965d0808_1_6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709160" y="1280160"/>
            <a:ext cx="3977640" cy="2237423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h60cdd362965d0808_1_67"/>
          <p:cNvSpPr txBox="1"/>
          <p:nvPr/>
        </p:nvSpPr>
        <p:spPr>
          <a:xfrm>
            <a:off x="4800600" y="3611880"/>
            <a:ext cx="3931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Forward: save every step.  Backward: λ walks back over them.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h60cdd362965d0808_1_67"/>
          <p:cNvSpPr txBox="1"/>
          <p:nvPr>
            <p:ph idx="4294967295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9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h60cdd362965d0808_1_85"/>
          <p:cNvSpPr txBox="1"/>
          <p:nvPr>
            <p:ph idx="1" type="body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50"/>
              <a:buNone/>
            </a:pPr>
            <a:r>
              <a:rPr b="1" lang="en-US" sz="950">
                <a:solidFill>
                  <a:schemeClr val="dk2"/>
                </a:solidFill>
              </a:rPr>
              <a:t>PART 1  ·  NEURAL ODEs</a:t>
            </a:r>
            <a:endParaRPr sz="950"/>
          </a:p>
        </p:txBody>
      </p:sp>
      <p:sp>
        <p:nvSpPr>
          <p:cNvPr id="117" name="Google Shape;117;h60cdd362965d0808_1_85"/>
          <p:cNvSpPr txBox="1"/>
          <p:nvPr>
            <p:ph type="title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b="1" lang="en-US" sz="2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Training, Option 2: The Adjoint Method</a:t>
            </a:r>
            <a:endParaRPr sz="2500"/>
          </a:p>
        </p:txBody>
      </p:sp>
      <p:cxnSp>
        <p:nvCxnSpPr>
          <p:cNvPr id="118" name="Google Shape;118;h60cdd362965d0808_1_85"/>
          <p:cNvCxnSpPr/>
          <p:nvPr/>
        </p:nvCxnSpPr>
        <p:spPr>
          <a:xfrm>
            <a:off x="457200" y="4370832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9" name="Google Shape;119;h60cdd362965d0808_1_85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The adjoint: flat memory, for one extra backward solve.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h60cdd362965d0808_1_85"/>
          <p:cNvSpPr txBox="1"/>
          <p:nvPr/>
        </p:nvSpPr>
        <p:spPr>
          <a:xfrm>
            <a:off x="457200" y="1261872"/>
            <a:ext cx="4114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Adjoint method (Pontryagin et al., 1962)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11_ad_lam.png" id="121" name="Google Shape;121;h60cdd362965d0808_1_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536192"/>
            <a:ext cx="1210056" cy="42672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h60cdd362965d0808_1_85"/>
          <p:cNvSpPr txBox="1"/>
          <p:nvPr/>
        </p:nvSpPr>
        <p:spPr>
          <a:xfrm>
            <a:off x="457200" y="1990344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b="0" i="0" lang="en-US" sz="11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Same λ, now at every time t.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11_ad_ode.png" id="123" name="Google Shape;123;h60cdd362965d0808_1_8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2356104"/>
            <a:ext cx="2093976" cy="42672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h60cdd362965d0808_1_85"/>
          <p:cNvSpPr txBox="1"/>
          <p:nvPr/>
        </p:nvSpPr>
        <p:spPr>
          <a:xfrm>
            <a:off x="457200" y="2810256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b="0" i="0" lang="en-US" sz="11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λ follows its own ODE, solved backward.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11_ad_th.png" id="125" name="Google Shape;125;h60cdd362965d0808_1_8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" y="3176016"/>
            <a:ext cx="2435200" cy="729691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h60cdd362965d0808_1_85"/>
          <p:cNvSpPr txBox="1"/>
          <p:nvPr/>
        </p:nvSpPr>
        <p:spPr>
          <a:xfrm>
            <a:off x="457200" y="3933139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b="0" i="0" lang="en-US" sz="11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The sum over steps becomes an integral.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11_adjoint.gif" id="127" name="Google Shape;127;h60cdd362965d0808_1_8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709160" y="1188720"/>
            <a:ext cx="3657600" cy="20574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28" name="Google Shape;128;h60cdd362965d0808_1_85"/>
          <p:cNvGraphicFramePr/>
          <p:nvPr/>
        </p:nvGraphicFramePr>
        <p:xfrm>
          <a:off x="4800600" y="336499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{7011B6A4-50AB-4A3F-8FDA-CB2C49E14753}</a:tableStyleId>
              </a:tblPr>
              <a:tblGrid>
                <a:gridCol w="914400"/>
                <a:gridCol w="1417325"/>
                <a:gridCol w="1508750"/>
              </a:tblGrid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Calibri"/>
                        <a:buNone/>
                      </a:pPr>
                      <a:r>
                        <a:t/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Backprop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Adjoint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Memory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grows with steps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810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constant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Extra cost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none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one backward solve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29" name="Google Shape;129;h60cdd362965d0808_1_85"/>
          <p:cNvSpPr txBox="1"/>
          <p:nvPr>
            <p:ph idx="4294967295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9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h60cdd362965d0808_1_103"/>
          <p:cNvSpPr txBox="1"/>
          <p:nvPr>
            <p:ph idx="1" type="body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50"/>
              <a:buNone/>
            </a:pPr>
            <a:r>
              <a:rPr b="1" lang="en-US" sz="950">
                <a:solidFill>
                  <a:schemeClr val="dk2"/>
                </a:solidFill>
              </a:rPr>
              <a:t>PART 2  ·  NEURAL SDEs</a:t>
            </a:r>
            <a:endParaRPr sz="950"/>
          </a:p>
        </p:txBody>
      </p:sp>
      <p:sp>
        <p:nvSpPr>
          <p:cNvPr id="136" name="Google Shape;136;h60cdd362965d0808_1_103"/>
          <p:cNvSpPr txBox="1"/>
          <p:nvPr>
            <p:ph type="title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b="1" lang="en-US" sz="2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From Neural ODE to Neural SDE</a:t>
            </a:r>
            <a:endParaRPr sz="2500"/>
          </a:p>
        </p:txBody>
      </p:sp>
      <p:cxnSp>
        <p:nvCxnSpPr>
          <p:cNvPr id="137" name="Google Shape;137;h60cdd362965d0808_1_103"/>
          <p:cNvCxnSpPr/>
          <p:nvPr/>
        </p:nvCxnSpPr>
        <p:spPr>
          <a:xfrm>
            <a:off x="457200" y="4370832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8" name="Google Shape;138;h60cdd362965d0808_1_103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Neural SDE = N</a:t>
            </a:r>
            <a:r>
              <a:rPr b="1" i="0" lang="en-US" sz="12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eural ODE </a:t>
            </a:r>
            <a:r>
              <a:rPr b="1" lang="en-US" sz="1250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r>
              <a:rPr b="1" i="0" lang="en-US" sz="12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 learned random kicks.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5_sde.png" id="139" name="Google Shape;139;h60cdd362965d0808_1_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216152"/>
            <a:ext cx="4638751" cy="38801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h60cdd362965d0808_1_103"/>
          <p:cNvSpPr txBox="1"/>
          <p:nvPr/>
        </p:nvSpPr>
        <p:spPr>
          <a:xfrm>
            <a:off x="457200" y="1645920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b="0" i="0" lang="en-US" sz="11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Each instant: move with the drift, plus a random kick.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7_sdeint.png" id="141" name="Google Shape;141;h60cdd362965d0808_1_10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1938528"/>
            <a:ext cx="4086454" cy="619841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h60cdd362965d0808_1_103"/>
          <p:cNvSpPr txBox="1"/>
          <p:nvPr/>
        </p:nvSpPr>
        <p:spPr>
          <a:xfrm>
            <a:off x="457200" y="257860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b="0" i="0" lang="en-US" sz="11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Same thing as a running total: start + drift + kicks.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43" name="Google Shape;143;h60cdd362965d0808_1_103"/>
          <p:cNvGraphicFramePr/>
          <p:nvPr/>
        </p:nvGraphicFramePr>
        <p:xfrm>
          <a:off x="457200" y="2880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{7011B6A4-50AB-4A3F-8FDA-CB2C49E14753}</a:tableStyleId>
              </a:tblPr>
              <a:tblGrid>
                <a:gridCol w="2103125"/>
                <a:gridCol w="6126475"/>
              </a:tblGrid>
              <a:tr h="228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Symbol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Meaning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Zₜ ∈ ℝᵈ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 at time t: now a random variable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θ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weights of both networks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μθ(Zₜ, t) ∈ ℝᵈ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drift network: average direction (the ODE's fθ)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σθ(Zₜ, t) ∈ ℝ^(d×m)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diffusion network: size of the random kicks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Wₜ ∈ ℝᵐ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Brownian motion: the source of randomness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44" name="Google Shape;144;h60cdd362965d0808_1_103"/>
          <p:cNvSpPr txBox="1"/>
          <p:nvPr>
            <p:ph idx="4294967295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9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h60cdd362965d0808_1_117"/>
          <p:cNvSpPr txBox="1"/>
          <p:nvPr>
            <p:ph idx="1" type="body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50"/>
              <a:buNone/>
            </a:pPr>
            <a:r>
              <a:rPr b="1" lang="en-US" sz="950">
                <a:solidFill>
                  <a:schemeClr val="dk2"/>
                </a:solidFill>
              </a:rPr>
              <a:t>PART 2  ·  NEURAL SDEs</a:t>
            </a:r>
            <a:endParaRPr sz="950"/>
          </a:p>
        </p:txBody>
      </p:sp>
      <p:sp>
        <p:nvSpPr>
          <p:cNvPr id="151" name="Google Shape;151;h60cdd362965d0808_1_117"/>
          <p:cNvSpPr txBox="1"/>
          <p:nvPr>
            <p:ph type="title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b="1" lang="en-US" sz="2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Neural ODE vs. Neural SDE</a:t>
            </a:r>
            <a:endParaRPr sz="2500"/>
          </a:p>
        </p:txBody>
      </p:sp>
      <p:cxnSp>
        <p:nvCxnSpPr>
          <p:cNvPr id="152" name="Google Shape;152;h60cdd362965d0808_1_117"/>
          <p:cNvCxnSpPr/>
          <p:nvPr/>
        </p:nvCxnSpPr>
        <p:spPr>
          <a:xfrm>
            <a:off x="457200" y="4370832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h60cdd362965d0808_1_117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Set σθ = 0 and a neural SDE becomes a neural ODE.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9_ode_vs_sde.png" id="154" name="Google Shape;154;h60cdd362965d0808_1_1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417320"/>
            <a:ext cx="3794760" cy="1600914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55" name="Google Shape;155;h60cdd362965d0808_1_117"/>
          <p:cNvGraphicFramePr/>
          <p:nvPr/>
        </p:nvGraphicFramePr>
        <p:xfrm>
          <a:off x="4389120" y="12801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{7011B6A4-50AB-4A3F-8FDA-CB2C49E14753}</a:tableStyleId>
              </a:tblPr>
              <a:tblGrid>
                <a:gridCol w="960125"/>
                <a:gridCol w="1371600"/>
                <a:gridCol w="1965950"/>
              </a:tblGrid>
              <a:tr h="384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50"/>
                        <a:buFont typeface="Calibri"/>
                        <a:buNone/>
                      </a:pPr>
                      <a:r>
                        <a:t/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Neural ODE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Neural SDE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Equation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dz = fθ dt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dZ = μθ dt + σθ dW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Output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one trajectory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distribution over paths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Chain rule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ordinary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Itô's lemma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Solver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Euler, RK4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Euler–Maruyama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4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Gradients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backprop, adjoint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fixed noise, then either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56" name="Google Shape;156;h60cdd362965d0808_1_117"/>
          <p:cNvSpPr txBox="1"/>
          <p:nvPr>
            <p:ph idx="4294967295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9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h60cdd362965d0808_1_128"/>
          <p:cNvSpPr txBox="1"/>
          <p:nvPr>
            <p:ph idx="1" type="body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50"/>
              <a:buNone/>
            </a:pPr>
            <a:r>
              <a:rPr b="1" lang="en-US" sz="950">
                <a:solidFill>
                  <a:schemeClr val="dk2"/>
                </a:solidFill>
              </a:rPr>
              <a:t>PART 2  ·  NEURAL SDEs</a:t>
            </a:r>
            <a:endParaRPr sz="950"/>
          </a:p>
        </p:txBody>
      </p:sp>
      <p:sp>
        <p:nvSpPr>
          <p:cNvPr id="163" name="Google Shape;163;h60cdd362965d0808_1_128"/>
          <p:cNvSpPr txBox="1"/>
          <p:nvPr>
            <p:ph type="title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b="1" lang="en-US" sz="2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Brownian Motion and Itô's Lemma</a:t>
            </a:r>
            <a:endParaRPr sz="2500"/>
          </a:p>
        </p:txBody>
      </p:sp>
      <p:cxnSp>
        <p:nvCxnSpPr>
          <p:cNvPr id="164" name="Google Shape;164;h60cdd362965d0808_1_128"/>
          <p:cNvCxnSpPr/>
          <p:nvPr/>
        </p:nvCxnSpPr>
        <p:spPr>
          <a:xfrm>
            <a:off x="457200" y="4370832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5" name="Google Shape;165;h60cdd362965d0808_1_128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r>
              <a:rPr b="1" i="0" lang="en-US" sz="12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andom kicks add an extra term to the chain rule.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h60cdd362965d0808_1_128"/>
          <p:cNvSpPr txBox="1"/>
          <p:nvPr/>
        </p:nvSpPr>
        <p:spPr>
          <a:xfrm>
            <a:off x="457200" y="1261872"/>
            <a:ext cx="50292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Brownian motion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7_bm.png" id="167" name="Google Shape;167;h60cdd362965d0808_1_1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481328"/>
            <a:ext cx="5046208" cy="297424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h60cdd362965d0808_1_128"/>
          <p:cNvSpPr txBox="1"/>
          <p:nvPr/>
        </p:nvSpPr>
        <p:spPr>
          <a:xfrm>
            <a:off x="457200" y="1828800"/>
            <a:ext cx="4937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b="0" i="0" lang="en-US" sz="11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Kicks are Gaussian, independent, bigger the longer you wait.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h60cdd362965d0808_1_128"/>
          <p:cNvSpPr txBox="1"/>
          <p:nvPr/>
        </p:nvSpPr>
        <p:spPr>
          <a:xfrm>
            <a:off x="457200" y="2377440"/>
            <a:ext cx="50292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Itô's lemma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7_ito.png" id="170" name="Google Shape;170;h60cdd362965d0808_1_1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2606040"/>
            <a:ext cx="3761384" cy="367741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h60cdd362965d0808_1_128"/>
          <p:cNvSpPr txBox="1"/>
          <p:nvPr/>
        </p:nvSpPr>
        <p:spPr>
          <a:xfrm>
            <a:off x="457200" y="3035808"/>
            <a:ext cx="4937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b="0" i="0" lang="en-US" sz="11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The chain rule, plus a correction from the kicks.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h60cdd362965d0808_1_128"/>
          <p:cNvSpPr txBox="1"/>
          <p:nvPr/>
        </p:nvSpPr>
        <p:spPr>
          <a:xfrm>
            <a:off x="5394960" y="2286000"/>
            <a:ext cx="333756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03200" lvl="0" marL="20320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450"/>
              <a:buFont typeface="Calibri"/>
              <a:buChar char="•"/>
            </a:pPr>
            <a:r>
              <a:rPr b="0" i="0" lang="en-US" sz="14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Kick over Δt: spread grows like √Δt.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203200" marR="0" rtl="0" algn="l">
              <a:spcBef>
                <a:spcPts val="1400"/>
              </a:spcBef>
              <a:spcAft>
                <a:spcPts val="0"/>
              </a:spcAft>
              <a:buClr>
                <a:srgbClr val="1F2328"/>
              </a:buClr>
              <a:buSzPts val="1450"/>
              <a:buFont typeface="Calibri"/>
              <a:buChar char="•"/>
            </a:pPr>
            <a:r>
              <a:rPr b="0" i="0" lang="en-US" sz="14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So (dW)² ≈ dt, not zero.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203200" marR="0" rtl="0" algn="l">
              <a:spcBef>
                <a:spcPts val="1400"/>
              </a:spcBef>
              <a:spcAft>
                <a:spcPts val="0"/>
              </a:spcAft>
              <a:buClr>
                <a:srgbClr val="1F2328"/>
              </a:buClr>
              <a:buSzPts val="1450"/>
              <a:buFont typeface="Calibri"/>
              <a:buChar char="•"/>
            </a:pPr>
            <a:r>
              <a:rPr b="0" i="0" lang="en-US" sz="14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That leftover adds the ½ f″σ² term.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h60cdd362965d0808_1_128"/>
          <p:cNvSpPr txBox="1"/>
          <p:nvPr>
            <p:ph idx="4294967295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9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h60cdd362965d0808_1_144"/>
          <p:cNvSpPr txBox="1"/>
          <p:nvPr>
            <p:ph idx="1" type="body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50"/>
              <a:buNone/>
            </a:pPr>
            <a:r>
              <a:rPr b="1" lang="en-US" sz="950">
                <a:solidFill>
                  <a:schemeClr val="dk2"/>
                </a:solidFill>
              </a:rPr>
              <a:t>PART 2  ·  NEURAL SDEs</a:t>
            </a:r>
            <a:endParaRPr sz="950"/>
          </a:p>
        </p:txBody>
      </p:sp>
      <p:sp>
        <p:nvSpPr>
          <p:cNvPr id="180" name="Google Shape;180;h60cdd362965d0808_1_144"/>
          <p:cNvSpPr txBox="1"/>
          <p:nvPr>
            <p:ph type="title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b="1" lang="en-US" sz="2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Simulating an SDE: Euler Plus Random Kicks</a:t>
            </a:r>
            <a:endParaRPr sz="2500"/>
          </a:p>
        </p:txBody>
      </p:sp>
      <p:cxnSp>
        <p:nvCxnSpPr>
          <p:cNvPr id="181" name="Google Shape;181;h60cdd362965d0808_1_144"/>
          <p:cNvCxnSpPr/>
          <p:nvPr/>
        </p:nvCxnSpPr>
        <p:spPr>
          <a:xfrm>
            <a:off x="457200" y="4370832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2" name="Google Shape;182;h60cdd362965d0808_1_144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In English: an SDE solver is a for-loop with random kicks.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5_em.png" id="183" name="Google Shape;183;h60cdd362965d0808_1_1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234440"/>
            <a:ext cx="5613563" cy="367406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h60cdd362965d0808_1_144"/>
          <p:cNvSpPr txBox="1"/>
          <p:nvPr/>
        </p:nvSpPr>
        <p:spPr>
          <a:xfrm>
            <a:off x="457200" y="1645920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b="0" i="0" lang="en-US" sz="11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Next = now + a drift step + a random kick.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h60cdd362965d0808_1_144"/>
          <p:cNvSpPr/>
          <p:nvPr/>
        </p:nvSpPr>
        <p:spPr>
          <a:xfrm>
            <a:off x="457200" y="2103120"/>
            <a:ext cx="4114800" cy="960120"/>
          </a:xfrm>
          <a:prstGeom prst="roundRect">
            <a:avLst>
              <a:gd fmla="val 4762" name="adj"/>
            </a:avLst>
          </a:prstGeom>
          <a:solidFill>
            <a:srgbClr val="F5F6F7"/>
          </a:solidFill>
          <a:ln cap="flat" cmpd="sng" w="12700">
            <a:solidFill>
              <a:srgbClr val="F5F6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h60cdd362965d0808_1_144"/>
          <p:cNvSpPr txBox="1"/>
          <p:nvPr/>
        </p:nvSpPr>
        <p:spPr>
          <a:xfrm>
            <a:off x="566928" y="2212848"/>
            <a:ext cx="39776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Font typeface="Courier New"/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ourier New"/>
                <a:ea typeface="Courier New"/>
                <a:cs typeface="Courier New"/>
                <a:sym typeface="Courier New"/>
              </a:rPr>
              <a:t>for k in range(K):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Font typeface="Courier New"/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ourier New"/>
                <a:ea typeface="Courier New"/>
                <a:cs typeface="Courier New"/>
                <a:sym typeface="Courier New"/>
              </a:rPr>
              <a:t>    eps = random.normal()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Font typeface="Courier New"/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ourier New"/>
                <a:ea typeface="Courier New"/>
                <a:cs typeface="Courier New"/>
                <a:sym typeface="Courier New"/>
              </a:rPr>
              <a:t>    z = z + mu(z)*dt + sigma(z)*sqrt(dt)*eps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h60cdd362965d0808_1_144"/>
          <p:cNvSpPr txBox="1"/>
          <p:nvPr/>
        </p:nvSpPr>
        <p:spPr>
          <a:xfrm>
            <a:off x="457200" y="3291840"/>
            <a:ext cx="4114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03200" lvl="0" marL="20320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450"/>
              <a:buFont typeface="Calibri"/>
              <a:buChar char="•"/>
            </a:pPr>
            <a:r>
              <a:rPr b="0" i="0" lang="en-US" sz="14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Kick = σ × √Δt × a random number.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203200" marR="0" rtl="0" algn="l">
              <a:spcBef>
                <a:spcPts val="1120"/>
              </a:spcBef>
              <a:spcAft>
                <a:spcPts val="0"/>
              </a:spcAft>
              <a:buClr>
                <a:srgbClr val="1F2328"/>
              </a:buClr>
              <a:buSzPts val="1450"/>
              <a:buFont typeface="Calibri"/>
              <a:buChar char="•"/>
            </a:pPr>
            <a:r>
              <a:rPr b="0" i="0" lang="en-US" sz="14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New random numbers, new future.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11_em.gif" id="188" name="Google Shape;188;h60cdd362965d0808_1_14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120640" y="2011680"/>
            <a:ext cx="3286125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h60cdd362965d0808_1_144"/>
          <p:cNvSpPr txBox="1"/>
          <p:nvPr>
            <p:ph idx="4294967295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9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h60cdd362965d0808_1_159"/>
          <p:cNvSpPr txBox="1"/>
          <p:nvPr>
            <p:ph idx="1" type="body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50"/>
              <a:buNone/>
            </a:pPr>
            <a:r>
              <a:rPr b="1" lang="en-US" sz="950">
                <a:solidFill>
                  <a:schemeClr val="dk2"/>
                </a:solidFill>
              </a:rPr>
              <a:t>PART 3  ·  TRAINING NEURAL SDEs</a:t>
            </a:r>
            <a:endParaRPr sz="950"/>
          </a:p>
        </p:txBody>
      </p:sp>
      <p:sp>
        <p:nvSpPr>
          <p:cNvPr id="196" name="Google Shape;196;h60cdd362965d0808_1_159"/>
          <p:cNvSpPr txBox="1"/>
          <p:nvPr>
            <p:ph type="title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b="1" lang="en-US" sz="2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Training an SDE: Fix the Random Numbers</a:t>
            </a:r>
            <a:endParaRPr sz="2500"/>
          </a:p>
        </p:txBody>
      </p:sp>
      <p:cxnSp>
        <p:nvCxnSpPr>
          <p:cNvPr id="197" name="Google Shape;197;h60cdd362965d0808_1_159"/>
          <p:cNvCxnSpPr/>
          <p:nvPr/>
        </p:nvCxnSpPr>
        <p:spPr>
          <a:xfrm>
            <a:off x="457200" y="4370832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8" name="Google Shape;198;h60cdd362965d0808_1_159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Fix the random numbers; then it's ordinary backprop.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h60cdd362965d0808_1_159"/>
          <p:cNvSpPr/>
          <p:nvPr/>
        </p:nvSpPr>
        <p:spPr>
          <a:xfrm>
            <a:off x="457200" y="1261872"/>
            <a:ext cx="1143000" cy="411480"/>
          </a:xfrm>
          <a:prstGeom prst="roundRect">
            <a:avLst>
              <a:gd fmla="val 11111" name="adj"/>
            </a:avLst>
          </a:prstGeom>
          <a:solidFill>
            <a:srgbClr val="F5F6F7"/>
          </a:solidFill>
          <a:ln cap="flat" cmpd="sng" w="12700">
            <a:solidFill>
              <a:srgbClr val="F5F6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h60cdd362965d0808_1_159"/>
          <p:cNvSpPr txBox="1"/>
          <p:nvPr/>
        </p:nvSpPr>
        <p:spPr>
          <a:xfrm>
            <a:off x="457200" y="1261872"/>
            <a:ext cx="11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1" name="Google Shape;201;h60cdd362965d0808_1_159"/>
          <p:cNvCxnSpPr/>
          <p:nvPr/>
        </p:nvCxnSpPr>
        <p:spPr>
          <a:xfrm>
            <a:off x="1618488" y="1463040"/>
            <a:ext cx="237744" cy="914"/>
          </a:xfrm>
          <a:prstGeom prst="straightConnector1">
            <a:avLst/>
          </a:prstGeom>
          <a:noFill/>
          <a:ln cap="flat" cmpd="sng" w="19050">
            <a:solidFill>
              <a:srgbClr val="1F232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02" name="Google Shape;202;h60cdd362965d0808_1_159"/>
          <p:cNvSpPr/>
          <p:nvPr/>
        </p:nvSpPr>
        <p:spPr>
          <a:xfrm>
            <a:off x="1874520" y="1261872"/>
            <a:ext cx="1143000" cy="411480"/>
          </a:xfrm>
          <a:prstGeom prst="roundRect">
            <a:avLst>
              <a:gd fmla="val 11111" name="adj"/>
            </a:avLst>
          </a:prstGeom>
          <a:solidFill>
            <a:srgbClr val="F5F6F7"/>
          </a:solidFill>
          <a:ln cap="flat" cmpd="sng" w="12700">
            <a:solidFill>
              <a:srgbClr val="F5F6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h60cdd362965d0808_1_159"/>
          <p:cNvSpPr txBox="1"/>
          <p:nvPr/>
        </p:nvSpPr>
        <p:spPr>
          <a:xfrm>
            <a:off x="1874520" y="1261872"/>
            <a:ext cx="11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step 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4" name="Google Shape;204;h60cdd362965d0808_1_159"/>
          <p:cNvCxnSpPr/>
          <p:nvPr/>
        </p:nvCxnSpPr>
        <p:spPr>
          <a:xfrm>
            <a:off x="3035808" y="1463040"/>
            <a:ext cx="237744" cy="914"/>
          </a:xfrm>
          <a:prstGeom prst="straightConnector1">
            <a:avLst/>
          </a:prstGeom>
          <a:noFill/>
          <a:ln cap="flat" cmpd="sng" w="19050">
            <a:solidFill>
              <a:srgbClr val="1F232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05" name="Google Shape;205;h60cdd362965d0808_1_159"/>
          <p:cNvSpPr txBox="1"/>
          <p:nvPr/>
        </p:nvSpPr>
        <p:spPr>
          <a:xfrm>
            <a:off x="1874520" y="171907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ε1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h60cdd362965d0808_1_159"/>
          <p:cNvSpPr/>
          <p:nvPr/>
        </p:nvSpPr>
        <p:spPr>
          <a:xfrm>
            <a:off x="3291840" y="1261872"/>
            <a:ext cx="1143000" cy="411480"/>
          </a:xfrm>
          <a:prstGeom prst="roundRect">
            <a:avLst>
              <a:gd fmla="val 11111" name="adj"/>
            </a:avLst>
          </a:prstGeom>
          <a:solidFill>
            <a:srgbClr val="F5F6F7"/>
          </a:solidFill>
          <a:ln cap="flat" cmpd="sng" w="12700">
            <a:solidFill>
              <a:srgbClr val="F5F6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h60cdd362965d0808_1_159"/>
          <p:cNvSpPr txBox="1"/>
          <p:nvPr/>
        </p:nvSpPr>
        <p:spPr>
          <a:xfrm>
            <a:off x="3291840" y="1261872"/>
            <a:ext cx="11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step 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8" name="Google Shape;208;h60cdd362965d0808_1_159"/>
          <p:cNvCxnSpPr/>
          <p:nvPr/>
        </p:nvCxnSpPr>
        <p:spPr>
          <a:xfrm>
            <a:off x="4453128" y="1463040"/>
            <a:ext cx="237744" cy="914"/>
          </a:xfrm>
          <a:prstGeom prst="straightConnector1">
            <a:avLst/>
          </a:prstGeom>
          <a:noFill/>
          <a:ln cap="flat" cmpd="sng" w="19050">
            <a:solidFill>
              <a:srgbClr val="1F232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09" name="Google Shape;209;h60cdd362965d0808_1_159"/>
          <p:cNvSpPr txBox="1"/>
          <p:nvPr/>
        </p:nvSpPr>
        <p:spPr>
          <a:xfrm>
            <a:off x="3291840" y="171907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ε2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h60cdd362965d0808_1_159"/>
          <p:cNvSpPr/>
          <p:nvPr/>
        </p:nvSpPr>
        <p:spPr>
          <a:xfrm>
            <a:off x="4709160" y="1261872"/>
            <a:ext cx="1143000" cy="411480"/>
          </a:xfrm>
          <a:prstGeom prst="roundRect">
            <a:avLst>
              <a:gd fmla="val 11111" name="adj"/>
            </a:avLst>
          </a:prstGeom>
          <a:solidFill>
            <a:srgbClr val="F5F6F7"/>
          </a:solidFill>
          <a:ln cap="flat" cmpd="sng" w="12700">
            <a:solidFill>
              <a:srgbClr val="F5F6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h60cdd362965d0808_1_159"/>
          <p:cNvSpPr txBox="1"/>
          <p:nvPr/>
        </p:nvSpPr>
        <p:spPr>
          <a:xfrm>
            <a:off x="4709160" y="1261872"/>
            <a:ext cx="11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2" name="Google Shape;212;h60cdd362965d0808_1_159"/>
          <p:cNvCxnSpPr/>
          <p:nvPr/>
        </p:nvCxnSpPr>
        <p:spPr>
          <a:xfrm>
            <a:off x="5870448" y="1463040"/>
            <a:ext cx="237744" cy="914"/>
          </a:xfrm>
          <a:prstGeom prst="straightConnector1">
            <a:avLst/>
          </a:prstGeom>
          <a:noFill/>
          <a:ln cap="flat" cmpd="sng" w="19050">
            <a:solidFill>
              <a:srgbClr val="1F232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13" name="Google Shape;213;h60cdd362965d0808_1_159"/>
          <p:cNvSpPr/>
          <p:nvPr/>
        </p:nvSpPr>
        <p:spPr>
          <a:xfrm>
            <a:off x="6126480" y="1261872"/>
            <a:ext cx="1143000" cy="411480"/>
          </a:xfrm>
          <a:prstGeom prst="roundRect">
            <a:avLst>
              <a:gd fmla="val 11111" name="adj"/>
            </a:avLst>
          </a:prstGeom>
          <a:solidFill>
            <a:srgbClr val="F5F6F7"/>
          </a:solidFill>
          <a:ln cap="flat" cmpd="sng" w="12700">
            <a:solidFill>
              <a:srgbClr val="F5F6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h60cdd362965d0808_1_159"/>
          <p:cNvSpPr txBox="1"/>
          <p:nvPr/>
        </p:nvSpPr>
        <p:spPr>
          <a:xfrm>
            <a:off x="6126480" y="1261872"/>
            <a:ext cx="11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step K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5" name="Google Shape;215;h60cdd362965d0808_1_159"/>
          <p:cNvCxnSpPr/>
          <p:nvPr/>
        </p:nvCxnSpPr>
        <p:spPr>
          <a:xfrm>
            <a:off x="7287768" y="1463040"/>
            <a:ext cx="237744" cy="914"/>
          </a:xfrm>
          <a:prstGeom prst="straightConnector1">
            <a:avLst/>
          </a:prstGeom>
          <a:noFill/>
          <a:ln cap="flat" cmpd="sng" w="19050">
            <a:solidFill>
              <a:srgbClr val="1F2328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16" name="Google Shape;216;h60cdd362965d0808_1_159"/>
          <p:cNvSpPr txBox="1"/>
          <p:nvPr/>
        </p:nvSpPr>
        <p:spPr>
          <a:xfrm>
            <a:off x="6126480" y="171907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ε_K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h60cdd362965d0808_1_159"/>
          <p:cNvSpPr/>
          <p:nvPr/>
        </p:nvSpPr>
        <p:spPr>
          <a:xfrm>
            <a:off x="7543800" y="1261872"/>
            <a:ext cx="1143000" cy="411480"/>
          </a:xfrm>
          <a:prstGeom prst="roundRect">
            <a:avLst>
              <a:gd fmla="val 11111" name="adj"/>
            </a:avLst>
          </a:prstGeom>
          <a:solidFill>
            <a:srgbClr val="FFFFFF"/>
          </a:solidFill>
          <a:ln cap="flat" cmpd="sng" w="15875">
            <a:solidFill>
              <a:srgbClr val="C810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h60cdd362965d0808_1_159"/>
          <p:cNvSpPr txBox="1"/>
          <p:nvPr/>
        </p:nvSpPr>
        <p:spPr>
          <a:xfrm>
            <a:off x="7543800" y="1261872"/>
            <a:ext cx="1143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loss 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9" name="Google Shape;219;h60cdd362965d0808_1_159"/>
          <p:cNvCxnSpPr/>
          <p:nvPr/>
        </p:nvCxnSpPr>
        <p:spPr>
          <a:xfrm flipH="1">
            <a:off x="822960" y="2011680"/>
            <a:ext cx="7680960" cy="914"/>
          </a:xfrm>
          <a:prstGeom prst="straightConnector1">
            <a:avLst/>
          </a:prstGeom>
          <a:noFill/>
          <a:ln cap="flat" cmpd="sng" w="19050">
            <a:solidFill>
              <a:srgbClr val="C8102E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20" name="Google Shape;220;h60cdd362965d0808_1_159"/>
          <p:cNvSpPr txBox="1"/>
          <p:nvPr/>
        </p:nvSpPr>
        <p:spPr>
          <a:xfrm>
            <a:off x="2743200" y="2029968"/>
            <a:ext cx="38404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gradients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7_reparam.png" id="221" name="Google Shape;221;h60cdd362965d0808_1_1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423160"/>
            <a:ext cx="3378403" cy="284988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h60cdd362965d0808_1_159"/>
          <p:cNvSpPr txBox="1"/>
          <p:nvPr/>
        </p:nvSpPr>
        <p:spPr>
          <a:xfrm>
            <a:off x="457200" y="2735580"/>
            <a:ext cx="5120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b="0" i="0" lang="en-US" sz="11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Draw the random numbers first; then the run is a plain function.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11_grad.png" id="223" name="Google Shape;223;h60cdd362965d0808_1_15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3101340"/>
            <a:ext cx="3182112" cy="67056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h60cdd362965d0808_1_159"/>
          <p:cNvSpPr txBox="1"/>
          <p:nvPr/>
        </p:nvSpPr>
        <p:spPr>
          <a:xfrm>
            <a:off x="457200" y="3799332"/>
            <a:ext cx="51206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b="0" i="0" lang="en-US" sz="11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Average the gradients over N runs.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h60cdd362965d0808_1_159"/>
          <p:cNvSpPr txBox="1"/>
          <p:nvPr/>
        </p:nvSpPr>
        <p:spPr>
          <a:xfrm>
            <a:off x="5440680" y="2468880"/>
            <a:ext cx="329184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03200" lvl="0" marL="20320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450"/>
              <a:buFont typeface="Calibri"/>
              <a:buChar char="•"/>
            </a:pPr>
            <a:r>
              <a:rPr b="0" i="0" lang="en-US" sz="14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Same random numbers, same path.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203200" marR="0" rtl="0" algn="l">
              <a:spcBef>
                <a:spcPts val="1400"/>
              </a:spcBef>
              <a:spcAft>
                <a:spcPts val="0"/>
              </a:spcAft>
              <a:buClr>
                <a:srgbClr val="1F2328"/>
              </a:buClr>
              <a:buSzPts val="1450"/>
              <a:buFont typeface="Calibri"/>
              <a:buChar char="•"/>
            </a:pPr>
            <a:r>
              <a:rPr b="0" i="0" lang="en-US" sz="14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VAE reparameterization, at every step.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203200" marR="0" rtl="0" algn="l">
              <a:spcBef>
                <a:spcPts val="1400"/>
              </a:spcBef>
              <a:spcAft>
                <a:spcPts val="0"/>
              </a:spcAft>
              <a:buClr>
                <a:srgbClr val="1F2328"/>
              </a:buClr>
              <a:buSzPts val="1450"/>
              <a:buFont typeface="Calibri"/>
              <a:buChar char="•"/>
            </a:pPr>
            <a:r>
              <a:rPr b="0" i="0" lang="en-US" sz="14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Needs a loss that's smooth in the path.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h60cdd362965d0808_1_159"/>
          <p:cNvSpPr txBox="1"/>
          <p:nvPr>
            <p:ph idx="4294967295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9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h60cdd362965d0808_1_210"/>
          <p:cNvSpPr txBox="1"/>
          <p:nvPr>
            <p:ph idx="1" type="body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50"/>
              <a:buNone/>
            </a:pPr>
            <a:r>
              <a:rPr b="1" lang="en-US" sz="950">
                <a:solidFill>
                  <a:schemeClr val="dk2"/>
                </a:solidFill>
              </a:rPr>
              <a:t>APPLICATIONS</a:t>
            </a:r>
            <a:endParaRPr sz="950"/>
          </a:p>
        </p:txBody>
      </p:sp>
      <p:sp>
        <p:nvSpPr>
          <p:cNvPr id="233" name="Google Shape;233;h60cdd362965d0808_1_210"/>
          <p:cNvSpPr txBox="1"/>
          <p:nvPr>
            <p:ph type="title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b="1" lang="en-US" sz="2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Where Neural SDEs Are Used</a:t>
            </a:r>
            <a:endParaRPr sz="2500"/>
          </a:p>
        </p:txBody>
      </p:sp>
      <p:cxnSp>
        <p:nvCxnSpPr>
          <p:cNvPr id="234" name="Google Shape;234;h60cdd362965d0808_1_210"/>
          <p:cNvCxnSpPr/>
          <p:nvPr/>
        </p:nvCxnSpPr>
        <p:spPr>
          <a:xfrm>
            <a:off x="457200" y="4370832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5" name="Google Shape;235;h60cdd362965d0808_1_210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Useful wherever many futures matter.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diffusion_paths.png" id="236" name="Google Shape;236;h60cdd362965d0808_1_2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234440"/>
            <a:ext cx="4114800" cy="1728656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h60cdd362965d0808_1_210"/>
          <p:cNvSpPr txBox="1"/>
          <p:nvPr/>
        </p:nvSpPr>
        <p:spPr>
          <a:xfrm>
            <a:off x="457200" y="310896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Diffusion models:</a:t>
            </a:r>
            <a:r>
              <a:rPr b="0" i="0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neural SDEs, noise → data.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38" name="Google Shape;238;h60cdd362965d0808_1_210"/>
          <p:cNvGraphicFramePr/>
          <p:nvPr/>
        </p:nvGraphicFramePr>
        <p:xfrm>
          <a:off x="4846320" y="12801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{7011B6A4-50AB-4A3F-8FDA-CB2C49E14753}</a:tableStyleId>
              </a:tblPr>
              <a:tblGrid>
                <a:gridCol w="1325875"/>
                <a:gridCol w="2514600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Domain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050"/>
                        <a:buFont typeface="Calibri"/>
                        <a:buNone/>
                      </a:pPr>
                      <a:r>
                        <a:rPr b="1" lang="en-US" sz="1050" u="none" cap="none" strike="noStrik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Example</a:t>
                      </a:r>
                      <a:endParaRPr sz="10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Images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diffusion models (Song 2021)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Weather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GenCast ensembles (2025)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Robotics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diffusion policies (Chi 2023)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Finance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price and volatility models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Food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50"/>
                        <a:buFont typeface="Calibri"/>
                        <a:buNone/>
                      </a:pPr>
                      <a:r>
                        <a:rPr lang="en-US" sz="115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shelf-life forecasting (next)</a:t>
                      </a:r>
                      <a:endParaRPr sz="115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39" name="Google Shape;239;h60cdd362965d0808_1_210"/>
          <p:cNvSpPr txBox="1"/>
          <p:nvPr>
            <p:ph idx="4294967295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9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h60cdd362965d0808_1_222"/>
          <p:cNvSpPr txBox="1"/>
          <p:nvPr>
            <p:ph idx="1" type="body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50"/>
              <a:buNone/>
            </a:pPr>
            <a:r>
              <a:rPr b="1" lang="en-US" sz="950">
                <a:solidFill>
                  <a:schemeClr val="dk2"/>
                </a:solidFill>
              </a:rPr>
              <a:t>EXAMPLE  ·  PRODUCE DECAY</a:t>
            </a:r>
            <a:endParaRPr sz="950"/>
          </a:p>
        </p:txBody>
      </p:sp>
      <p:sp>
        <p:nvSpPr>
          <p:cNvPr id="246" name="Google Shape;246;h60cdd362965d0808_1_222"/>
          <p:cNvSpPr txBox="1"/>
          <p:nvPr>
            <p:ph type="title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b="1" lang="en-US" sz="2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 Avocado Shelf Life</a:t>
            </a:r>
            <a:endParaRPr sz="2500"/>
          </a:p>
        </p:txBody>
      </p:sp>
      <p:cxnSp>
        <p:nvCxnSpPr>
          <p:cNvPr id="247" name="Google Shape;247;h60cdd362965d0808_1_222"/>
          <p:cNvCxnSpPr/>
          <p:nvPr/>
        </p:nvCxnSpPr>
        <p:spPr>
          <a:xfrm>
            <a:off x="457200" y="4370832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8" name="Google Shape;248;h60cdd362965d0808_1_222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Shelf life = first time the ripeness path hits stage 5.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p_fig1_stages.jpg" id="249" name="Google Shape;249;h60cdd362965d0808_1_2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188720"/>
            <a:ext cx="5120640" cy="1118006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h60cdd362965d0808_1_222"/>
          <p:cNvSpPr txBox="1"/>
          <p:nvPr/>
        </p:nvSpPr>
        <p:spPr>
          <a:xfrm>
            <a:off x="457200" y="2331720"/>
            <a:ext cx="5120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Calibri"/>
              <a:buNone/>
            </a:pPr>
            <a:r>
              <a:rPr b="0" i="1" lang="en-US" sz="8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Ripening stages 1–5. Fig. 1, Xavier, Rodrigues &amp; Silva, Foods 13:1150 (2024), CC BY 3.0.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5_ripen_fan.png" id="251" name="Google Shape;251;h60cdd362965d0808_1_2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2606040"/>
            <a:ext cx="3426748" cy="169164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h60cdd362965d0808_1_222"/>
          <p:cNvSpPr txBox="1"/>
          <p:nvPr/>
        </p:nvSpPr>
        <p:spPr>
          <a:xfrm>
            <a:off x="5852160" y="1234440"/>
            <a:ext cx="2834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478 avocados, photographed daily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h60cdd362965d0808_1_222"/>
          <p:cNvSpPr txBox="1"/>
          <p:nvPr/>
        </p:nvSpPr>
        <p:spPr>
          <a:xfrm>
            <a:off x="5852160" y="1554480"/>
            <a:ext cx="2834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Baseline CNN: one number, ±1 day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h60cdd362965d0808_1_222"/>
          <p:cNvSpPr txBox="1"/>
          <p:nvPr/>
        </p:nvSpPr>
        <p:spPr>
          <a:xfrm>
            <a:off x="5852160" y="2240280"/>
            <a:ext cx="2834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Neural SDE: spoiled by day 10?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h60cdd362965d0808_1_222"/>
          <p:cNvSpPr txBox="1"/>
          <p:nvPr/>
        </p:nvSpPr>
        <p:spPr>
          <a:xfrm>
            <a:off x="5852160" y="2560320"/>
            <a:ext cx="12801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h60cdd362965d0808_1_222"/>
          <p:cNvSpPr txBox="1"/>
          <p:nvPr/>
        </p:nvSpPr>
        <p:spPr>
          <a:xfrm>
            <a:off x="5852160" y="306324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at 20 °C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h60cdd362965d0808_1_222"/>
          <p:cNvSpPr txBox="1"/>
          <p:nvPr/>
        </p:nvSpPr>
        <p:spPr>
          <a:xfrm>
            <a:off x="7223760" y="2560320"/>
            <a:ext cx="12801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1F2328"/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h60cdd362965d0808_1_222"/>
          <p:cNvSpPr txBox="1"/>
          <p:nvPr/>
        </p:nvSpPr>
        <p:spPr>
          <a:xfrm>
            <a:off x="7223760" y="306324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at 10 °C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h60cdd362965d0808_1_222"/>
          <p:cNvSpPr txBox="1"/>
          <p:nvPr/>
        </p:nvSpPr>
        <p:spPr>
          <a:xfrm>
            <a:off x="5852160" y="3520440"/>
            <a:ext cx="2834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Calibri"/>
              <a:buNone/>
            </a:pPr>
            <a:r>
              <a:rPr b="0" i="1" lang="en-US" sz="8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Paths simulated with the paper's ripening speeds; noise level illustrative.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h60cdd362965d0808_1_222"/>
          <p:cNvSpPr txBox="1"/>
          <p:nvPr>
            <p:ph idx="4294967295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9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h60cdd362965d0808_1_262"/>
          <p:cNvSpPr txBox="1"/>
          <p:nvPr>
            <p:ph idx="1" type="body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50"/>
              <a:buNone/>
            </a:pPr>
            <a:r>
              <a:rPr b="1" lang="en-US" sz="950">
                <a:solidFill>
                  <a:schemeClr val="dk2"/>
                </a:solidFill>
              </a:rPr>
              <a:t>SUMMARY</a:t>
            </a:r>
            <a:endParaRPr sz="950"/>
          </a:p>
        </p:txBody>
      </p:sp>
      <p:sp>
        <p:nvSpPr>
          <p:cNvPr id="267" name="Google Shape;267;h60cdd362965d0808_1_262"/>
          <p:cNvSpPr txBox="1"/>
          <p:nvPr>
            <p:ph type="title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b="1" lang="en-US" sz="2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Recap and Limits</a:t>
            </a:r>
            <a:endParaRPr sz="2500"/>
          </a:p>
        </p:txBody>
      </p:sp>
      <p:sp>
        <p:nvSpPr>
          <p:cNvPr id="268" name="Google Shape;268;h60cdd362965d0808_1_262"/>
          <p:cNvSpPr txBox="1"/>
          <p:nvPr/>
        </p:nvSpPr>
        <p:spPr>
          <a:xfrm>
            <a:off x="457200" y="1261872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Recap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h60cdd362965d0808_1_262"/>
          <p:cNvSpPr txBox="1"/>
          <p:nvPr/>
        </p:nvSpPr>
        <p:spPr>
          <a:xfrm>
            <a:off x="457200" y="1554480"/>
            <a:ext cx="4754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Neural ODEs:</a:t>
            </a:r>
            <a:r>
              <a:rPr b="0" i="0" lang="en-US" sz="13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 ResNets with infinitely many tiny layers.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h60cdd362965d0808_1_262"/>
          <p:cNvSpPr txBox="1"/>
          <p:nvPr/>
        </p:nvSpPr>
        <p:spPr>
          <a:xfrm>
            <a:off x="457200" y="2176272"/>
            <a:ext cx="4754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Gradients:</a:t>
            </a:r>
            <a:r>
              <a:rPr b="0" i="0" lang="en-US" sz="13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 backprop stores steps; the adjoint doesn't.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h60cdd362965d0808_1_262"/>
          <p:cNvSpPr txBox="1"/>
          <p:nvPr/>
        </p:nvSpPr>
        <p:spPr>
          <a:xfrm>
            <a:off x="457200" y="2798064"/>
            <a:ext cx="4754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Neural SDEs:</a:t>
            </a:r>
            <a:r>
              <a:rPr b="0" i="0" lang="en-US" sz="13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 add learned noise; get many futures.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h60cdd362965d0808_1_262"/>
          <p:cNvSpPr txBox="1"/>
          <p:nvPr/>
        </p:nvSpPr>
        <p:spPr>
          <a:xfrm>
            <a:off x="457200" y="3419856"/>
            <a:ext cx="4754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Training:</a:t>
            </a:r>
            <a:r>
              <a:rPr b="0" i="0" lang="en-US" sz="13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 fix the noise, then backprop or adjoint.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h60cdd362965d0808_1_262"/>
          <p:cNvSpPr txBox="1"/>
          <p:nvPr>
            <p:ph idx="4294967295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9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h60cdd362965d0808_1_276"/>
          <p:cNvSpPr txBox="1"/>
          <p:nvPr>
            <p:ph idx="1" type="body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50"/>
              <a:buNone/>
            </a:pPr>
            <a:r>
              <a:rPr b="1" lang="en-US" sz="950">
                <a:solidFill>
                  <a:schemeClr val="dk2"/>
                </a:solidFill>
              </a:rPr>
              <a:t>REFERENCES</a:t>
            </a:r>
            <a:endParaRPr sz="950"/>
          </a:p>
        </p:txBody>
      </p:sp>
      <p:sp>
        <p:nvSpPr>
          <p:cNvPr id="280" name="Google Shape;280;h60cdd362965d0808_1_276"/>
          <p:cNvSpPr txBox="1"/>
          <p:nvPr>
            <p:ph type="title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b="1" lang="en-US" sz="2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References</a:t>
            </a:r>
            <a:endParaRPr sz="2500"/>
          </a:p>
        </p:txBody>
      </p:sp>
      <p:sp>
        <p:nvSpPr>
          <p:cNvPr id="281" name="Google Shape;281;h60cdd362965d0808_1_276"/>
          <p:cNvSpPr txBox="1"/>
          <p:nvPr/>
        </p:nvSpPr>
        <p:spPr>
          <a:xfrm>
            <a:off x="457200" y="1261872"/>
            <a:ext cx="402336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Chen, Rubanova, Bettencourt, Duvenaud. Neural Ordinary Differential Equations. NeurIPS 2018.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1F232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Li, Wong, Chen, Duvenaud. Scalable Gradients for Stochastic Differential Equations. AISTATS 2020.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1F232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Kidger, Foster, Li, Lyons. Efficient and Accurate Gradients for Neural SDEs. NeurIPS 2021.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1F232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Kidger. On Neural Differential Equations. PhD thesis, Oxford, 2022.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1F232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Mohamed et al. Monte Carlo Gradient Estimation in Machine Learning. JMLR 2020.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1F232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Särkkä &amp; Solin. Applied Stochastic Differential Equations. CUP 2019.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h60cdd362965d0808_1_276"/>
          <p:cNvSpPr txBox="1"/>
          <p:nvPr/>
        </p:nvSpPr>
        <p:spPr>
          <a:xfrm>
            <a:off x="4663440" y="1261872"/>
            <a:ext cx="402336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Song et al. Score-Based Generative Modeling through SDEs. ICLR 2021.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1F232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Pontryagin et al. The Mathematical Theory of Optimal Processes. 1962.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1F232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He et al. Deep Residual Learning. CVPR 2016. Haber &amp; Ruthotto 2017; E 2017.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1F232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Rubanova et al. Latent ODEs. NeurIPS 2019. Grathwohl et al. FFJORD. ICLR 2019.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1F232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Gholami, Keutzer, Biros. ANODE. IJCAI 2019.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1F232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Finlay et al. How to Train Your Neural ODE. ICML 2020.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1F232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Price et al. 2025 (GenCast); Chi et al. 2023 (Diffusion Policy).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1F232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Xavier, Rodrigues &amp; Silva. Shelf-life management and ripening assessment of 'Hass' avocado using deep learning. Foods 13(8):1150, 2024. CC BY 3.0 (Figs. 1, 6a; Tables 3, 4, 6).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1F2328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Code and benchmarks: github.com/nishadw/ripen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h60cdd362965d0808_1_276"/>
          <p:cNvSpPr txBox="1"/>
          <p:nvPr>
            <p:ph idx="4294967295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9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h60cdd362965d0808_1_285"/>
          <p:cNvSpPr txBox="1"/>
          <p:nvPr>
            <p:ph idx="1" type="body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50"/>
              <a:buNone/>
            </a:pPr>
            <a:r>
              <a:rPr b="1" lang="en-US" sz="950">
                <a:solidFill>
                  <a:schemeClr val="dk2"/>
                </a:solidFill>
              </a:rPr>
              <a:t>APPENDIX  ·  A1  ·  NOT PRESENTED</a:t>
            </a:r>
            <a:endParaRPr sz="950"/>
          </a:p>
        </p:txBody>
      </p:sp>
      <p:sp>
        <p:nvSpPr>
          <p:cNvPr id="290" name="Google Shape;290;h60cdd362965d0808_1_285"/>
          <p:cNvSpPr txBox="1"/>
          <p:nvPr>
            <p:ph type="title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b="1" lang="en-US" sz="2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Fitting Data: Latent SDEs (Slide 15)</a:t>
            </a:r>
            <a:endParaRPr sz="2500"/>
          </a:p>
        </p:txBody>
      </p:sp>
      <p:cxnSp>
        <p:nvCxnSpPr>
          <p:cNvPr id="291" name="Google Shape;291;h60cdd362965d0808_1_285"/>
          <p:cNvCxnSpPr/>
          <p:nvPr/>
        </p:nvCxnSpPr>
        <p:spPr>
          <a:xfrm>
            <a:off x="457200" y="4370832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2" name="Google Shape;292;h60cdd362965d0808_1_285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F</a:t>
            </a:r>
            <a:r>
              <a:rPr b="1" i="0" lang="en-US" sz="12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it the data, but stay close to the prior.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7_prior.png" id="293" name="Google Shape;293;h60cdd362965d0808_1_2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261872"/>
            <a:ext cx="3594202" cy="263347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h60cdd362965d0808_1_285"/>
          <p:cNvSpPr txBox="1"/>
          <p:nvPr/>
        </p:nvSpPr>
        <p:spPr>
          <a:xfrm>
            <a:off x="5120640" y="1261872"/>
            <a:ext cx="3566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b="0" i="0" lang="en-US" sz="11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The model we forecast with.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7_post.png" id="295" name="Google Shape;295;h60cdd362965d0808_1_28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1627632"/>
            <a:ext cx="4474464" cy="273101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h60cdd362965d0808_1_285"/>
          <p:cNvSpPr txBox="1"/>
          <p:nvPr/>
        </p:nvSpPr>
        <p:spPr>
          <a:xfrm>
            <a:off x="5120640" y="1627632"/>
            <a:ext cx="3566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b="0" i="0" lang="en-US" sz="11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Same model, but it can peek at the data.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8_elbo.png" id="297" name="Google Shape;297;h60cdd362965d0808_1_28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" y="2103120"/>
            <a:ext cx="3977030" cy="485242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h60cdd362965d0808_1_285"/>
          <p:cNvSpPr txBox="1"/>
          <p:nvPr/>
        </p:nvSpPr>
        <p:spPr>
          <a:xfrm>
            <a:off x="457200" y="2606040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b="0" i="0" lang="en-US" sz="11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Score = fit the data − penalty for leaving the prior.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8_kl.png" id="299" name="Google Shape;299;h60cdd362965d0808_1_28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7200" y="2971800"/>
            <a:ext cx="4189171" cy="614477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h60cdd362965d0808_1_285"/>
          <p:cNvSpPr txBox="1"/>
          <p:nvPr/>
        </p:nvSpPr>
        <p:spPr>
          <a:xfrm>
            <a:off x="457200" y="3611880"/>
            <a:ext cx="6400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b="0" i="0" lang="en-US" sz="11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Penalty = how much the two drifts differ, over time.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h60cdd362965d0808_1_285"/>
          <p:cNvSpPr txBox="1"/>
          <p:nvPr>
            <p:ph idx="4294967295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9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h60cdd362965d0808_1_302"/>
          <p:cNvSpPr txBox="1"/>
          <p:nvPr>
            <p:ph idx="1" type="body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50"/>
              <a:buNone/>
            </a:pPr>
            <a:r>
              <a:rPr b="1" lang="en-US" sz="950">
                <a:solidFill>
                  <a:schemeClr val="dk2"/>
                </a:solidFill>
              </a:rPr>
              <a:t>APPENDIX  ·  A2  ·  NOT PRESENTED</a:t>
            </a:r>
            <a:endParaRPr sz="950"/>
          </a:p>
        </p:txBody>
      </p:sp>
      <p:sp>
        <p:nvSpPr>
          <p:cNvPr id="308" name="Google Shape;308;h60cdd362965d0808_1_302"/>
          <p:cNvSpPr txBox="1"/>
          <p:nvPr>
            <p:ph type="title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b="1" lang="en-US" sz="2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Where the Adjoint Comes From (Slide 7)</a:t>
            </a:r>
            <a:endParaRPr sz="2500"/>
          </a:p>
        </p:txBody>
      </p:sp>
      <p:cxnSp>
        <p:nvCxnSpPr>
          <p:cNvPr id="309" name="Google Shape;309;h60cdd362965d0808_1_302"/>
          <p:cNvCxnSpPr/>
          <p:nvPr/>
        </p:nvCxnSpPr>
        <p:spPr>
          <a:xfrm>
            <a:off x="457200" y="4370832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0" name="Google Shape;310;h60cdd362965d0808_1_302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Choose λ(t) to cancel every ∂z/∂θ term; what remains is dL/dθ.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h60cdd362965d0808_1_302"/>
          <p:cNvSpPr txBox="1"/>
          <p:nvPr/>
        </p:nvSpPr>
        <p:spPr>
          <a:xfrm>
            <a:off x="457200" y="126187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1. Add a Lagrange multiplier λ(t) for the constraint ż = f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11_lag.png" id="312" name="Google Shape;312;h60cdd362965d0808_1_3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517904"/>
            <a:ext cx="3510534" cy="652882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h60cdd362965d0808_1_302"/>
          <p:cNvSpPr txBox="1"/>
          <p:nvPr/>
        </p:nvSpPr>
        <p:spPr>
          <a:xfrm>
            <a:off x="457200" y="2286000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2. Differentiate in θ; integrate by parts to move d/dt off ∂z/∂θ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h60cdd362965d0808_1_302"/>
          <p:cNvSpPr txBox="1"/>
          <p:nvPr/>
        </p:nvSpPr>
        <p:spPr>
          <a:xfrm>
            <a:off x="457200" y="2651760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3. Pick λ(t) so the ∂z/∂θ terms vanish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11_lag2.png" id="315" name="Google Shape;315;h60cdd362965d0808_1_3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2907792"/>
            <a:ext cx="4767072" cy="652882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h60cdd362965d0808_1_302"/>
          <p:cNvSpPr txBox="1"/>
          <p:nvPr>
            <p:ph idx="4294967295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9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h60cdd362965d0808_1_316"/>
          <p:cNvSpPr txBox="1"/>
          <p:nvPr>
            <p:ph idx="1" type="body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50"/>
              <a:buNone/>
            </a:pPr>
            <a:r>
              <a:rPr b="1" lang="en-US" sz="950">
                <a:solidFill>
                  <a:schemeClr val="dk2"/>
                </a:solidFill>
              </a:rPr>
              <a:t>APPENDIX  ·  A3  ·  NOT PRESENTED</a:t>
            </a:r>
            <a:endParaRPr sz="950"/>
          </a:p>
        </p:txBody>
      </p:sp>
      <p:sp>
        <p:nvSpPr>
          <p:cNvPr id="323" name="Google Shape;323;h60cdd362965d0808_1_316"/>
          <p:cNvSpPr txBox="1"/>
          <p:nvPr>
            <p:ph type="title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b="1" lang="en-US" sz="2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Arrhenius Fit (Slide 15)</a:t>
            </a:r>
            <a:endParaRPr sz="2500"/>
          </a:p>
        </p:txBody>
      </p:sp>
      <p:cxnSp>
        <p:nvCxnSpPr>
          <p:cNvPr id="324" name="Google Shape;324;h60cdd362965d0808_1_316"/>
          <p:cNvCxnSpPr/>
          <p:nvPr/>
        </p:nvCxnSpPr>
        <p:spPr>
          <a:xfrm>
            <a:off x="457200" y="4370832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5" name="Google Shape;325;h60cdd362965d0808_1_316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Eₐ from two rates; prediction at the ambient mean; implied temperature.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26" name="Google Shape;326;h60cdd362965d0808_1_316"/>
          <p:cNvGraphicFramePr/>
          <p:nvPr/>
        </p:nvGraphicFramePr>
        <p:xfrm>
          <a:off x="457200" y="12801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{7011B6A4-50AB-4A3F-8FDA-CB2C49E14753}</a:tableStyleId>
              </a:tblPr>
              <a:tblGrid>
                <a:gridCol w="1737350"/>
                <a:gridCol w="4206250"/>
                <a:gridCol w="2286000"/>
              </a:tblGrid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Step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Expression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Value</a:t>
                      </a:r>
                      <a:endParaRPr sz="1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rates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 = 1 / |α|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0.228, 0.473, 0.518 d⁻¹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F2328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Q₁₀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v₂₀ / v₁₀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2.07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Eₐ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 ln Q₁₀ / (1/283.15 − 1/293.15)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50.4 kJ/mol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v_amb predicted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v₂₀ exp[−Eₐ/R (1/291.85 − 1/293.15)]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0.431 d⁻¹ (2.32 d/stage)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v_amb observed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/ 1.929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8102E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C8102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0.518 d⁻¹ (1.93 d/stage)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 implied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solve Arrhenius for v = 0.518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21.3 °C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7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Jensen (sd 1.2 °C)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½ (Eₐ/RT²)² σ_T²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F2328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1F232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 1% effect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8300" marB="18300" marR="54875" marL="54875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5E7EB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5E7E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27" name="Google Shape;327;h60cdd362965d0808_1_316"/>
          <p:cNvSpPr txBox="1"/>
          <p:nvPr>
            <p:ph idx="4294967295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9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h60cdd362965d0808_1_326"/>
          <p:cNvSpPr txBox="1"/>
          <p:nvPr>
            <p:ph idx="1" type="body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50"/>
              <a:buNone/>
            </a:pPr>
            <a:r>
              <a:rPr b="1" lang="en-US" sz="950">
                <a:solidFill>
                  <a:schemeClr val="dk2"/>
                </a:solidFill>
              </a:rPr>
              <a:t>APPENDIX  ·  A4  ·  NOT PRESENTED</a:t>
            </a:r>
            <a:endParaRPr sz="950"/>
          </a:p>
        </p:txBody>
      </p:sp>
      <p:sp>
        <p:nvSpPr>
          <p:cNvPr id="334" name="Google Shape;334;h60cdd362965d0808_1_326"/>
          <p:cNvSpPr txBox="1"/>
          <p:nvPr>
            <p:ph type="title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b="1" lang="en-US" sz="2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Brownian Bridges: Replay</a:t>
            </a:r>
            <a:r>
              <a:rPr lang="en-US"/>
              <a:t> &amp;</a:t>
            </a:r>
            <a:r>
              <a:rPr b="1" lang="en-US" sz="2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Crossings (Slides 13, 16)</a:t>
            </a:r>
            <a:endParaRPr sz="2500"/>
          </a:p>
        </p:txBody>
      </p:sp>
      <p:cxnSp>
        <p:nvCxnSpPr>
          <p:cNvPr id="335" name="Google Shape;335;h60cdd362965d0808_1_326"/>
          <p:cNvCxnSpPr/>
          <p:nvPr/>
        </p:nvCxnSpPr>
        <p:spPr>
          <a:xfrm>
            <a:off x="457200" y="4370832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6" name="Google Shape;336;h60cdd362965d0808_1_326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One conditional Gaussian regenerates W and gives a smooth crossing probability.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h60cdd362965d0808_1_326"/>
          <p:cNvSpPr txBox="1"/>
          <p:nvPr/>
        </p:nvSpPr>
        <p:spPr>
          <a:xfrm>
            <a:off x="457200" y="126187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virtual Brownian tree: recursive bisection from a seed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2_vbt.png" id="338" name="Google Shape;338;h60cdd362965d0808_1_3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499616"/>
            <a:ext cx="64980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h60cdd362965d0808_1_326"/>
          <p:cNvSpPr txBox="1"/>
          <p:nvPr/>
        </p:nvSpPr>
        <p:spPr>
          <a:xfrm>
            <a:off x="457200" y="2148840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crossing probability within a step (σ_q = local vol of q, frozen)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2_bridge.png" id="340" name="Google Shape;340;h60cdd362965d0808_1_3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2386584"/>
            <a:ext cx="526669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Google Shape;341;h60cdd362965d0808_1_326"/>
          <p:cNvSpPr txBox="1"/>
          <p:nvPr/>
        </p:nvSpPr>
        <p:spPr>
          <a:xfrm>
            <a:off x="457200" y="306324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P(τ ≤ t*) ≈ 1 − Π_k (1 − p_k), with p_k = 1 if an endpoint ≥ b.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σ_q² = ‖∇q(Z_k)ᵀ σ_θ(Z_k)‖². Drift cancels after conditioning on endpoints.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h60cdd362965d0808_1_326"/>
          <p:cNvSpPr txBox="1"/>
          <p:nvPr>
            <p:ph idx="4294967295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9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h60cdd362965d0808_1_242"/>
          <p:cNvSpPr txBox="1"/>
          <p:nvPr>
            <p:ph type="title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b="1" lang="en-US" sz="2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 Yes/No Events Break Gradients</a:t>
            </a:r>
            <a:endParaRPr sz="2500"/>
          </a:p>
        </p:txBody>
      </p:sp>
      <p:cxnSp>
        <p:nvCxnSpPr>
          <p:cNvPr id="349" name="Google Shape;349;h60cdd362965d0808_1_242"/>
          <p:cNvCxnSpPr/>
          <p:nvPr/>
        </p:nvCxnSpPr>
        <p:spPr>
          <a:xfrm>
            <a:off x="457200" y="4370832"/>
            <a:ext cx="8229600" cy="0"/>
          </a:xfrm>
          <a:prstGeom prst="straightConnector1">
            <a:avLst/>
          </a:prstGeom>
          <a:noFill/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0" name="Google Shape;350;h60cdd362965d0808_1_242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Yes/no targets need smoothing or another estimator.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g/v5_yesno.png" id="351" name="Google Shape;351;h60cdd362965d0808_1_2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188720"/>
            <a:ext cx="4389120" cy="2110154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h60cdd362965d0808_1_242"/>
          <p:cNvSpPr txBox="1"/>
          <p:nvPr/>
        </p:nvSpPr>
        <p:spPr>
          <a:xfrm>
            <a:off x="4937760" y="1280160"/>
            <a:ext cx="379476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03200" lvl="0" marL="20320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650"/>
              <a:buFont typeface="Calibri"/>
              <a:buChar char="•"/>
            </a:pPr>
            <a:r>
              <a:rPr b="0" i="0" lang="en-US" sz="16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Each path: spoiled, yes or no.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203200" marR="0" rtl="0" algn="l">
              <a:spcBef>
                <a:spcPts val="1260"/>
              </a:spcBef>
              <a:spcAft>
                <a:spcPts val="0"/>
              </a:spcAft>
              <a:buClr>
                <a:srgbClr val="1F2328"/>
              </a:buClr>
              <a:buSzPts val="1650"/>
              <a:buFont typeface="Calibri"/>
              <a:buChar char="•"/>
            </a:pPr>
            <a:r>
              <a:rPr b="0" i="0" lang="en-US" sz="16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One path's gradient: zero.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3200" lvl="0" marL="203200" marR="0" rtl="0" algn="l">
              <a:spcBef>
                <a:spcPts val="1260"/>
              </a:spcBef>
              <a:spcAft>
                <a:spcPts val="0"/>
              </a:spcAft>
              <a:buClr>
                <a:srgbClr val="1F2328"/>
              </a:buClr>
              <a:buSzPts val="1650"/>
              <a:buFont typeface="Calibri"/>
              <a:buChar char="•"/>
            </a:pPr>
            <a:r>
              <a:rPr b="0" i="0" lang="en-US" sz="16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The average is smooth.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h60cdd362965d0808_1_242"/>
          <p:cNvSpPr/>
          <p:nvPr/>
        </p:nvSpPr>
        <p:spPr>
          <a:xfrm>
            <a:off x="457200" y="3383280"/>
            <a:ext cx="2606040" cy="731520"/>
          </a:xfrm>
          <a:prstGeom prst="roundRect">
            <a:avLst>
              <a:gd fmla="val 6250" name="adj"/>
            </a:avLst>
          </a:prstGeom>
          <a:solidFill>
            <a:srgbClr val="F5F6F7"/>
          </a:solidFill>
          <a:ln cap="flat" cmpd="sng" w="12700">
            <a:solidFill>
              <a:srgbClr val="F5F6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h60cdd362965d0808_1_242"/>
          <p:cNvSpPr txBox="1"/>
          <p:nvPr/>
        </p:nvSpPr>
        <p:spPr>
          <a:xfrm>
            <a:off x="566928" y="34381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Smooth it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h60cdd362965d0808_1_242"/>
          <p:cNvSpPr txBox="1"/>
          <p:nvPr/>
        </p:nvSpPr>
        <p:spPr>
          <a:xfrm>
            <a:off x="566928" y="3730752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sigmoid for yes/no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h60cdd362965d0808_1_242"/>
          <p:cNvSpPr/>
          <p:nvPr/>
        </p:nvSpPr>
        <p:spPr>
          <a:xfrm>
            <a:off x="3246120" y="3383280"/>
            <a:ext cx="2606040" cy="731520"/>
          </a:xfrm>
          <a:prstGeom prst="roundRect">
            <a:avLst>
              <a:gd fmla="val 6250" name="adj"/>
            </a:avLst>
          </a:prstGeom>
          <a:solidFill>
            <a:srgbClr val="FFFFFF"/>
          </a:solidFill>
          <a:ln cap="flat" cmpd="sng" w="15875">
            <a:solidFill>
              <a:srgbClr val="C810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h60cdd362965d0808_1_242"/>
          <p:cNvSpPr txBox="1"/>
          <p:nvPr/>
        </p:nvSpPr>
        <p:spPr>
          <a:xfrm>
            <a:off x="3355848" y="34381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Crossing probability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h60cdd362965d0808_1_242"/>
          <p:cNvSpPr txBox="1"/>
          <p:nvPr/>
        </p:nvSpPr>
        <p:spPr>
          <a:xfrm>
            <a:off x="3355848" y="3730752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exact, per step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h60cdd362965d0808_1_242"/>
          <p:cNvSpPr/>
          <p:nvPr/>
        </p:nvSpPr>
        <p:spPr>
          <a:xfrm>
            <a:off x="6035040" y="3383280"/>
            <a:ext cx="2606040" cy="731520"/>
          </a:xfrm>
          <a:prstGeom prst="roundRect">
            <a:avLst>
              <a:gd fmla="val 6250" name="adj"/>
            </a:avLst>
          </a:prstGeom>
          <a:solidFill>
            <a:srgbClr val="F5F6F7"/>
          </a:solidFill>
          <a:ln cap="flat" cmpd="sng" w="12700">
            <a:solidFill>
              <a:srgbClr val="F5F6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h60cdd362965d0808_1_242"/>
          <p:cNvSpPr txBox="1"/>
          <p:nvPr/>
        </p:nvSpPr>
        <p:spPr>
          <a:xfrm>
            <a:off x="6144768" y="34381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328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F2328"/>
                </a:solidFill>
                <a:latin typeface="Calibri"/>
                <a:ea typeface="Calibri"/>
                <a:cs typeface="Calibri"/>
                <a:sym typeface="Calibri"/>
              </a:rPr>
              <a:t>Score function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h60cdd362965d0808_1_242"/>
          <p:cNvSpPr txBox="1"/>
          <p:nvPr/>
        </p:nvSpPr>
        <p:spPr>
          <a:xfrm>
            <a:off x="6144768" y="3730752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unbiased, noisy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h60cdd362965d0808_1_242"/>
          <p:cNvSpPr txBox="1"/>
          <p:nvPr>
            <p:ph idx="4294967295" type="sldNum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900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h60cdd362965d0808_1_242"/>
          <p:cNvSpPr txBox="1"/>
          <p:nvPr>
            <p:ph idx="1" type="body"/>
          </p:nvPr>
        </p:nvSpPr>
        <p:spPr>
          <a:xfrm>
            <a:off x="457200" y="274320"/>
            <a:ext cx="82296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50"/>
              <a:buNone/>
            </a:pPr>
            <a:r>
              <a:rPr b="1" lang="en-US" sz="950">
                <a:solidFill>
                  <a:schemeClr val="dk2"/>
                </a:solidFill>
              </a:rPr>
              <a:t>APPENDIX  ·  A4  ·  NOT PRESENTED</a:t>
            </a:r>
            <a:endParaRPr sz="9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Neural SDE">
  <a:themeElements>
    <a:clrScheme name="Neural SDE">
      <a:dk1>
        <a:srgbClr val="1F2328"/>
      </a:dk1>
      <a:lt1>
        <a:srgbClr val="FFFFFF"/>
      </a:lt1>
      <a:dk2>
        <a:srgbClr val="6B7280"/>
      </a:dk2>
      <a:lt2>
        <a:srgbClr val="F5F6F7"/>
      </a:lt2>
      <a:accent1>
        <a:srgbClr val="C8102E"/>
      </a:accent1>
      <a:accent2>
        <a:srgbClr val="1F2328"/>
      </a:accent2>
      <a:accent3>
        <a:srgbClr val="9AA3AF"/>
      </a:accent3>
      <a:accent4>
        <a:srgbClr val="E5E7EB"/>
      </a:accent4>
      <a:accent5>
        <a:srgbClr val="F5F6F7"/>
      </a:accent5>
      <a:accent6>
        <a:srgbClr val="374151"/>
      </a:accent6>
      <a:hlink>
        <a:srgbClr val="C8102E"/>
      </a:hlink>
      <a:folHlink>
        <a:srgbClr val="6B72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Neural SDE">
  <a:themeElements>
    <a:clrScheme name="Neural SDE">
      <a:dk1>
        <a:srgbClr val="1F2328"/>
      </a:dk1>
      <a:lt1>
        <a:srgbClr val="FFFFFF"/>
      </a:lt1>
      <a:dk2>
        <a:srgbClr val="6B7280"/>
      </a:dk2>
      <a:lt2>
        <a:srgbClr val="F5F6F7"/>
      </a:lt2>
      <a:accent1>
        <a:srgbClr val="C8102E"/>
      </a:accent1>
      <a:accent2>
        <a:srgbClr val="1F2328"/>
      </a:accent2>
      <a:accent3>
        <a:srgbClr val="9AA3AF"/>
      </a:accent3>
      <a:accent4>
        <a:srgbClr val="E5E7EB"/>
      </a:accent4>
      <a:accent5>
        <a:srgbClr val="F5F6F7"/>
      </a:accent5>
      <a:accent6>
        <a:srgbClr val="374151"/>
      </a:accent6>
      <a:hlink>
        <a:srgbClr val="C8102E"/>
      </a:hlink>
      <a:folHlink>
        <a:srgbClr val="6B72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2026-10-23T00:47:32Z</dcterms:created>
  <dc:creator>Nishad Wajge</dc:creator>
</cp:coreProperties>
</file>